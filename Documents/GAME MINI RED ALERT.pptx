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Default Extension="mp4" ContentType="video/mp4"/>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49"/>
  </p:notesMasterIdLst>
  <p:handoutMasterIdLst>
    <p:handoutMasterId r:id="rId50"/>
  </p:handoutMasterIdLst>
  <p:sldIdLst>
    <p:sldId id="256" r:id="rId3"/>
    <p:sldId id="265" r:id="rId4"/>
    <p:sldId id="268" r:id="rId5"/>
    <p:sldId id="270" r:id="rId6"/>
    <p:sldId id="269" r:id="rId7"/>
    <p:sldId id="271" r:id="rId8"/>
    <p:sldId id="272" r:id="rId9"/>
    <p:sldId id="267"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315" r:id="rId30"/>
    <p:sldId id="309" r:id="rId31"/>
    <p:sldId id="312" r:id="rId32"/>
    <p:sldId id="314" r:id="rId33"/>
    <p:sldId id="317" r:id="rId34"/>
    <p:sldId id="318" r:id="rId35"/>
    <p:sldId id="316" r:id="rId36"/>
    <p:sldId id="319" r:id="rId37"/>
    <p:sldId id="320" r:id="rId38"/>
    <p:sldId id="298" r:id="rId39"/>
    <p:sldId id="299" r:id="rId40"/>
    <p:sldId id="300" r:id="rId41"/>
    <p:sldId id="301" r:id="rId42"/>
    <p:sldId id="303" r:id="rId43"/>
    <p:sldId id="304" r:id="rId44"/>
    <p:sldId id="307" r:id="rId45"/>
    <p:sldId id="305" r:id="rId46"/>
    <p:sldId id="306" r:id="rId47"/>
    <p:sldId id="308"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2A79C57A-86F9-4A64-BAB3-5C97996701E0}">
          <p14:sldIdLst>
            <p14:sldId id="256"/>
            <p14:sldId id="265"/>
          </p14:sldIdLst>
        </p14:section>
        <p14:section name="Giới thiệu" id="{6F27849B-6FD8-4C13-BED4-21E14E6F0AC3}">
          <p14:sldIdLst>
            <p14:sldId id="268"/>
            <p14:sldId id="270"/>
            <p14:sldId id="269"/>
            <p14:sldId id="271"/>
            <p14:sldId id="272"/>
          </p14:sldIdLst>
        </p14:section>
        <p14:section name="Phân tích vấn đề" id="{E5F7DFA6-BF95-488C-9C32-9E8B890F323F}">
          <p14:sldIdLst>
            <p14:sldId id="267"/>
            <p14:sldId id="273"/>
            <p14:sldId id="274"/>
          </p14:sldIdLst>
        </p14:section>
        <p14:section name="Cơ sở lý thuyết và công nghệ" id="{78BA7B44-8BA1-4AE0-8A02-F797B9AF1381}">
          <p14:sldIdLst>
            <p14:sldId id="275"/>
            <p14:sldId id="276"/>
          </p14:sldIdLst>
        </p14:section>
        <p14:section name="Ý tưởng game" id="{572AA6AC-4531-4164-B69D-83C1FE29F96B}">
          <p14:sldIdLst>
            <p14:sldId id="277"/>
            <p14:sldId id="278"/>
            <p14:sldId id="279"/>
            <p14:sldId id="280"/>
            <p14:sldId id="281"/>
            <p14:sldId id="282"/>
            <p14:sldId id="283"/>
            <p14:sldId id="284"/>
          </p14:sldIdLst>
        </p14:section>
        <p14:section name="Thiết kế game" id="{153B29B9-69B6-44E7-A4F3-9EB9CCA98697}">
          <p14:sldIdLst>
            <p14:sldId id="285"/>
            <p14:sldId id="286"/>
            <p14:sldId id="287"/>
            <p14:sldId id="288"/>
            <p14:sldId id="289"/>
            <p14:sldId id="290"/>
            <p14:sldId id="291"/>
            <p14:sldId id="315"/>
            <p14:sldId id="309"/>
            <p14:sldId id="312"/>
            <p14:sldId id="314"/>
            <p14:sldId id="317"/>
            <p14:sldId id="318"/>
            <p14:sldId id="316"/>
            <p14:sldId id="319"/>
            <p14:sldId id="320"/>
            <p14:sldId id="298"/>
            <p14:sldId id="299"/>
            <p14:sldId id="300"/>
            <p14:sldId id="301"/>
          </p14:sldIdLst>
        </p14:section>
        <p14:section name="Hiện thực game" id="{A4183374-F2C2-48A2-A62E-E0DADB85EB89}">
          <p14:sldIdLst>
            <p14:sldId id="303"/>
            <p14:sldId id="304"/>
            <p14:sldId id="307"/>
            <p14:sldId id="305"/>
            <p14:sldId id="306"/>
            <p14:sldId id="308"/>
          </p14:sldIdLst>
        </p14:section>
      </p14:sectionLst>
    </p:ext>
    <p:ext uri="{EFAFB233-063F-42B5-8137-9DF3F51BA10A}">
      <p15:sldGuideLst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03" autoAdjust="0"/>
    <p:restoredTop sz="94660"/>
  </p:normalViewPr>
  <p:slideViewPr>
    <p:cSldViewPr>
      <p:cViewPr varScale="1">
        <p:scale>
          <a:sx n="80" d="100"/>
          <a:sy n="80" d="100"/>
        </p:scale>
        <p:origin x="456" y="78"/>
      </p:cViewPr>
      <p:guideLst>
        <p:guide pos="288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12/26/2015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12/26/2015</a:t>
            </a:fld>
            <a:endParaRP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210553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0417427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9141714"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ectangle 6"/>
          <p:cNvSpPr/>
          <p:nvPr userDrawn="1"/>
        </p:nvSpPr>
        <p:spPr bwMode="black">
          <a:xfrm>
            <a:off x="0" y="3075710"/>
            <a:ext cx="9141714"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1"/>
          <p:cNvSpPr>
            <a:spLocks noGrp="1"/>
          </p:cNvSpPr>
          <p:nvPr>
            <p:ph type="ctrTitle"/>
          </p:nvPr>
        </p:nvSpPr>
        <p:spPr bwMode="white">
          <a:xfrm>
            <a:off x="800100" y="3165764"/>
            <a:ext cx="7543800" cy="1711037"/>
          </a:xfrm>
        </p:spPr>
        <p:txBody>
          <a:bodyPr anchor="b">
            <a:normAutofit/>
          </a:bodyPr>
          <a:lstStyle>
            <a:lvl1pPr algn="l">
              <a:lnSpc>
                <a:spcPct val="80000"/>
              </a:lnSpc>
              <a:defRPr sz="405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bwMode="white">
          <a:xfrm>
            <a:off x="800100" y="4953000"/>
            <a:ext cx="7543800" cy="685800"/>
          </a:xfrm>
        </p:spPr>
        <p:txBody>
          <a:bodyPr>
            <a:normAutofit/>
          </a:bodyPr>
          <a:lstStyle>
            <a:lvl1pPr marL="0" indent="0" algn="l">
              <a:spcBef>
                <a:spcPts val="0"/>
              </a:spcBef>
              <a:buNone/>
              <a:defRPr sz="1500">
                <a:solidFill>
                  <a:schemeClr val="accent1"/>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lvl1pPr>
              <a:defRPr sz="1200">
                <a:latin typeface="+mj-lt"/>
              </a:defRPr>
            </a:lvl1pPr>
          </a:lstStyle>
          <a:p>
            <a:r>
              <a:rPr lang="en-US" smtClean="0"/>
              <a:t>Giới thiệu</a:t>
            </a:r>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3000" y="1828800"/>
            <a:ext cx="6858000" cy="2743200"/>
          </a:xfrm>
        </p:spPr>
        <p:txBody>
          <a:bodyPr anchor="b">
            <a:normAutofit/>
          </a:bodyPr>
          <a:lstStyle>
            <a:lvl1pPr>
              <a:defRPr sz="4050">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143000" y="4589464"/>
            <a:ext cx="6858000" cy="1506537"/>
          </a:xfrm>
        </p:spPr>
        <p:txBody>
          <a:bodyPr>
            <a:normAutofit/>
          </a:bodyPr>
          <a:lstStyle>
            <a:lvl1pPr marL="0" indent="0">
              <a:spcBef>
                <a:spcPts val="0"/>
              </a:spcBef>
              <a:buNone/>
              <a:defRPr sz="1500">
                <a:solidFill>
                  <a:schemeClr val="accent1"/>
                </a:solidFill>
                <a:latin typeface="+mj-lt"/>
              </a:defRPr>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smtClean="0"/>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143000" y="1825626"/>
            <a:ext cx="3257550" cy="4270375"/>
          </a:xfrm>
        </p:spPr>
        <p:txBody>
          <a:bodyP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43450" y="1825626"/>
            <a:ext cx="3257550" cy="4270375"/>
          </a:xfrm>
        </p:spPr>
        <p:txBody>
          <a:bodyP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Giới thiệu</a:t>
            </a:r>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a:xfrm>
            <a:off x="1145286" y="1828800"/>
            <a:ext cx="3257550" cy="685800"/>
          </a:xfrm>
        </p:spPr>
        <p:txBody>
          <a:bodyPr anchor="ctr">
            <a:normAutofit/>
          </a:bodyPr>
          <a:lstStyle>
            <a:lvl1pPr marL="0" indent="0">
              <a:spcBef>
                <a:spcPts val="0"/>
              </a:spcBef>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1145286" y="2514601"/>
            <a:ext cx="3257550" cy="3581401"/>
          </a:xfrm>
        </p:spPr>
        <p:txBody>
          <a:bodyP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45736" y="1828800"/>
            <a:ext cx="3257550" cy="685800"/>
          </a:xfrm>
        </p:spPr>
        <p:txBody>
          <a:bodyPr anchor="ctr">
            <a:normAutofit/>
          </a:bodyPr>
          <a:lstStyle>
            <a:lvl1pPr marL="0" indent="0">
              <a:spcBef>
                <a:spcPts val="0"/>
              </a:spcBef>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745736" y="2514601"/>
            <a:ext cx="3257550" cy="3581401"/>
          </a:xfrm>
        </p:spPr>
        <p:txBody>
          <a:bodyP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smtClean="0"/>
              <a:t>Giới thiệu</a:t>
            </a:r>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Giới thiệu</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smtClean="0"/>
              <a:t>Giới thiệu</a:t>
            </a:r>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01941" y="1600200"/>
            <a:ext cx="2341960" cy="1828800"/>
          </a:xfrm>
        </p:spPr>
        <p:txBody>
          <a:bodyPr anchor="b">
            <a:normAutofit/>
          </a:bodyPr>
          <a:lstStyle>
            <a:lvl1pPr>
              <a:defRPr sz="2550"/>
            </a:lvl1pPr>
          </a:lstStyle>
          <a:p>
            <a:r>
              <a:rPr lang="en-US" smtClean="0"/>
              <a:t>Click to edit Master title style</a:t>
            </a:r>
            <a:endParaRPr lang="en-US" dirty="0"/>
          </a:p>
        </p:txBody>
      </p:sp>
      <p:sp>
        <p:nvSpPr>
          <p:cNvPr id="3" name="Content Placeholder 2"/>
          <p:cNvSpPr>
            <a:spLocks noGrp="1"/>
          </p:cNvSpPr>
          <p:nvPr>
            <p:ph idx="1"/>
          </p:nvPr>
        </p:nvSpPr>
        <p:spPr>
          <a:xfrm>
            <a:off x="570309" y="762000"/>
            <a:ext cx="4800600" cy="5334000"/>
          </a:xfrm>
        </p:spPr>
        <p:txBody>
          <a:bodyP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00780" y="3429000"/>
            <a:ext cx="2343121" cy="1828800"/>
          </a:xfrm>
        </p:spPr>
        <p:txBody>
          <a:bodyPr/>
          <a:lstStyle>
            <a:lvl1pPr marL="0" indent="0">
              <a:spcBef>
                <a:spcPts val="0"/>
              </a:spcBef>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Giới thiệu</a:t>
            </a:r>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userDrawn="1"/>
        </p:nvSpPr>
        <p:spPr bwMode="blackWhite">
          <a:xfrm>
            <a:off x="483068" y="640080"/>
            <a:ext cx="500634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 name="Title 1"/>
          <p:cNvSpPr>
            <a:spLocks noGrp="1"/>
          </p:cNvSpPr>
          <p:nvPr>
            <p:ph type="title"/>
          </p:nvPr>
        </p:nvSpPr>
        <p:spPr>
          <a:xfrm>
            <a:off x="5998464" y="1600200"/>
            <a:ext cx="2345436" cy="1828800"/>
          </a:xfrm>
        </p:spPr>
        <p:txBody>
          <a:bodyPr anchor="b">
            <a:normAutofit/>
          </a:bodyPr>
          <a:lstStyle>
            <a:lvl1pPr>
              <a:defRPr sz="2550"/>
            </a:lvl1pPr>
          </a:lstStyle>
          <a:p>
            <a:r>
              <a:rPr lang="en-US" smtClean="0"/>
              <a:t>Click to edit Master title style</a:t>
            </a:r>
            <a:endParaRPr lang="en-US"/>
          </a:p>
        </p:txBody>
      </p:sp>
      <p:sp>
        <p:nvSpPr>
          <p:cNvPr id="3" name="Picture Placeholder 2"/>
          <p:cNvSpPr>
            <a:spLocks noGrp="1"/>
          </p:cNvSpPr>
          <p:nvPr>
            <p:ph type="pic" idx="1"/>
          </p:nvPr>
        </p:nvSpPr>
        <p:spPr>
          <a:xfrm>
            <a:off x="585938" y="777240"/>
            <a:ext cx="4800600" cy="5303520"/>
          </a:xfrm>
        </p:spPr>
        <p:txBody>
          <a:bodyPr tIns="457200">
            <a:normAutofit/>
          </a:bodyPr>
          <a:lstStyle>
            <a:lvl1pPr marL="0" indent="0" algn="ctr">
              <a:buNone/>
              <a:defRPr sz="15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p:cNvSpPr>
            <a:spLocks noGrp="1"/>
          </p:cNvSpPr>
          <p:nvPr>
            <p:ph type="body" sz="half" idx="2"/>
          </p:nvPr>
        </p:nvSpPr>
        <p:spPr>
          <a:xfrm>
            <a:off x="5998464" y="3429000"/>
            <a:ext cx="2345436" cy="1828800"/>
          </a:xfrm>
        </p:spPr>
        <p:txBody>
          <a:bodyPr/>
          <a:lstStyle>
            <a:lvl1pPr marL="0" indent="0">
              <a:spcBef>
                <a:spcPts val="0"/>
              </a:spcBef>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smtClean="0"/>
              <a:t>Giới thiệu</a:t>
            </a:r>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Giới thiệu</a:t>
            </a:r>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457200"/>
            <a:ext cx="1457325" cy="563880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143000" y="457200"/>
            <a:ext cx="5286375" cy="56388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smtClean="0"/>
              <a:t>Giới thiệu</a:t>
            </a:r>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3000" y="457200"/>
            <a:ext cx="6858000" cy="1143000"/>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143000" y="1828800"/>
            <a:ext cx="6858000" cy="4267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457950" y="6362700"/>
            <a:ext cx="742950" cy="257176"/>
          </a:xfrm>
          <a:prstGeom prst="rect">
            <a:avLst/>
          </a:prstGeom>
        </p:spPr>
        <p:txBody>
          <a:bodyPr vert="horz" lIns="91440" tIns="45720" rIns="91440" bIns="45720" rtlCol="0" anchor="ctr"/>
          <a:lstStyle>
            <a:lvl1pPr algn="r">
              <a:defRPr sz="600">
                <a:solidFill>
                  <a:schemeClr val="tx1">
                    <a:lumMod val="85000"/>
                  </a:schemeClr>
                </a:solidFill>
              </a:defRPr>
            </a:lvl1pPr>
          </a:lstStyle>
          <a:p>
            <a:endParaRPr/>
          </a:p>
        </p:txBody>
      </p:sp>
      <p:sp>
        <p:nvSpPr>
          <p:cNvPr id="5" name="Footer Placeholder 4"/>
          <p:cNvSpPr>
            <a:spLocks noGrp="1"/>
          </p:cNvSpPr>
          <p:nvPr>
            <p:ph type="ftr" sz="quarter" idx="3"/>
          </p:nvPr>
        </p:nvSpPr>
        <p:spPr>
          <a:xfrm>
            <a:off x="1143000" y="6362700"/>
            <a:ext cx="5161165" cy="257176"/>
          </a:xfrm>
          <a:prstGeom prst="rect">
            <a:avLst/>
          </a:prstGeom>
        </p:spPr>
        <p:txBody>
          <a:bodyPr vert="horz" lIns="91440" tIns="45720" rIns="91440" bIns="45720" rtlCol="0" anchor="ctr"/>
          <a:lstStyle>
            <a:lvl1pPr algn="l">
              <a:defRPr sz="600">
                <a:solidFill>
                  <a:schemeClr val="tx1">
                    <a:lumMod val="85000"/>
                  </a:schemeClr>
                </a:solidFill>
              </a:defRPr>
            </a:lvl1pPr>
          </a:lstStyle>
          <a:p>
            <a:r>
              <a:rPr lang="en-US" smtClean="0"/>
              <a:t>Giới thiệu</a:t>
            </a:r>
            <a:endParaRPr/>
          </a:p>
        </p:txBody>
      </p:sp>
      <p:sp>
        <p:nvSpPr>
          <p:cNvPr id="6" name="Slide Number Placeholder 5"/>
          <p:cNvSpPr>
            <a:spLocks noGrp="1"/>
          </p:cNvSpPr>
          <p:nvPr>
            <p:ph type="sldNum" sz="quarter" idx="4"/>
          </p:nvPr>
        </p:nvSpPr>
        <p:spPr>
          <a:xfrm>
            <a:off x="7372350" y="6362700"/>
            <a:ext cx="628650" cy="257176"/>
          </a:xfrm>
          <a:prstGeom prst="rect">
            <a:avLst/>
          </a:prstGeom>
        </p:spPr>
        <p:txBody>
          <a:bodyPr vert="horz" lIns="91440" tIns="45720" rIns="91440" bIns="45720" rtlCol="0" anchor="ctr"/>
          <a:lstStyle>
            <a:lvl1pPr algn="r">
              <a:defRPr sz="1400">
                <a:solidFill>
                  <a:schemeClr val="tx1">
                    <a:lumMod val="85000"/>
                  </a:schemeClr>
                </a:solidFill>
                <a:latin typeface="+mj-lt"/>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dt="0"/>
  <p:txStyles>
    <p:titleStyle>
      <a:lvl1pPr algn="l" defTabSz="685800" rtl="0" eaLnBrk="1" latinLnBrk="0" hangingPunct="1">
        <a:lnSpc>
          <a:spcPct val="90000"/>
        </a:lnSpc>
        <a:spcBef>
          <a:spcPct val="0"/>
        </a:spcBef>
        <a:buNone/>
        <a:defRPr sz="2550" kern="1200">
          <a:solidFill>
            <a:schemeClr val="accent1"/>
          </a:solidFill>
          <a:latin typeface="+mj-lt"/>
          <a:ea typeface="+mj-ea"/>
          <a:cs typeface="+mj-cs"/>
        </a:defRPr>
      </a:lvl1pPr>
    </p:titleStyle>
    <p:bodyStyle>
      <a:lvl1pPr marL="171450" indent="-171450" algn="l" defTabSz="685800" rtl="0" eaLnBrk="1" latinLnBrk="0" hangingPunct="1">
        <a:lnSpc>
          <a:spcPct val="90000"/>
        </a:lnSpc>
        <a:spcBef>
          <a:spcPts val="1350"/>
        </a:spcBef>
        <a:buClr>
          <a:schemeClr val="accent1"/>
        </a:buClr>
        <a:buFont typeface="Arial" pitchFamily="34" charset="0"/>
        <a:buChar char="•"/>
        <a:defRPr sz="1500" kern="1200">
          <a:solidFill>
            <a:schemeClr val="tx1">
              <a:lumMod val="85000"/>
            </a:schemeClr>
          </a:solidFill>
          <a:latin typeface="+mn-lt"/>
          <a:ea typeface="+mn-ea"/>
          <a:cs typeface="+mn-cs"/>
        </a:defRPr>
      </a:lvl1pPr>
      <a:lvl2pPr marL="445770" indent="-171450" algn="l" defTabSz="685800" rtl="0" eaLnBrk="1" latinLnBrk="0" hangingPunct="1">
        <a:lnSpc>
          <a:spcPct val="90000"/>
        </a:lnSpc>
        <a:spcBef>
          <a:spcPts val="750"/>
        </a:spcBef>
        <a:buClr>
          <a:schemeClr val="accent1"/>
        </a:buClr>
        <a:buFont typeface="Arial" pitchFamily="34" charset="0"/>
        <a:buChar char="•"/>
        <a:defRPr sz="1350" kern="1200">
          <a:solidFill>
            <a:schemeClr val="tx1">
              <a:lumMod val="85000"/>
            </a:schemeClr>
          </a:solidFill>
          <a:latin typeface="+mn-lt"/>
          <a:ea typeface="+mn-ea"/>
          <a:cs typeface="+mn-cs"/>
        </a:defRPr>
      </a:lvl2pPr>
      <a:lvl3pPr marL="685800" indent="-171450" algn="l" defTabSz="685800" rtl="0" eaLnBrk="1" latinLnBrk="0" hangingPunct="1">
        <a:lnSpc>
          <a:spcPct val="90000"/>
        </a:lnSpc>
        <a:spcBef>
          <a:spcPts val="600"/>
        </a:spcBef>
        <a:buClr>
          <a:schemeClr val="accent1"/>
        </a:buClr>
        <a:buFont typeface="Arial" pitchFamily="34" charset="0"/>
        <a:buChar char="•"/>
        <a:defRPr sz="1200" kern="1200">
          <a:solidFill>
            <a:schemeClr val="tx1">
              <a:lumMod val="85000"/>
            </a:schemeClr>
          </a:solidFill>
          <a:latin typeface="+mn-lt"/>
          <a:ea typeface="+mn-ea"/>
          <a:cs typeface="+mn-cs"/>
        </a:defRPr>
      </a:lvl3pPr>
      <a:lvl4pPr marL="92583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lumMod val="85000"/>
            </a:schemeClr>
          </a:solidFill>
          <a:latin typeface="+mn-lt"/>
          <a:ea typeface="+mn-ea"/>
          <a:cs typeface="+mn-cs"/>
        </a:defRPr>
      </a:lvl4pPr>
      <a:lvl5pPr marL="113157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lumMod val="85000"/>
            </a:schemeClr>
          </a:solidFill>
          <a:latin typeface="+mn-lt"/>
          <a:ea typeface="+mn-ea"/>
          <a:cs typeface="+mn-cs"/>
        </a:defRPr>
      </a:lvl5pPr>
      <a:lvl6pPr marL="133731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6pPr>
      <a:lvl7pPr marL="154305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7pPr>
      <a:lvl8pPr marL="174879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8pPr>
      <a:lvl9pPr marL="1954530" indent="-171450" algn="l" defTabSz="685800" rtl="0" eaLnBrk="1" latinLnBrk="0" hangingPunct="1">
        <a:lnSpc>
          <a:spcPct val="90000"/>
        </a:lnSpc>
        <a:spcBef>
          <a:spcPts val="600"/>
        </a:spcBef>
        <a:buClr>
          <a:schemeClr val="accent1"/>
        </a:buClr>
        <a:buFont typeface="Arial" pitchFamily="34" charset="0"/>
        <a:buChar char="•"/>
        <a:defRPr sz="1050" kern="1200">
          <a:solidFill>
            <a:schemeClr val="tx1"/>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6.emf"/></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7.emf"/></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8.emf"/></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9.emf"/></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Visio_Drawing5.vsdx"/><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30.emf"/></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Visio_Drawing6.vsdx"/><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31.emf"/></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Visio_Drawing7.vsdx"/><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2.emf"/></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Visio_Drawing8.vsdx"/><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3.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Visio_Drawing9.vsdx"/><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4.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Visio_Drawing10.vsdx"/><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emf"/></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microsoft.com/office/2007/relationships/media" Target="../media/media5.mp4"/><Relationship Id="rId7" Type="http://schemas.openxmlformats.org/officeDocument/2006/relationships/image" Target="../media/image43.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42.png"/><Relationship Id="rId5" Type="http://schemas.openxmlformats.org/officeDocument/2006/relationships/slideLayout" Target="../slideLayouts/slideLayout2.xml"/><Relationship Id="rId4" Type="http://schemas.openxmlformats.org/officeDocument/2006/relationships/video" Target="../media/media5.mp4"/></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0100" y="3165765"/>
            <a:ext cx="7543800" cy="796635"/>
          </a:xfrm>
        </p:spPr>
        <p:txBody>
          <a:bodyPr/>
          <a:lstStyle/>
          <a:p>
            <a:r>
              <a:rPr lang="en-US" smtClean="0"/>
              <a:t>GAME MINI RED ALERT</a:t>
            </a:r>
            <a:endParaRPr/>
          </a:p>
        </p:txBody>
      </p:sp>
      <p:sp>
        <p:nvSpPr>
          <p:cNvPr id="3" name="Subtitle 2"/>
          <p:cNvSpPr>
            <a:spLocks noGrp="1"/>
          </p:cNvSpPr>
          <p:nvPr>
            <p:ph type="subTitle" idx="1"/>
          </p:nvPr>
        </p:nvSpPr>
        <p:spPr>
          <a:xfrm>
            <a:off x="800100" y="3962401"/>
            <a:ext cx="7543800" cy="1676400"/>
          </a:xfrm>
        </p:spPr>
        <p:txBody>
          <a:bodyPr>
            <a:normAutofit lnSpcReduction="10000"/>
          </a:bodyPr>
          <a:lstStyle/>
          <a:p>
            <a:r>
              <a:rPr lang="en-US" b="1"/>
              <a:t>Hội đồng: </a:t>
            </a:r>
            <a:r>
              <a:rPr lang="en-US"/>
              <a:t>Khoa Học Máy Tính</a:t>
            </a:r>
          </a:p>
          <a:p>
            <a:r>
              <a:rPr lang="en-US" b="1"/>
              <a:t>GVHD: </a:t>
            </a:r>
            <a:r>
              <a:rPr lang="en-US"/>
              <a:t>Vương Bá Thịnh</a:t>
            </a:r>
          </a:p>
          <a:p>
            <a:r>
              <a:rPr lang="en-US" b="1"/>
              <a:t>GVPB: </a:t>
            </a:r>
            <a:r>
              <a:rPr lang="en-US"/>
              <a:t>Trần Giang </a:t>
            </a:r>
            <a:r>
              <a:rPr lang="en-US" smtClean="0"/>
              <a:t>Sơn</a:t>
            </a:r>
          </a:p>
          <a:p>
            <a:endParaRPr lang="en-US"/>
          </a:p>
          <a:p>
            <a:r>
              <a:rPr lang="en-US" b="1" smtClean="0"/>
              <a:t>Sinh </a:t>
            </a:r>
            <a:r>
              <a:rPr lang="en-US" b="1"/>
              <a:t>viên thực hiện:</a:t>
            </a:r>
            <a:endParaRPr lang="en-US"/>
          </a:p>
          <a:p>
            <a:r>
              <a:rPr lang="en-US" smtClean="0"/>
              <a:t>	Võ </a:t>
            </a:r>
            <a:r>
              <a:rPr lang="en-US"/>
              <a:t>Thành Đạt - 51100769</a:t>
            </a:r>
          </a:p>
          <a:p>
            <a:r>
              <a:rPr lang="en-US" smtClean="0"/>
              <a:t>	Mông </a:t>
            </a:r>
            <a:r>
              <a:rPr lang="en-US"/>
              <a:t>Tăng Khoan - 51101671</a:t>
            </a:r>
          </a:p>
          <a:p>
            <a:r>
              <a:rPr lang="en-US" smtClean="0"/>
              <a:t>	Ngô </a:t>
            </a:r>
            <a:r>
              <a:rPr lang="en-US"/>
              <a:t>Hoàng Phương - 51104460</a:t>
            </a:r>
          </a:p>
          <a:p>
            <a:endParaRPr lang="en-US"/>
          </a:p>
        </p:txBody>
      </p:sp>
    </p:spTree>
    <p:extLst>
      <p:ext uri="{BB962C8B-B14F-4D97-AF65-F5344CB8AC3E}">
        <p14:creationId xmlns:p14="http://schemas.microsoft.com/office/powerpoint/2010/main" val="242453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smtClean="0"/>
              <a:t>NỘI DUNG</a:t>
            </a:r>
            <a:endParaRPr/>
          </a:p>
        </p:txBody>
      </p:sp>
      <p:sp>
        <p:nvSpPr>
          <p:cNvPr id="14" name="Content Placeholder 13"/>
          <p:cNvSpPr>
            <a:spLocks noGrp="1"/>
          </p:cNvSpPr>
          <p:nvPr>
            <p:ph idx="1"/>
          </p:nvPr>
        </p:nvSpPr>
        <p:spPr/>
        <p:txBody>
          <a:bodyPr/>
          <a:lstStyle/>
          <a:p>
            <a:r>
              <a:rPr lang="en-US" smtClean="0">
                <a:latin typeface="+mj-lt"/>
              </a:rPr>
              <a:t>Giới thiệu</a:t>
            </a:r>
            <a:endParaRPr>
              <a:latin typeface="+mj-lt"/>
            </a:endParaRPr>
          </a:p>
          <a:p>
            <a:r>
              <a:rPr lang="en-US" smtClean="0">
                <a:latin typeface="+mj-lt"/>
              </a:rPr>
              <a:t>Phân tích vấn đề</a:t>
            </a:r>
            <a:endParaRPr>
              <a:latin typeface="+mj-lt"/>
            </a:endParaRPr>
          </a:p>
          <a:p>
            <a:r>
              <a:rPr lang="en-US" smtClean="0">
                <a:latin typeface="+mj-lt"/>
              </a:rPr>
              <a:t>Cơ sở lý thuyết và công nghệ sử dụng</a:t>
            </a:r>
          </a:p>
          <a:p>
            <a:r>
              <a:rPr lang="en-US" smtClean="0">
                <a:latin typeface="+mj-lt"/>
              </a:rPr>
              <a:t>Ý tưởng game</a:t>
            </a:r>
          </a:p>
          <a:p>
            <a:r>
              <a:rPr lang="en-US" smtClean="0">
                <a:latin typeface="+mj-lt"/>
              </a:rPr>
              <a:t>Thiết kế game</a:t>
            </a:r>
          </a:p>
          <a:p>
            <a:r>
              <a:rPr lang="en-US" smtClean="0">
                <a:latin typeface="+mj-lt"/>
              </a:rPr>
              <a:t>Hiện thực game</a:t>
            </a:r>
          </a:p>
          <a:p>
            <a:r>
              <a:rPr lang="en-US" smtClean="0">
                <a:latin typeface="+mj-lt"/>
              </a:rPr>
              <a:t>Tổng kết</a:t>
            </a:r>
            <a:endParaRPr>
              <a:latin typeface="+mj-lt"/>
            </a:endParaRPr>
          </a:p>
        </p:txBody>
      </p:sp>
      <p:sp>
        <p:nvSpPr>
          <p:cNvPr id="2" name="Slide Number Placeholder 1"/>
          <p:cNvSpPr>
            <a:spLocks noGrp="1"/>
          </p:cNvSpPr>
          <p:nvPr>
            <p:ph type="sldNum" sz="quarter" idx="12"/>
          </p:nvPr>
        </p:nvSpPr>
        <p:spPr/>
        <p:txBody>
          <a:bodyPr/>
          <a:lstStyle/>
          <a:p>
            <a:fld id="{E31375A4-56A4-47D6-9801-1991572033F7}" type="slidenum">
              <a:rPr lang="en-US" smtClean="0"/>
              <a:t>2</a:t>
            </a:fld>
            <a:endParaRPr lang="en-US"/>
          </a:p>
        </p:txBody>
      </p:sp>
    </p:spTree>
    <p:extLst>
      <p:ext uri="{BB962C8B-B14F-4D97-AF65-F5344CB8AC3E}">
        <p14:creationId xmlns:p14="http://schemas.microsoft.com/office/powerpoint/2010/main" val="30428263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CÁI NHÌN QUA VỀ SẢN PHẨM</a:t>
            </a:r>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3</a:t>
            </a:fld>
            <a:endParaRPr lang="en-US"/>
          </a:p>
        </p:txBody>
      </p:sp>
      <p:sp>
        <p:nvSpPr>
          <p:cNvPr id="5" name="Footer Placeholder 4"/>
          <p:cNvSpPr>
            <a:spLocks noGrp="1"/>
          </p:cNvSpPr>
          <p:nvPr>
            <p:ph type="ftr" sz="quarter" idx="11"/>
          </p:nvPr>
        </p:nvSpPr>
        <p:spPr/>
        <p:txBody>
          <a:bodyPr/>
          <a:lstStyle/>
          <a:p>
            <a:r>
              <a:rPr lang="en-US" smtClean="0"/>
              <a:t>Giới thiệu</a:t>
            </a:r>
            <a:endParaRPr lang="en-US"/>
          </a:p>
        </p:txBody>
      </p:sp>
    </p:spTree>
    <p:extLst>
      <p:ext uri="{BB962C8B-B14F-4D97-AF65-F5344CB8AC3E}">
        <p14:creationId xmlns:p14="http://schemas.microsoft.com/office/powerpoint/2010/main" val="20602402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TỔNG QUAN ĐỀ TÀI</a:t>
            </a:r>
            <a:endParaRPr lang="en-US"/>
          </a:p>
        </p:txBody>
      </p:sp>
      <p:sp>
        <p:nvSpPr>
          <p:cNvPr id="3" name="Content Placeholder 2"/>
          <p:cNvSpPr>
            <a:spLocks noGrp="1"/>
          </p:cNvSpPr>
          <p:nvPr>
            <p:ph idx="1"/>
          </p:nvPr>
        </p:nvSpPr>
        <p:spPr/>
        <p:txBody>
          <a:bodyPr/>
          <a:lstStyle/>
          <a:p>
            <a:r>
              <a:rPr lang="vi-VN">
                <a:latin typeface="Consolas" panose="020B0609020204030204" pitchFamily="49" charset="0"/>
                <a:cs typeface="Consolas" panose="020B0609020204030204" pitchFamily="49" charset="0"/>
              </a:rPr>
              <a:t>Game chiến thuật thời gian thực là một thể loại game nổi tiếng được nhiều người biết tới và có nhiều tựa game xuất hiện trong các giải đấu esports</a:t>
            </a:r>
            <a:r>
              <a:rPr lang="vi-VN" smtClean="0">
                <a:latin typeface="Consolas" panose="020B0609020204030204" pitchFamily="49" charset="0"/>
                <a:cs typeface="Consolas" panose="020B0609020204030204" pitchFamily="49" charset="0"/>
              </a:rPr>
              <a:t>.</a:t>
            </a:r>
            <a:endParaRPr lang="en-US" smtClean="0">
              <a:latin typeface="Consolas" panose="020B0609020204030204" pitchFamily="49" charset="0"/>
              <a:cs typeface="Consolas" panose="020B0609020204030204" pitchFamily="49" charset="0"/>
            </a:endParaRPr>
          </a:p>
          <a:p>
            <a:r>
              <a:rPr lang="en-US" smtClean="0">
                <a:latin typeface="Consolas" panose="020B0609020204030204" pitchFamily="49" charset="0"/>
                <a:cs typeface="Consolas" panose="020B0609020204030204" pitchFamily="49" charset="0"/>
              </a:rPr>
              <a:t>Việc nghiên cứu và phát triển game chiến thuật thời gian thực chứa đựng nhiều thú vị cho </a:t>
            </a:r>
            <a:r>
              <a:rPr lang="vi-VN" smtClean="0">
                <a:latin typeface="Consolas" panose="020B0609020204030204" pitchFamily="49" charset="0"/>
                <a:cs typeface="Consolas" panose="020B0609020204030204" pitchFamily="49" charset="0"/>
              </a:rPr>
              <a:t>những người lập trình</a:t>
            </a:r>
            <a:r>
              <a:rPr lang="en-US" smtClean="0">
                <a:latin typeface="Consolas" panose="020B0609020204030204" pitchFamily="49" charset="0"/>
                <a:cs typeface="Consolas" panose="020B0609020204030204" pitchFamily="49" charset="0"/>
              </a:rPr>
              <a:t>. </a:t>
            </a:r>
            <a:r>
              <a:rPr lang="vi-VN">
                <a:latin typeface="Consolas" panose="020B0609020204030204" pitchFamily="49" charset="0"/>
                <a:cs typeface="Consolas" panose="020B0609020204030204" pitchFamily="49" charset="0"/>
              </a:rPr>
              <a:t>Đã xuất hiện cuộc thi từ các trường đại học trong việc lập trình AI cho game để thi đấu với nhau, ví dụ như cuộc thi AIIDE StarCraft </a:t>
            </a:r>
            <a:r>
              <a:rPr lang="vi-VN" smtClean="0">
                <a:latin typeface="Consolas" panose="020B0609020204030204" pitchFamily="49" charset="0"/>
                <a:cs typeface="Consolas" panose="020B0609020204030204" pitchFamily="49" charset="0"/>
              </a:rPr>
              <a:t>AI [1].</a:t>
            </a:r>
            <a:endParaRPr lang="en-US" smtClean="0">
              <a:latin typeface="Consolas" panose="020B0609020204030204" pitchFamily="49" charset="0"/>
              <a:cs typeface="Consolas" panose="020B0609020204030204" pitchFamily="49" charset="0"/>
            </a:endParaRPr>
          </a:p>
          <a:p>
            <a:r>
              <a:rPr lang="en-US" smtClean="0">
                <a:latin typeface="Consolas" panose="020B0609020204030204" pitchFamily="49" charset="0"/>
                <a:cs typeface="Consolas" panose="020B0609020204030204" pitchFamily="49" charset="0"/>
              </a:rPr>
              <a:t>Đề tài của nhóm là thực hiện một game chiến thuật thời gian thực dựa vào game Red Alert, và sử dụng ngôn ngữ javascript để phát triển.</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Giới thiệu</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4</a:t>
            </a:fld>
            <a:endParaRPr lang="en-US"/>
          </a:p>
        </p:txBody>
      </p:sp>
    </p:spTree>
    <p:extLst>
      <p:ext uri="{BB962C8B-B14F-4D97-AF65-F5344CB8AC3E}">
        <p14:creationId xmlns:p14="http://schemas.microsoft.com/office/powerpoint/2010/main" val="13407310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MỤC TIÊU ĐỀ TÀI</a:t>
            </a:r>
            <a:endParaRPr lang="en-US"/>
          </a:p>
        </p:txBody>
      </p:sp>
      <p:sp>
        <p:nvSpPr>
          <p:cNvPr id="3" name="Content Placeholder 2"/>
          <p:cNvSpPr>
            <a:spLocks noGrp="1"/>
          </p:cNvSpPr>
          <p:nvPr>
            <p:ph idx="1"/>
          </p:nvPr>
        </p:nvSpPr>
        <p:spPr/>
        <p:txBody>
          <a:bodyPr/>
          <a:lstStyle/>
          <a:p>
            <a:r>
              <a:rPr lang="en-US" smtClean="0">
                <a:latin typeface="+mj-lt"/>
              </a:rPr>
              <a:t>Xây dựng lại game Red Alert trên nền tảng web bằng javascipt</a:t>
            </a:r>
          </a:p>
          <a:p>
            <a:r>
              <a:rPr lang="en-US" smtClean="0">
                <a:latin typeface="+mj-lt"/>
              </a:rPr>
              <a:t>Thực hiện tối ưu hóa các xử lý trong game, đưa ra lời giải cho các vấn đề game chiến thuật thời gian thực </a:t>
            </a:r>
          </a:p>
          <a:p>
            <a:r>
              <a:rPr lang="en-US" smtClean="0">
                <a:latin typeface="+mj-lt"/>
              </a:rPr>
              <a:t>Đưa ra cái nhìn trực quan về hoạt động của các giải thuật dựa vào diễn biến trong game</a:t>
            </a:r>
          </a:p>
          <a:p>
            <a:r>
              <a:rPr lang="en-US" smtClean="0">
                <a:latin typeface="+mj-lt"/>
              </a:rPr>
              <a:t>Xây dựng , thiết kế AI cho game</a:t>
            </a:r>
            <a:endParaRPr lang="en-US">
              <a:latin typeface="+mj-lt"/>
            </a:endParaRPr>
          </a:p>
        </p:txBody>
      </p:sp>
      <p:sp>
        <p:nvSpPr>
          <p:cNvPr id="4" name="Slide Number Placeholder 3"/>
          <p:cNvSpPr>
            <a:spLocks noGrp="1"/>
          </p:cNvSpPr>
          <p:nvPr>
            <p:ph type="sldNum" sz="quarter" idx="12"/>
          </p:nvPr>
        </p:nvSpPr>
        <p:spPr/>
        <p:txBody>
          <a:bodyPr/>
          <a:lstStyle/>
          <a:p>
            <a:fld id="{E31375A4-56A4-47D6-9801-1991572033F7}" type="slidenum">
              <a:rPr lang="en-US" smtClean="0"/>
              <a:t>5</a:t>
            </a:fld>
            <a:endParaRPr lang="en-US"/>
          </a:p>
        </p:txBody>
      </p:sp>
      <p:sp>
        <p:nvSpPr>
          <p:cNvPr id="5" name="Footer Placeholder 4"/>
          <p:cNvSpPr>
            <a:spLocks noGrp="1"/>
          </p:cNvSpPr>
          <p:nvPr>
            <p:ph type="ftr" sz="quarter" idx="11"/>
          </p:nvPr>
        </p:nvSpPr>
        <p:spPr/>
        <p:txBody>
          <a:bodyPr/>
          <a:lstStyle/>
          <a:p>
            <a:r>
              <a:rPr lang="en-US" smtClean="0"/>
              <a:t>Giới thiệu</a:t>
            </a:r>
            <a:endParaRPr lang="en-US"/>
          </a:p>
        </p:txBody>
      </p:sp>
    </p:spTree>
    <p:extLst>
      <p:ext uri="{BB962C8B-B14F-4D97-AF65-F5344CB8AC3E}">
        <p14:creationId xmlns:p14="http://schemas.microsoft.com/office/powerpoint/2010/main" val="9811340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PHẠM VI ĐỀ TÀI</a:t>
            </a:r>
            <a:endParaRPr lang="en-US"/>
          </a:p>
        </p:txBody>
      </p:sp>
      <p:sp>
        <p:nvSpPr>
          <p:cNvPr id="3" name="Content Placeholder 2"/>
          <p:cNvSpPr>
            <a:spLocks noGrp="1"/>
          </p:cNvSpPr>
          <p:nvPr>
            <p:ph idx="1"/>
          </p:nvPr>
        </p:nvSpPr>
        <p:spPr/>
        <p:txBody>
          <a:bodyPr/>
          <a:lstStyle/>
          <a:p>
            <a:r>
              <a:rPr lang="en-US" smtClean="0">
                <a:latin typeface="+mj-lt"/>
              </a:rPr>
              <a:t>Xây dựng gần đầy đủ số lượng đối tượng theo như game Red Alert</a:t>
            </a:r>
          </a:p>
          <a:p>
            <a:r>
              <a:rPr lang="en-US" smtClean="0">
                <a:latin typeface="+mj-lt"/>
              </a:rPr>
              <a:t>Cho người chơi trải nghiệm được như với game Red Alert</a:t>
            </a:r>
          </a:p>
          <a:p>
            <a:r>
              <a:rPr lang="en-US" smtClean="0">
                <a:latin typeface="+mj-lt"/>
              </a:rPr>
              <a:t>Đồng thời có các điểm tối ưu hơn trong game gốc</a:t>
            </a:r>
            <a:endParaRPr lang="en-US">
              <a:latin typeface="+mj-lt"/>
            </a:endParaRPr>
          </a:p>
        </p:txBody>
      </p:sp>
      <p:sp>
        <p:nvSpPr>
          <p:cNvPr id="4" name="Footer Placeholder 3"/>
          <p:cNvSpPr>
            <a:spLocks noGrp="1"/>
          </p:cNvSpPr>
          <p:nvPr>
            <p:ph type="ftr" sz="quarter" idx="11"/>
          </p:nvPr>
        </p:nvSpPr>
        <p:spPr/>
        <p:txBody>
          <a:bodyPr/>
          <a:lstStyle/>
          <a:p>
            <a:r>
              <a:rPr lang="en-US" smtClean="0"/>
              <a:t>Giới thiệu</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6</a:t>
            </a:fld>
            <a:endParaRPr lang="en-US"/>
          </a:p>
        </p:txBody>
      </p:sp>
    </p:spTree>
    <p:extLst>
      <p:ext uri="{BB962C8B-B14F-4D97-AF65-F5344CB8AC3E}">
        <p14:creationId xmlns:p14="http://schemas.microsoft.com/office/powerpoint/2010/main" val="41508388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ỨNG DỤNG ĐỀ TÀI</a:t>
            </a:r>
            <a:endParaRPr lang="en-US"/>
          </a:p>
        </p:txBody>
      </p:sp>
      <p:sp>
        <p:nvSpPr>
          <p:cNvPr id="3" name="Content Placeholder 2"/>
          <p:cNvSpPr>
            <a:spLocks noGrp="1"/>
          </p:cNvSpPr>
          <p:nvPr>
            <p:ph idx="1"/>
          </p:nvPr>
        </p:nvSpPr>
        <p:spPr/>
        <p:txBody>
          <a:bodyPr/>
          <a:lstStyle/>
          <a:p>
            <a:r>
              <a:rPr lang="en-US">
                <a:latin typeface="+mj-lt"/>
              </a:rPr>
              <a:t>C</a:t>
            </a:r>
            <a:r>
              <a:rPr lang="en-US" smtClean="0">
                <a:latin typeface="+mj-lt"/>
              </a:rPr>
              <a:t>ó thể sử dụng các vấn đề đã giải quyết trong đề tài cho việc phát triển nhiều game khác</a:t>
            </a:r>
          </a:p>
          <a:p>
            <a:r>
              <a:rPr lang="en-US" smtClean="0">
                <a:latin typeface="+mj-lt"/>
              </a:rPr>
              <a:t>Giải trí cho người chơi</a:t>
            </a:r>
            <a:endParaRPr lang="en-US">
              <a:latin typeface="+mj-lt"/>
            </a:endParaRPr>
          </a:p>
        </p:txBody>
      </p:sp>
      <p:sp>
        <p:nvSpPr>
          <p:cNvPr id="4" name="Footer Placeholder 3"/>
          <p:cNvSpPr>
            <a:spLocks noGrp="1"/>
          </p:cNvSpPr>
          <p:nvPr>
            <p:ph type="ftr" sz="quarter" idx="11"/>
          </p:nvPr>
        </p:nvSpPr>
        <p:spPr/>
        <p:txBody>
          <a:bodyPr/>
          <a:lstStyle/>
          <a:p>
            <a:r>
              <a:rPr lang="en-US" smtClean="0"/>
              <a:t>Giới thiệu</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7</a:t>
            </a:fld>
            <a:endParaRPr lang="en-US"/>
          </a:p>
        </p:txBody>
      </p:sp>
    </p:spTree>
    <p:extLst>
      <p:ext uri="{BB962C8B-B14F-4D97-AF65-F5344CB8AC3E}">
        <p14:creationId xmlns:p14="http://schemas.microsoft.com/office/powerpoint/2010/main" val="41004253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THỂ LOẠI GAME CHIẾN THUẬT THỜI GIAN THỰC</a:t>
            </a:r>
            <a:endParaRPr lang="en-US"/>
          </a:p>
        </p:txBody>
      </p:sp>
      <p:sp>
        <p:nvSpPr>
          <p:cNvPr id="3" name="Content Placeholder 2"/>
          <p:cNvSpPr>
            <a:spLocks noGrp="1"/>
          </p:cNvSpPr>
          <p:nvPr>
            <p:ph idx="1"/>
          </p:nvPr>
        </p:nvSpPr>
        <p:spPr/>
        <p:txBody>
          <a:bodyPr/>
          <a:lstStyle/>
          <a:p>
            <a:r>
              <a:rPr lang="en-US" smtClean="0">
                <a:latin typeface="+mj-lt"/>
              </a:rPr>
              <a:t>Đây là thể loại người chơi thực hiện các việc như thu thập tài nguyên, xây dựng căn cứ, phát triển công nghệ, điều khiển các nhóm đơn vị và tấn công phòng thủ.</a:t>
            </a:r>
          </a:p>
          <a:p>
            <a:r>
              <a:rPr lang="en-US" smtClean="0">
                <a:latin typeface="+mj-lt"/>
              </a:rPr>
              <a:t>Ví dụ: Warcraft, Age of Empires, StarCraft, Red Alert,…</a:t>
            </a:r>
            <a:endParaRPr lang="en-US">
              <a:latin typeface="+mj-lt"/>
            </a:endParaRPr>
          </a:p>
        </p:txBody>
      </p:sp>
      <p:sp>
        <p:nvSpPr>
          <p:cNvPr id="4" name="Slide Number Placeholder 3"/>
          <p:cNvSpPr>
            <a:spLocks noGrp="1"/>
          </p:cNvSpPr>
          <p:nvPr>
            <p:ph type="sldNum" sz="quarter" idx="12"/>
          </p:nvPr>
        </p:nvSpPr>
        <p:spPr/>
        <p:txBody>
          <a:bodyPr/>
          <a:lstStyle/>
          <a:p>
            <a:fld id="{E31375A4-56A4-47D6-9801-1991572033F7}" type="slidenum">
              <a:rPr lang="en-US" smtClean="0"/>
              <a:t>8</a:t>
            </a:fld>
            <a:endParaRPr lang="en-US"/>
          </a:p>
        </p:txBody>
      </p:sp>
      <p:sp>
        <p:nvSpPr>
          <p:cNvPr id="5" name="Footer Placeholder 4"/>
          <p:cNvSpPr>
            <a:spLocks noGrp="1"/>
          </p:cNvSpPr>
          <p:nvPr>
            <p:ph type="ftr" sz="quarter" idx="11"/>
          </p:nvPr>
        </p:nvSpPr>
        <p:spPr/>
        <p:txBody>
          <a:bodyPr/>
          <a:lstStyle/>
          <a:p>
            <a:r>
              <a:rPr lang="en-US" smtClean="0"/>
              <a:t>Phân tích vấn đề</a:t>
            </a:r>
            <a:endParaRPr lang="en-US"/>
          </a:p>
        </p:txBody>
      </p:sp>
    </p:spTree>
    <p:extLst>
      <p:ext uri="{BB962C8B-B14F-4D97-AF65-F5344CB8AC3E}">
        <p14:creationId xmlns:p14="http://schemas.microsoft.com/office/powerpoint/2010/main" val="3023817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THỂ LOẠI GAME CHIẾN THUẬT THỜI GIAN THỰC</a:t>
            </a:r>
          </a:p>
        </p:txBody>
      </p:sp>
      <p:sp>
        <p:nvSpPr>
          <p:cNvPr id="3" name="Content Placeholder 2"/>
          <p:cNvSpPr>
            <a:spLocks noGrp="1"/>
          </p:cNvSpPr>
          <p:nvPr>
            <p:ph idx="1"/>
          </p:nvPr>
        </p:nvSpPr>
        <p:spPr/>
        <p:txBody>
          <a:bodyPr/>
          <a:lstStyle/>
          <a:p>
            <a:r>
              <a:rPr lang="vi-VN">
                <a:latin typeface="Consolas" panose="020B0609020204030204" pitchFamily="49" charset="0"/>
                <a:cs typeface="Consolas" panose="020B0609020204030204" pitchFamily="49" charset="0"/>
              </a:rPr>
              <a:t>Các thách thức trong game chiến thuật </a:t>
            </a:r>
            <a:r>
              <a:rPr lang="vi-VN" smtClean="0">
                <a:latin typeface="Consolas" panose="020B0609020204030204" pitchFamily="49" charset="0"/>
                <a:cs typeface="Consolas" panose="020B0609020204030204" pitchFamily="49" charset="0"/>
              </a:rPr>
              <a:t>thời </a:t>
            </a:r>
            <a:r>
              <a:rPr lang="vi-VN">
                <a:latin typeface="Consolas" panose="020B0609020204030204" pitchFamily="49" charset="0"/>
                <a:cs typeface="Consolas" panose="020B0609020204030204" pitchFamily="49" charset="0"/>
              </a:rPr>
              <a:t>gian </a:t>
            </a:r>
            <a:r>
              <a:rPr lang="vi-VN" smtClean="0">
                <a:latin typeface="Consolas" panose="020B0609020204030204" pitchFamily="49" charset="0"/>
                <a:cs typeface="Consolas" panose="020B0609020204030204" pitchFamily="49" charset="0"/>
              </a:rPr>
              <a:t>thực</a:t>
            </a:r>
            <a:r>
              <a:rPr lang="en-US" smtClean="0">
                <a:latin typeface="Consolas" panose="020B0609020204030204" pitchFamily="49" charset="0"/>
                <a:cs typeface="Consolas" panose="020B0609020204030204" pitchFamily="49" charset="0"/>
              </a:rPr>
              <a:t>: [2]</a:t>
            </a:r>
          </a:p>
          <a:p>
            <a:pPr lvl="1"/>
            <a:r>
              <a:rPr lang="vi-VN">
                <a:latin typeface="Consolas" panose="020B0609020204030204" pitchFamily="49" charset="0"/>
                <a:cs typeface="Consolas" panose="020B0609020204030204" pitchFamily="49" charset="0"/>
              </a:rPr>
              <a:t>Chiến đấu trong thời gian </a:t>
            </a:r>
            <a:r>
              <a:rPr lang="vi-VN" smtClean="0">
                <a:latin typeface="Consolas" panose="020B0609020204030204" pitchFamily="49" charset="0"/>
                <a:cs typeface="Consolas" panose="020B0609020204030204" pitchFamily="49" charset="0"/>
              </a:rPr>
              <a:t>thực</a:t>
            </a:r>
            <a:endParaRPr lang="en-US" smtClean="0">
              <a:latin typeface="Consolas" panose="020B0609020204030204" pitchFamily="49" charset="0"/>
              <a:cs typeface="Consolas" panose="020B0609020204030204" pitchFamily="49" charset="0"/>
            </a:endParaRPr>
          </a:p>
          <a:p>
            <a:pPr lvl="1"/>
            <a:r>
              <a:rPr lang="vi-VN">
                <a:latin typeface="Consolas" panose="020B0609020204030204" pitchFamily="49" charset="0"/>
                <a:cs typeface="Consolas" panose="020B0609020204030204" pitchFamily="49" charset="0"/>
              </a:rPr>
              <a:t>Quyết định trong điều kiện không chắc </a:t>
            </a:r>
            <a:r>
              <a:rPr lang="vi-VN" smtClean="0">
                <a:latin typeface="Consolas" panose="020B0609020204030204" pitchFamily="49" charset="0"/>
                <a:cs typeface="Consolas" panose="020B0609020204030204" pitchFamily="49" charset="0"/>
              </a:rPr>
              <a:t>chắn</a:t>
            </a:r>
            <a:endParaRPr lang="en-US" smtClean="0">
              <a:latin typeface="Consolas" panose="020B0609020204030204" pitchFamily="49" charset="0"/>
              <a:cs typeface="Consolas" panose="020B0609020204030204" pitchFamily="49" charset="0"/>
            </a:endParaRPr>
          </a:p>
          <a:p>
            <a:pPr lvl="1"/>
            <a:r>
              <a:rPr lang="vi-VN">
                <a:latin typeface="Consolas" panose="020B0609020204030204" pitchFamily="49" charset="0"/>
                <a:cs typeface="Consolas" panose="020B0609020204030204" pitchFamily="49" charset="0"/>
              </a:rPr>
              <a:t>Phân tích đối </a:t>
            </a:r>
            <a:r>
              <a:rPr lang="vi-VN" smtClean="0">
                <a:latin typeface="Consolas" panose="020B0609020204030204" pitchFamily="49" charset="0"/>
                <a:cs typeface="Consolas" panose="020B0609020204030204" pitchFamily="49" charset="0"/>
              </a:rPr>
              <a:t>thủ</a:t>
            </a:r>
            <a:endParaRPr lang="en-US" smtClean="0">
              <a:latin typeface="Consolas" panose="020B0609020204030204" pitchFamily="49" charset="0"/>
              <a:cs typeface="Consolas" panose="020B0609020204030204" pitchFamily="49" charset="0"/>
            </a:endParaRPr>
          </a:p>
          <a:p>
            <a:pPr lvl="1"/>
            <a:r>
              <a:rPr lang="vi-VN">
                <a:latin typeface="Consolas" panose="020B0609020204030204" pitchFamily="49" charset="0"/>
                <a:cs typeface="Consolas" panose="020B0609020204030204" pitchFamily="49" charset="0"/>
              </a:rPr>
              <a:t>Vấn đề không </a:t>
            </a:r>
            <a:r>
              <a:rPr lang="vi-VN" smtClean="0">
                <a:latin typeface="Consolas" panose="020B0609020204030204" pitchFamily="49" charset="0"/>
                <a:cs typeface="Consolas" panose="020B0609020204030204" pitchFamily="49" charset="0"/>
              </a:rPr>
              <a:t>gian</a:t>
            </a:r>
            <a:endParaRPr lang="en-US" smtClean="0">
              <a:latin typeface="Consolas" panose="020B0609020204030204" pitchFamily="49" charset="0"/>
              <a:cs typeface="Consolas" panose="020B0609020204030204" pitchFamily="49" charset="0"/>
            </a:endParaRPr>
          </a:p>
          <a:p>
            <a:pPr lvl="1"/>
            <a:r>
              <a:rPr lang="vi-VN">
                <a:latin typeface="Consolas" panose="020B0609020204030204" pitchFamily="49" charset="0"/>
                <a:cs typeface="Consolas" panose="020B0609020204030204" pitchFamily="49" charset="0"/>
              </a:rPr>
              <a:t>Quản lý tài </a:t>
            </a:r>
            <a:r>
              <a:rPr lang="vi-VN" smtClean="0">
                <a:latin typeface="Consolas" panose="020B0609020204030204" pitchFamily="49" charset="0"/>
                <a:cs typeface="Consolas" panose="020B0609020204030204" pitchFamily="49" charset="0"/>
              </a:rPr>
              <a:t>nguyên</a:t>
            </a:r>
            <a:endParaRPr lang="en-US" smtClean="0">
              <a:latin typeface="Consolas" panose="020B0609020204030204" pitchFamily="49" charset="0"/>
              <a:cs typeface="Consolas" panose="020B0609020204030204" pitchFamily="49" charset="0"/>
            </a:endParaRPr>
          </a:p>
          <a:p>
            <a:pPr lvl="1"/>
            <a:r>
              <a:rPr lang="vi-VN">
                <a:latin typeface="Consolas" panose="020B0609020204030204" pitchFamily="49" charset="0"/>
                <a:cs typeface="Consolas" panose="020B0609020204030204" pitchFamily="49" charset="0"/>
              </a:rPr>
              <a:t>Cộng </a:t>
            </a:r>
            <a:r>
              <a:rPr lang="vi-VN" smtClean="0">
                <a:latin typeface="Consolas" panose="020B0609020204030204" pitchFamily="49" charset="0"/>
                <a:cs typeface="Consolas" panose="020B0609020204030204" pitchFamily="49" charset="0"/>
              </a:rPr>
              <a:t>tác</a:t>
            </a:r>
            <a:endParaRPr lang="en-US" smtClean="0">
              <a:latin typeface="Consolas" panose="020B0609020204030204" pitchFamily="49" charset="0"/>
              <a:cs typeface="Consolas" panose="020B0609020204030204" pitchFamily="49" charset="0"/>
            </a:endParaRPr>
          </a:p>
          <a:p>
            <a:pPr lvl="1"/>
            <a:r>
              <a:rPr lang="vi-VN">
                <a:latin typeface="Consolas" panose="020B0609020204030204" pitchFamily="49" charset="0"/>
                <a:cs typeface="Consolas" panose="020B0609020204030204" pitchFamily="49" charset="0"/>
              </a:rPr>
              <a:t>Tìm </a:t>
            </a:r>
            <a:r>
              <a:rPr lang="vi-VN" smtClean="0">
                <a:latin typeface="Consolas" panose="020B0609020204030204" pitchFamily="49" charset="0"/>
                <a:cs typeface="Consolas" panose="020B0609020204030204" pitchFamily="49" charset="0"/>
              </a:rPr>
              <a:t>đường</a:t>
            </a:r>
            <a:endParaRPr lang="en-US" smtClean="0">
              <a:latin typeface="Consolas" panose="020B0609020204030204" pitchFamily="49" charset="0"/>
              <a:cs typeface="Consolas" panose="020B0609020204030204" pitchFamily="49" charset="0"/>
            </a:endParaRPr>
          </a:p>
          <a:p>
            <a:pPr lvl="1"/>
            <a:r>
              <a:rPr lang="vi-VN">
                <a:latin typeface="Consolas" panose="020B0609020204030204" pitchFamily="49" charset="0"/>
                <a:cs typeface="Consolas" panose="020B0609020204030204" pitchFamily="49" charset="0"/>
              </a:rPr>
              <a:t>Xây dựng tự động các thành phần game</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Phân tích vấn đề</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9</a:t>
            </a:fld>
            <a:endParaRPr lang="en-US"/>
          </a:p>
        </p:txBody>
      </p:sp>
    </p:spTree>
    <p:extLst>
      <p:ext uri="{BB962C8B-B14F-4D97-AF65-F5344CB8AC3E}">
        <p14:creationId xmlns:p14="http://schemas.microsoft.com/office/powerpoint/2010/main" val="12082761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mtClean="0">
                <a:latin typeface="Consolas" panose="020B0609020204030204" pitchFamily="49" charset="0"/>
                <a:cs typeface="Consolas" panose="020B0609020204030204" pitchFamily="49" charset="0"/>
              </a:rPr>
              <a:t>CÁC KHÓ KHĂN SẼ GẶP PHẢI TRONG QUÁ TRÌNH THỰC HIỆN</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lstStyle/>
          <a:p>
            <a:r>
              <a:rPr lang="vi-VN">
                <a:latin typeface="Consolas" panose="020B0609020204030204" pitchFamily="49" charset="0"/>
                <a:cs typeface="Consolas" panose="020B0609020204030204" pitchFamily="49" charset="0"/>
              </a:rPr>
              <a:t>Vấn đề hiệu suất</a:t>
            </a:r>
            <a:endParaRPr lang="en-US">
              <a:latin typeface="Consolas" panose="020B0609020204030204" pitchFamily="49" charset="0"/>
              <a:cs typeface="Consolas" panose="020B0609020204030204" pitchFamily="49" charset="0"/>
            </a:endParaRPr>
          </a:p>
          <a:p>
            <a:r>
              <a:rPr lang="vi-VN">
                <a:latin typeface="Consolas" panose="020B0609020204030204" pitchFamily="49" charset="0"/>
                <a:cs typeface="Consolas" panose="020B0609020204030204" pitchFamily="49" charset="0"/>
              </a:rPr>
              <a:t>Resource cho </a:t>
            </a:r>
            <a:r>
              <a:rPr lang="vi-VN" smtClean="0">
                <a:latin typeface="Consolas" panose="020B0609020204030204" pitchFamily="49" charset="0"/>
                <a:cs typeface="Consolas" panose="020B0609020204030204" pitchFamily="49" charset="0"/>
              </a:rPr>
              <a:t>game</a:t>
            </a:r>
            <a:endParaRPr lang="en-US" smtClean="0">
              <a:latin typeface="Consolas" panose="020B0609020204030204" pitchFamily="49" charset="0"/>
              <a:cs typeface="Consolas" panose="020B0609020204030204" pitchFamily="49" charset="0"/>
            </a:endParaRPr>
          </a:p>
          <a:p>
            <a:r>
              <a:rPr lang="vi-VN">
                <a:latin typeface="Consolas" panose="020B0609020204030204" pitchFamily="49" charset="0"/>
                <a:cs typeface="Consolas" panose="020B0609020204030204" pitchFamily="49" charset="0"/>
              </a:rPr>
              <a:t>AI trong </a:t>
            </a:r>
            <a:r>
              <a:rPr lang="vi-VN" smtClean="0">
                <a:latin typeface="Consolas" panose="020B0609020204030204" pitchFamily="49" charset="0"/>
                <a:cs typeface="Consolas" panose="020B0609020204030204" pitchFamily="49" charset="0"/>
              </a:rPr>
              <a:t>game</a:t>
            </a:r>
            <a:r>
              <a:rPr lang="en-US" smtClean="0">
                <a:latin typeface="Consolas" panose="020B0609020204030204" pitchFamily="49" charset="0"/>
                <a:cs typeface="Consolas" panose="020B0609020204030204" pitchFamily="49" charset="0"/>
              </a:rPr>
              <a:t> [3]</a:t>
            </a:r>
          </a:p>
          <a:p>
            <a:pPr lvl="1"/>
            <a:r>
              <a:rPr lang="vi-VN" i="1">
                <a:latin typeface="Consolas" panose="020B0609020204030204" pitchFamily="49" charset="0"/>
                <a:cs typeface="Consolas" panose="020B0609020204030204" pitchFamily="49" charset="0"/>
              </a:rPr>
              <a:t>Tài nguyên có giới </a:t>
            </a:r>
            <a:r>
              <a:rPr lang="vi-VN" i="1" smtClean="0">
                <a:latin typeface="Consolas" panose="020B0609020204030204" pitchFamily="49" charset="0"/>
                <a:cs typeface="Consolas" panose="020B0609020204030204" pitchFamily="49" charset="0"/>
              </a:rPr>
              <a:t>hạ</a:t>
            </a:r>
            <a:r>
              <a:rPr lang="en-US" i="1" smtClean="0">
                <a:latin typeface="Consolas" panose="020B0609020204030204" pitchFamily="49" charset="0"/>
                <a:cs typeface="Consolas" panose="020B0609020204030204" pitchFamily="49" charset="0"/>
              </a:rPr>
              <a:t>n</a:t>
            </a:r>
          </a:p>
          <a:p>
            <a:pPr lvl="1"/>
            <a:r>
              <a:rPr lang="vi-VN" i="1">
                <a:latin typeface="Consolas" panose="020B0609020204030204" pitchFamily="49" charset="0"/>
                <a:cs typeface="Consolas" panose="020B0609020204030204" pitchFamily="49" charset="0"/>
              </a:rPr>
              <a:t>Quá nhiều lựa </a:t>
            </a:r>
            <a:r>
              <a:rPr lang="vi-VN" i="1" smtClean="0">
                <a:latin typeface="Consolas" panose="020B0609020204030204" pitchFamily="49" charset="0"/>
                <a:cs typeface="Consolas" panose="020B0609020204030204" pitchFamily="49" charset="0"/>
              </a:rPr>
              <a:t>chọn</a:t>
            </a:r>
            <a:endParaRPr lang="en-US" i="1" smtClean="0">
              <a:latin typeface="Consolas" panose="020B0609020204030204" pitchFamily="49" charset="0"/>
              <a:cs typeface="Consolas" panose="020B0609020204030204" pitchFamily="49" charset="0"/>
            </a:endParaRPr>
          </a:p>
          <a:p>
            <a:pPr lvl="1"/>
            <a:r>
              <a:rPr lang="vi-VN" i="1">
                <a:latin typeface="Consolas" panose="020B0609020204030204" pitchFamily="49" charset="0"/>
                <a:cs typeface="Consolas" panose="020B0609020204030204" pitchFamily="49" charset="0"/>
              </a:rPr>
              <a:t>Số lượng cần </a:t>
            </a:r>
            <a:r>
              <a:rPr lang="vi-VN" i="1" smtClean="0">
                <a:latin typeface="Consolas" panose="020B0609020204030204" pitchFamily="49" charset="0"/>
                <a:cs typeface="Consolas" panose="020B0609020204030204" pitchFamily="49" charset="0"/>
              </a:rPr>
              <a:t>tạo</a:t>
            </a:r>
            <a:endParaRPr lang="en-US" i="1" smtClean="0">
              <a:latin typeface="Consolas" panose="020B0609020204030204" pitchFamily="49" charset="0"/>
              <a:cs typeface="Consolas" panose="020B0609020204030204" pitchFamily="49" charset="0"/>
            </a:endParaRPr>
          </a:p>
          <a:p>
            <a:pPr lvl="1"/>
            <a:r>
              <a:rPr lang="vi-VN" i="1">
                <a:latin typeface="Consolas" panose="020B0609020204030204" pitchFamily="49" charset="0"/>
                <a:cs typeface="Consolas" panose="020B0609020204030204" pitchFamily="49" charset="0"/>
              </a:rPr>
              <a:t>Khó quyết </a:t>
            </a:r>
            <a:r>
              <a:rPr lang="vi-VN" i="1" smtClean="0">
                <a:latin typeface="Consolas" panose="020B0609020204030204" pitchFamily="49" charset="0"/>
                <a:cs typeface="Consolas" panose="020B0609020204030204" pitchFamily="49" charset="0"/>
              </a:rPr>
              <a:t>định</a:t>
            </a:r>
            <a:endParaRPr lang="en-US" i="1" smtClean="0">
              <a:latin typeface="Consolas" panose="020B0609020204030204" pitchFamily="49" charset="0"/>
              <a:cs typeface="Consolas" panose="020B0609020204030204" pitchFamily="49" charset="0"/>
            </a:endParaRPr>
          </a:p>
          <a:p>
            <a:pPr lvl="1"/>
            <a:r>
              <a:rPr lang="vi-VN" i="1">
                <a:latin typeface="Consolas" panose="020B0609020204030204" pitchFamily="49" charset="0"/>
                <a:cs typeface="Consolas" panose="020B0609020204030204" pitchFamily="49" charset="0"/>
              </a:rPr>
              <a:t>Ràng buộc giữa các lựa </a:t>
            </a:r>
            <a:r>
              <a:rPr lang="vi-VN" i="1" smtClean="0">
                <a:latin typeface="Consolas" panose="020B0609020204030204" pitchFamily="49" charset="0"/>
                <a:cs typeface="Consolas" panose="020B0609020204030204" pitchFamily="49" charset="0"/>
              </a:rPr>
              <a:t>chọn</a:t>
            </a:r>
            <a:endParaRPr lang="en-US" i="1" smtClean="0">
              <a:latin typeface="Consolas" panose="020B0609020204030204" pitchFamily="49" charset="0"/>
              <a:cs typeface="Consolas" panose="020B0609020204030204" pitchFamily="49" charset="0"/>
            </a:endParaRPr>
          </a:p>
          <a:p>
            <a:pPr lvl="1"/>
            <a:r>
              <a:rPr lang="vi-VN" i="1">
                <a:latin typeface="Consolas" panose="020B0609020204030204" pitchFamily="49" charset="0"/>
                <a:cs typeface="Consolas" panose="020B0609020204030204" pitchFamily="49" charset="0"/>
              </a:rPr>
              <a:t>Thời </a:t>
            </a:r>
            <a:r>
              <a:rPr lang="vi-VN" i="1" smtClean="0">
                <a:latin typeface="Consolas" panose="020B0609020204030204" pitchFamily="49" charset="0"/>
                <a:cs typeface="Consolas" panose="020B0609020204030204" pitchFamily="49" charset="0"/>
              </a:rPr>
              <a:t>gian</a:t>
            </a:r>
            <a:endParaRPr lang="en-US" i="1" smtClean="0">
              <a:latin typeface="Consolas" panose="020B0609020204030204" pitchFamily="49" charset="0"/>
              <a:cs typeface="Consolas" panose="020B0609020204030204" pitchFamily="49" charset="0"/>
            </a:endParaRPr>
          </a:p>
          <a:p>
            <a:pPr lvl="1"/>
            <a:r>
              <a:rPr lang="vi-VN" i="1">
                <a:latin typeface="Consolas" panose="020B0609020204030204" pitchFamily="49" charset="0"/>
                <a:cs typeface="Consolas" panose="020B0609020204030204" pitchFamily="49" charset="0"/>
              </a:rPr>
              <a:t>Hoàn cảnh</a:t>
            </a:r>
            <a:endParaRPr lang="en-US">
              <a:latin typeface="Consolas" panose="020B0609020204030204" pitchFamily="49" charset="0"/>
              <a:cs typeface="Consolas" panose="020B0609020204030204" pitchFamily="49" charset="0"/>
            </a:endParaRPr>
          </a:p>
          <a:p>
            <a:endParaRPr lang="en-US"/>
          </a:p>
        </p:txBody>
      </p:sp>
      <p:sp>
        <p:nvSpPr>
          <p:cNvPr id="4" name="Footer Placeholder 3"/>
          <p:cNvSpPr>
            <a:spLocks noGrp="1"/>
          </p:cNvSpPr>
          <p:nvPr>
            <p:ph type="ftr" sz="quarter" idx="11"/>
          </p:nvPr>
        </p:nvSpPr>
        <p:spPr/>
        <p:txBody>
          <a:bodyPr/>
          <a:lstStyle/>
          <a:p>
            <a:r>
              <a:rPr lang="en-US" smtClean="0"/>
              <a:t>Phân tích vấn đề</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10</a:t>
            </a:fld>
            <a:endParaRPr lang="en-US"/>
          </a:p>
        </p:txBody>
      </p:sp>
    </p:spTree>
    <p:extLst>
      <p:ext uri="{BB962C8B-B14F-4D97-AF65-F5344CB8AC3E}">
        <p14:creationId xmlns:p14="http://schemas.microsoft.com/office/powerpoint/2010/main" val="13957152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LÝ THUYẾT ÁP DỤNG</a:t>
            </a:r>
            <a:endParaRPr lang="en-US"/>
          </a:p>
        </p:txBody>
      </p:sp>
      <p:sp>
        <p:nvSpPr>
          <p:cNvPr id="3" name="Content Placeholder 2"/>
          <p:cNvSpPr>
            <a:spLocks noGrp="1"/>
          </p:cNvSpPr>
          <p:nvPr>
            <p:ph idx="1"/>
          </p:nvPr>
        </p:nvSpPr>
        <p:spPr/>
        <p:txBody>
          <a:bodyPr/>
          <a:lstStyle/>
          <a:p>
            <a:r>
              <a:rPr lang="en-US">
                <a:latin typeface="+mj-lt"/>
              </a:rPr>
              <a:t>Finite-</a:t>
            </a:r>
            <a:r>
              <a:rPr lang="vi-VN">
                <a:latin typeface="Consolas" panose="020B0609020204030204" pitchFamily="49" charset="0"/>
                <a:cs typeface="Consolas" panose="020B0609020204030204" pitchFamily="49" charset="0"/>
              </a:rPr>
              <a:t>state machine</a:t>
            </a:r>
            <a:r>
              <a:rPr lang="en-US">
                <a:latin typeface="Consolas" panose="020B0609020204030204" pitchFamily="49" charset="0"/>
                <a:cs typeface="Consolas" panose="020B0609020204030204" pitchFamily="49" charset="0"/>
              </a:rPr>
              <a:t> (FSM</a:t>
            </a:r>
            <a:r>
              <a:rPr lang="en-US" smtClean="0">
                <a:latin typeface="Consolas" panose="020B0609020204030204" pitchFamily="49" charset="0"/>
                <a:cs typeface="Consolas" panose="020B0609020204030204" pitchFamily="49" charset="0"/>
              </a:rPr>
              <a:t>)</a:t>
            </a:r>
          </a:p>
          <a:p>
            <a:r>
              <a:rPr lang="vi-VN">
                <a:latin typeface="Consolas" panose="020B0609020204030204" pitchFamily="49" charset="0"/>
                <a:cs typeface="Consolas" panose="020B0609020204030204" pitchFamily="49" charset="0"/>
              </a:rPr>
              <a:t>Potential field</a:t>
            </a:r>
            <a:endParaRPr lang="en-US">
              <a:latin typeface="Consolas" panose="020B0609020204030204" pitchFamily="49" charset="0"/>
              <a:cs typeface="Consolas" panose="020B0609020204030204" pitchFamily="49" charset="0"/>
            </a:endParaRPr>
          </a:p>
          <a:p>
            <a:r>
              <a:rPr lang="vi-VN">
                <a:latin typeface="Consolas" panose="020B0609020204030204" pitchFamily="49" charset="0"/>
                <a:cs typeface="Consolas" panose="020B0609020204030204" pitchFamily="49" charset="0"/>
              </a:rPr>
              <a:t>Fuzzy logic</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Cơ sở lý thuyết và công nghệ</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11</a:t>
            </a:fld>
            <a:endParaRPr lang="en-US"/>
          </a:p>
        </p:txBody>
      </p:sp>
    </p:spTree>
    <p:extLst>
      <p:ext uri="{BB962C8B-B14F-4D97-AF65-F5344CB8AC3E}">
        <p14:creationId xmlns:p14="http://schemas.microsoft.com/office/powerpoint/2010/main" val="887489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CÔNG NGHỆ ÁP DỤNG</a:t>
            </a:r>
            <a:endParaRPr lang="en-US"/>
          </a:p>
        </p:txBody>
      </p:sp>
      <p:sp>
        <p:nvSpPr>
          <p:cNvPr id="3" name="Content Placeholder 2"/>
          <p:cNvSpPr>
            <a:spLocks noGrp="1"/>
          </p:cNvSpPr>
          <p:nvPr>
            <p:ph idx="1"/>
          </p:nvPr>
        </p:nvSpPr>
        <p:spPr/>
        <p:txBody>
          <a:bodyPr/>
          <a:lstStyle/>
          <a:p>
            <a:r>
              <a:rPr lang="vi-VN">
                <a:latin typeface="Consolas" panose="020B0609020204030204" pitchFamily="49" charset="0"/>
                <a:cs typeface="Consolas" panose="020B0609020204030204" pitchFamily="49" charset="0"/>
              </a:rPr>
              <a:t>Javasript ES6</a:t>
            </a:r>
            <a:endParaRPr lang="en-US">
              <a:latin typeface="Consolas" panose="020B0609020204030204" pitchFamily="49" charset="0"/>
              <a:cs typeface="Consolas" panose="020B0609020204030204" pitchFamily="49" charset="0"/>
            </a:endParaRPr>
          </a:p>
          <a:p>
            <a:r>
              <a:rPr lang="vi-VN">
                <a:latin typeface="Consolas" panose="020B0609020204030204" pitchFamily="49" charset="0"/>
                <a:cs typeface="Consolas" panose="020B0609020204030204" pitchFamily="49" charset="0"/>
              </a:rPr>
              <a:t>Pixi.js</a:t>
            </a:r>
            <a:endParaRPr lang="en-US">
              <a:latin typeface="Consolas" panose="020B0609020204030204" pitchFamily="49" charset="0"/>
              <a:cs typeface="Consolas" panose="020B0609020204030204" pitchFamily="49" charset="0"/>
            </a:endParaRPr>
          </a:p>
          <a:p>
            <a:r>
              <a:rPr lang="vi-VN">
                <a:latin typeface="Consolas" panose="020B0609020204030204" pitchFamily="49" charset="0"/>
                <a:cs typeface="Consolas" panose="020B0609020204030204" pitchFamily="49" charset="0"/>
              </a:rPr>
              <a:t>Shading </a:t>
            </a:r>
            <a:r>
              <a:rPr lang="vi-VN" smtClean="0">
                <a:latin typeface="Consolas" panose="020B0609020204030204" pitchFamily="49" charset="0"/>
                <a:cs typeface="Consolas" panose="020B0609020204030204" pitchFamily="49" charset="0"/>
              </a:rPr>
              <a:t>language</a:t>
            </a:r>
            <a:endParaRPr lang="en-US" smtClean="0">
              <a:latin typeface="Consolas" panose="020B0609020204030204" pitchFamily="49" charset="0"/>
              <a:cs typeface="Consolas" panose="020B0609020204030204" pitchFamily="49" charset="0"/>
            </a:endParaRPr>
          </a:p>
          <a:p>
            <a:r>
              <a:rPr lang="vi-VN">
                <a:latin typeface="Consolas" panose="020B0609020204030204" pitchFamily="49" charset="0"/>
                <a:cs typeface="Consolas" panose="020B0609020204030204" pitchFamily="49" charset="0"/>
              </a:rPr>
              <a:t>Particle system</a:t>
            </a:r>
            <a:endParaRPr lang="en-US">
              <a:latin typeface="Consolas" panose="020B0609020204030204" pitchFamily="49" charset="0"/>
              <a:cs typeface="Consolas" panose="020B0609020204030204" pitchFamily="49" charset="0"/>
            </a:endParaRPr>
          </a:p>
          <a:p>
            <a:r>
              <a:rPr lang="vi-VN">
                <a:latin typeface="Consolas" panose="020B0609020204030204" pitchFamily="49" charset="0"/>
                <a:cs typeface="Consolas" panose="020B0609020204030204" pitchFamily="49" charset="0"/>
              </a:rPr>
              <a:t>Web worker</a:t>
            </a:r>
            <a:endParaRPr lang="en-US">
              <a:latin typeface="Consolas" panose="020B0609020204030204" pitchFamily="49" charset="0"/>
              <a:cs typeface="Consolas" panose="020B0609020204030204" pitchFamily="49" charset="0"/>
            </a:endParaRPr>
          </a:p>
          <a:p>
            <a:r>
              <a:rPr lang="vi-VN">
                <a:latin typeface="Consolas" panose="020B0609020204030204" pitchFamily="49" charset="0"/>
                <a:cs typeface="Consolas" panose="020B0609020204030204" pitchFamily="49" charset="0"/>
              </a:rPr>
              <a:t>Sound.js</a:t>
            </a:r>
            <a:endParaRPr lang="en-US">
              <a:latin typeface="Consolas" panose="020B0609020204030204" pitchFamily="49" charset="0"/>
              <a:cs typeface="Consolas" panose="020B0609020204030204" pitchFamily="49" charset="0"/>
            </a:endParaRPr>
          </a:p>
          <a:p>
            <a:endParaRPr lang="en-US"/>
          </a:p>
        </p:txBody>
      </p:sp>
      <p:sp>
        <p:nvSpPr>
          <p:cNvPr id="4" name="Footer Placeholder 3"/>
          <p:cNvSpPr>
            <a:spLocks noGrp="1"/>
          </p:cNvSpPr>
          <p:nvPr>
            <p:ph type="ftr" sz="quarter" idx="11"/>
          </p:nvPr>
        </p:nvSpPr>
        <p:spPr/>
        <p:txBody>
          <a:bodyPr/>
          <a:lstStyle/>
          <a:p>
            <a:r>
              <a:rPr lang="en-US"/>
              <a:t>Cơ sở lý thuyết và công nghệ</a:t>
            </a:r>
          </a:p>
        </p:txBody>
      </p:sp>
      <p:sp>
        <p:nvSpPr>
          <p:cNvPr id="5" name="Slide Number Placeholder 4"/>
          <p:cNvSpPr>
            <a:spLocks noGrp="1"/>
          </p:cNvSpPr>
          <p:nvPr>
            <p:ph type="sldNum" sz="quarter" idx="12"/>
          </p:nvPr>
        </p:nvSpPr>
        <p:spPr/>
        <p:txBody>
          <a:bodyPr/>
          <a:lstStyle/>
          <a:p>
            <a:fld id="{E31375A4-56A4-47D6-9801-1991572033F7}" type="slidenum">
              <a:rPr lang="en-US" smtClean="0"/>
              <a:t>12</a:t>
            </a:fld>
            <a:endParaRPr lang="en-US"/>
          </a:p>
        </p:txBody>
      </p:sp>
    </p:spTree>
    <p:extLst>
      <p:ext uri="{BB962C8B-B14F-4D97-AF65-F5344CB8AC3E}">
        <p14:creationId xmlns:p14="http://schemas.microsoft.com/office/powerpoint/2010/main" val="20939145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GIỚI THIỆU </a:t>
            </a:r>
            <a:r>
              <a:rPr lang="vi-VN" smtClean="0">
                <a:latin typeface="Consolas" panose="020B0609020204030204" pitchFamily="49" charset="0"/>
                <a:cs typeface="Consolas" panose="020B0609020204030204" pitchFamily="49" charset="0"/>
              </a:rPr>
              <a:t>GAME</a:t>
            </a:r>
            <a:r>
              <a:rPr lang="en-US" smtClean="0"/>
              <a:t>, </a:t>
            </a:r>
            <a:r>
              <a:rPr lang="vi-VN" smtClean="0">
                <a:latin typeface="Consolas" panose="020B0609020204030204" pitchFamily="49" charset="0"/>
                <a:cs typeface="Consolas" panose="020B0609020204030204" pitchFamily="49" charset="0"/>
              </a:rPr>
              <a:t>LUẬT</a:t>
            </a:r>
            <a:r>
              <a:rPr lang="en-US" smtClean="0"/>
              <a:t> CHƠI</a:t>
            </a:r>
            <a:endParaRPr lang="en-US"/>
          </a:p>
        </p:txBody>
      </p:sp>
      <p:sp>
        <p:nvSpPr>
          <p:cNvPr id="3" name="Content Placeholder 2"/>
          <p:cNvSpPr>
            <a:spLocks noGrp="1"/>
          </p:cNvSpPr>
          <p:nvPr>
            <p:ph idx="1"/>
          </p:nvPr>
        </p:nvSpPr>
        <p:spPr/>
        <p:txBody>
          <a:bodyPr/>
          <a:lstStyle/>
          <a:p>
            <a:r>
              <a:rPr lang="vi-VN">
                <a:latin typeface="Consolas" panose="020B0609020204030204" pitchFamily="49" charset="0"/>
                <a:cs typeface="Consolas" panose="020B0609020204030204" pitchFamily="49" charset="0"/>
              </a:rPr>
              <a:t>Game được </a:t>
            </a:r>
            <a:r>
              <a:rPr lang="en-US">
                <a:latin typeface="Consolas" panose="020B0609020204030204" pitchFamily="49" charset="0"/>
                <a:cs typeface="Consolas" panose="020B0609020204030204" pitchFamily="49" charset="0"/>
              </a:rPr>
              <a:t>nhóm</a:t>
            </a:r>
            <a:r>
              <a:rPr lang="vi-VN">
                <a:latin typeface="Consolas" panose="020B0609020204030204" pitchFamily="49" charset="0"/>
                <a:cs typeface="Consolas" panose="020B0609020204030204" pitchFamily="49" charset="0"/>
              </a:rPr>
              <a:t> xây dựng dựa trên Game Red Alert 2</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Ý tưởng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13</a:t>
            </a:fld>
            <a:endParaRPr lang="en-US"/>
          </a:p>
        </p:txBody>
      </p:sp>
    </p:spTree>
    <p:extLst>
      <p:ext uri="{BB962C8B-B14F-4D97-AF65-F5344CB8AC3E}">
        <p14:creationId xmlns:p14="http://schemas.microsoft.com/office/powerpoint/2010/main" val="36847100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CÁCH CHƠI</a:t>
            </a:r>
            <a:endParaRPr lang="en-US"/>
          </a:p>
        </p:txBody>
      </p:sp>
      <p:sp>
        <p:nvSpPr>
          <p:cNvPr id="3" name="Content Placeholder 2"/>
          <p:cNvSpPr>
            <a:spLocks noGrp="1"/>
          </p:cNvSpPr>
          <p:nvPr>
            <p:ph idx="1"/>
          </p:nvPr>
        </p:nvSpPr>
        <p:spPr/>
        <p:txBody>
          <a:bodyPr/>
          <a:lstStyle/>
          <a:p>
            <a:r>
              <a:rPr lang="vi-VN">
                <a:latin typeface="Consolas" panose="020B0609020204030204" pitchFamily="49" charset="0"/>
                <a:cs typeface="Consolas" panose="020B0609020204030204" pitchFamily="49" charset="0"/>
              </a:rPr>
              <a:t>Mọi khía cạnh của Red Alert đều dựa trên việc thu </a:t>
            </a:r>
            <a:r>
              <a:rPr lang="vi-VN" smtClean="0">
                <a:latin typeface="Consolas" panose="020B0609020204030204" pitchFamily="49" charset="0"/>
                <a:cs typeface="Consolas" panose="020B0609020204030204" pitchFamily="49" charset="0"/>
              </a:rPr>
              <a:t>thập</a:t>
            </a:r>
            <a:r>
              <a:rPr lang="vi-VN">
                <a:latin typeface="Consolas" panose="020B0609020204030204" pitchFamily="49" charset="0"/>
                <a:cs typeface="Consolas" panose="020B0609020204030204" pitchFamily="49" charset="0"/>
              </a:rPr>
              <a:t> </a:t>
            </a:r>
            <a:r>
              <a:rPr lang="vi-VN" smtClean="0">
                <a:latin typeface="Consolas" panose="020B0609020204030204" pitchFamily="49" charset="0"/>
                <a:cs typeface="Consolas" panose="020B0609020204030204" pitchFamily="49" charset="0"/>
              </a:rPr>
              <a:t>tiền</a:t>
            </a:r>
            <a:endParaRPr lang="en-US" smtClean="0">
              <a:latin typeface="Consolas" panose="020B0609020204030204" pitchFamily="49" charset="0"/>
              <a:cs typeface="Consolas" panose="020B0609020204030204" pitchFamily="49" charset="0"/>
            </a:endParaRPr>
          </a:p>
          <a:p>
            <a:r>
              <a:rPr lang="vi-VN">
                <a:latin typeface="Consolas" panose="020B0609020204030204" pitchFamily="49" charset="0"/>
                <a:cs typeface="Consolas" panose="020B0609020204030204" pitchFamily="49" charset="0"/>
              </a:rPr>
              <a:t>Có năm loại "nhà xây dựng" là: Construction Yard (dành cho các tòa nhà); Barracks (các đơn vị bộ binh); War Factory (đơn vị cơ giới); Naval Shipyard (các đơn vị hải quân), và chỉ có ở Đồng Minh là Air Force Command (Harrier hoặc Black Eagles). </a:t>
            </a:r>
            <a:endParaRPr lang="en-US" smtClean="0">
              <a:latin typeface="Consolas" panose="020B0609020204030204" pitchFamily="49" charset="0"/>
              <a:cs typeface="Consolas" panose="020B0609020204030204" pitchFamily="49" charset="0"/>
            </a:endParaRPr>
          </a:p>
          <a:p>
            <a:r>
              <a:rPr lang="vi-VN">
                <a:latin typeface="Consolas" panose="020B0609020204030204" pitchFamily="49" charset="0"/>
                <a:cs typeface="Consolas" panose="020B0609020204030204" pitchFamily="49" charset="0"/>
              </a:rPr>
              <a:t>Các quốc gia khác nhau đều là thành viên của một trong hai phe Xô Viết hoặc Đồng Minh. Các phe có tòa nhà tương tự về cơ bản nhưng lại có các phần khác nhau của các tòa nhà cao cấp và công trình phòng thủ. Ngoài ra, mỗi quốc gia có một khả năng đặc biệt thường là một đơn vị quân duy </a:t>
            </a:r>
            <a:r>
              <a:rPr lang="vi-VN" smtClean="0">
                <a:latin typeface="Consolas" panose="020B0609020204030204" pitchFamily="49" charset="0"/>
                <a:cs typeface="Consolas" panose="020B0609020204030204" pitchFamily="49" charset="0"/>
              </a:rPr>
              <a:t>nhất</a:t>
            </a:r>
            <a:r>
              <a:rPr lang="en-US" smtClean="0">
                <a:latin typeface="Consolas" panose="020B0609020204030204" pitchFamily="49" charset="0"/>
                <a:cs typeface="Consolas" panose="020B0609020204030204" pitchFamily="49" charset="0"/>
              </a:rPr>
              <a:t>.</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Ý tưởng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14</a:t>
            </a:fld>
            <a:endParaRPr lang="en-US"/>
          </a:p>
        </p:txBody>
      </p:sp>
    </p:spTree>
    <p:extLst>
      <p:ext uri="{BB962C8B-B14F-4D97-AF65-F5344CB8AC3E}">
        <p14:creationId xmlns:p14="http://schemas.microsoft.com/office/powerpoint/2010/main" val="25938870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CÁC ĐỐI TƯỢNG</a:t>
            </a:r>
            <a:r>
              <a:rPr lang="en-US" smtClean="0">
                <a:latin typeface="Consolas" panose="020B0609020204030204" pitchFamily="49" charset="0"/>
                <a:cs typeface="Consolas" panose="020B0609020204030204" pitchFamily="49" charset="0"/>
              </a:rPr>
              <a:t> TRONG GAME</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Ý tưởng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15</a:t>
            </a:fld>
            <a:endParaRPr lang="en-US"/>
          </a:p>
        </p:txBody>
      </p:sp>
      <p:pic>
        <p:nvPicPr>
          <p:cNvPr id="22" name="Ảnh 285"/>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685800" y="1588325"/>
            <a:ext cx="2387301" cy="2057143"/>
          </a:xfrm>
          <a:prstGeom prst="rect">
            <a:avLst/>
          </a:prstGeom>
        </p:spPr>
      </p:pic>
      <p:pic>
        <p:nvPicPr>
          <p:cNvPr id="23" name="Ảnh 13" descr="C:\Users\Ngo\Downloads\New folder\game\IMG\Unit\Construction\barracks\build\img (25).png"/>
          <p:cNvPicPr/>
          <p:nvPr/>
        </p:nvPicPr>
        <p:blipFill>
          <a:blip r:embed="rId3">
            <a:extLst>
              <a:ext uri="{28A0092B-C50C-407E-A947-70E740481C1C}">
                <a14:useLocalDpi xmlns:a14="http://schemas.microsoft.com/office/drawing/2010/main" val="0"/>
              </a:ext>
            </a:extLst>
          </a:blip>
          <a:srcRect/>
          <a:stretch>
            <a:fillRect/>
          </a:stretch>
        </p:blipFill>
        <p:spPr bwMode="auto">
          <a:xfrm>
            <a:off x="2812263" y="1936305"/>
            <a:ext cx="2724785" cy="1590040"/>
          </a:xfrm>
          <a:prstGeom prst="rect">
            <a:avLst/>
          </a:prstGeom>
          <a:noFill/>
          <a:ln>
            <a:noFill/>
          </a:ln>
        </p:spPr>
      </p:pic>
      <p:pic>
        <p:nvPicPr>
          <p:cNvPr id="24" name="Ảnh 14" descr="C:\Users\Ngo\Downloads\New folder\game\IMG\Unit\Construction\factory\build\img (25).png"/>
          <p:cNvPicPr/>
          <p:nvPr/>
        </p:nvPicPr>
        <p:blipFill>
          <a:blip r:embed="rId4">
            <a:extLst>
              <a:ext uri="{28A0092B-C50C-407E-A947-70E740481C1C}">
                <a14:useLocalDpi xmlns:a14="http://schemas.microsoft.com/office/drawing/2010/main" val="0"/>
              </a:ext>
            </a:extLst>
          </a:blip>
          <a:srcRect/>
          <a:stretch>
            <a:fillRect/>
          </a:stretch>
        </p:blipFill>
        <p:spPr bwMode="auto">
          <a:xfrm>
            <a:off x="5537048" y="2002980"/>
            <a:ext cx="1752600" cy="1456690"/>
          </a:xfrm>
          <a:prstGeom prst="rect">
            <a:avLst/>
          </a:prstGeom>
          <a:noFill/>
          <a:ln>
            <a:noFill/>
          </a:ln>
        </p:spPr>
      </p:pic>
      <p:pic>
        <p:nvPicPr>
          <p:cNvPr id="25" name="Ảnh 15" descr="C:\Users\Ngo\Downloads\New folder\game\IMG\Unit\Construction\power_allied\build\img (25).png"/>
          <p:cNvPicPr/>
          <p:nvPr/>
        </p:nvPicPr>
        <p:blipFill>
          <a:blip r:embed="rId5">
            <a:extLst>
              <a:ext uri="{28A0092B-C50C-407E-A947-70E740481C1C}">
                <a14:useLocalDpi xmlns:a14="http://schemas.microsoft.com/office/drawing/2010/main" val="0"/>
              </a:ext>
            </a:extLst>
          </a:blip>
          <a:srcRect/>
          <a:stretch>
            <a:fillRect/>
          </a:stretch>
        </p:blipFill>
        <p:spPr bwMode="auto">
          <a:xfrm>
            <a:off x="1177775" y="3930298"/>
            <a:ext cx="1403350" cy="1073785"/>
          </a:xfrm>
          <a:prstGeom prst="rect">
            <a:avLst/>
          </a:prstGeom>
          <a:noFill/>
          <a:ln>
            <a:noFill/>
          </a:ln>
        </p:spPr>
      </p:pic>
      <p:pic>
        <p:nvPicPr>
          <p:cNvPr id="26" name="Ảnh 17" descr="C:\Users\Ngo\Downloads\New folder\game\IMG\Unit\Construction\refinery_allied\build\img (25).png"/>
          <p:cNvPicPr/>
          <p:nvPr/>
        </p:nvPicPr>
        <p:blipFill>
          <a:blip r:embed="rId6">
            <a:extLst>
              <a:ext uri="{28A0092B-C50C-407E-A947-70E740481C1C}">
                <a14:useLocalDpi xmlns:a14="http://schemas.microsoft.com/office/drawing/2010/main" val="0"/>
              </a:ext>
            </a:extLst>
          </a:blip>
          <a:srcRect/>
          <a:stretch>
            <a:fillRect/>
          </a:stretch>
        </p:blipFill>
        <p:spPr bwMode="auto">
          <a:xfrm>
            <a:off x="3463457" y="3621461"/>
            <a:ext cx="1422400" cy="1311275"/>
          </a:xfrm>
          <a:prstGeom prst="rect">
            <a:avLst/>
          </a:prstGeom>
          <a:noFill/>
          <a:ln>
            <a:noFill/>
          </a:ln>
        </p:spPr>
      </p:pic>
      <p:pic>
        <p:nvPicPr>
          <p:cNvPr id="27" name="Ảnh 16"/>
          <p:cNvPicPr/>
          <p:nvPr/>
        </p:nvPicPr>
        <p:blipFill>
          <a:blip r:embed="rId7">
            <a:extLst>
              <a:ext uri="{28A0092B-C50C-407E-A947-70E740481C1C}">
                <a14:useLocalDpi xmlns:a14="http://schemas.microsoft.com/office/drawing/2010/main" val="0"/>
              </a:ext>
            </a:extLst>
          </a:blip>
          <a:stretch>
            <a:fillRect/>
          </a:stretch>
        </p:blipFill>
        <p:spPr>
          <a:xfrm>
            <a:off x="6140450" y="3741487"/>
            <a:ext cx="711200" cy="1151890"/>
          </a:xfrm>
          <a:prstGeom prst="rect">
            <a:avLst/>
          </a:prstGeom>
        </p:spPr>
      </p:pic>
      <p:sp>
        <p:nvSpPr>
          <p:cNvPr id="30" name="TextBox 29"/>
          <p:cNvSpPr txBox="1"/>
          <p:nvPr/>
        </p:nvSpPr>
        <p:spPr>
          <a:xfrm>
            <a:off x="1363924" y="3597454"/>
            <a:ext cx="1031051" cy="323165"/>
          </a:xfrm>
          <a:prstGeom prst="rect">
            <a:avLst/>
          </a:prstGeom>
          <a:noFill/>
        </p:spPr>
        <p:txBody>
          <a:bodyPr wrap="none" rtlCol="0">
            <a:spAutoFit/>
          </a:bodyPr>
          <a:lstStyle/>
          <a:p>
            <a:r>
              <a:rPr lang="en-US" sz="1500" smtClean="0">
                <a:latin typeface="+mj-lt"/>
              </a:rPr>
              <a:t>Trạm bay</a:t>
            </a:r>
            <a:endParaRPr lang="en-US" sz="1500">
              <a:latin typeface="+mj-lt"/>
            </a:endParaRPr>
          </a:p>
        </p:txBody>
      </p:sp>
      <p:sp>
        <p:nvSpPr>
          <p:cNvPr id="31" name="TextBox 30"/>
          <p:cNvSpPr txBox="1"/>
          <p:nvPr/>
        </p:nvSpPr>
        <p:spPr>
          <a:xfrm>
            <a:off x="3659131" y="3617730"/>
            <a:ext cx="1031051" cy="323165"/>
          </a:xfrm>
          <a:prstGeom prst="rect">
            <a:avLst/>
          </a:prstGeom>
          <a:noFill/>
        </p:spPr>
        <p:txBody>
          <a:bodyPr wrap="none" rtlCol="0">
            <a:spAutoFit/>
          </a:bodyPr>
          <a:lstStyle/>
          <a:p>
            <a:r>
              <a:rPr lang="en-US" sz="1500" smtClean="0">
                <a:latin typeface="+mj-lt"/>
              </a:rPr>
              <a:t>Nhà lính</a:t>
            </a:r>
            <a:endParaRPr lang="en-US" sz="1500">
              <a:latin typeface="+mj-lt"/>
            </a:endParaRPr>
          </a:p>
        </p:txBody>
      </p:sp>
      <p:sp>
        <p:nvSpPr>
          <p:cNvPr id="32" name="TextBox 31"/>
          <p:cNvSpPr txBox="1"/>
          <p:nvPr/>
        </p:nvSpPr>
        <p:spPr>
          <a:xfrm>
            <a:off x="6069198" y="3579904"/>
            <a:ext cx="819455" cy="323165"/>
          </a:xfrm>
          <a:prstGeom prst="rect">
            <a:avLst/>
          </a:prstGeom>
          <a:noFill/>
        </p:spPr>
        <p:txBody>
          <a:bodyPr wrap="none" rtlCol="0">
            <a:spAutoFit/>
          </a:bodyPr>
          <a:lstStyle/>
          <a:p>
            <a:r>
              <a:rPr lang="en-US" sz="1500" smtClean="0">
                <a:latin typeface="+mj-lt"/>
              </a:rPr>
              <a:t>Nhà xe</a:t>
            </a:r>
            <a:endParaRPr lang="en-US" sz="1500">
              <a:latin typeface="+mj-lt"/>
            </a:endParaRPr>
          </a:p>
        </p:txBody>
      </p:sp>
      <p:sp>
        <p:nvSpPr>
          <p:cNvPr id="33" name="TextBox 32"/>
          <p:cNvSpPr txBox="1"/>
          <p:nvPr/>
        </p:nvSpPr>
        <p:spPr>
          <a:xfrm>
            <a:off x="1397571" y="5078396"/>
            <a:ext cx="1136850" cy="323165"/>
          </a:xfrm>
          <a:prstGeom prst="rect">
            <a:avLst/>
          </a:prstGeom>
          <a:noFill/>
        </p:spPr>
        <p:txBody>
          <a:bodyPr wrap="none" rtlCol="0">
            <a:spAutoFit/>
          </a:bodyPr>
          <a:lstStyle/>
          <a:p>
            <a:r>
              <a:rPr lang="en-US" sz="1500" smtClean="0">
                <a:latin typeface="+mj-lt"/>
              </a:rPr>
              <a:t>Máy điện </a:t>
            </a:r>
            <a:endParaRPr lang="en-US" sz="1500">
              <a:latin typeface="+mj-lt"/>
            </a:endParaRPr>
          </a:p>
        </p:txBody>
      </p:sp>
      <p:sp>
        <p:nvSpPr>
          <p:cNvPr id="34" name="TextBox 33"/>
          <p:cNvSpPr txBox="1"/>
          <p:nvPr/>
        </p:nvSpPr>
        <p:spPr>
          <a:xfrm>
            <a:off x="3659131" y="5078396"/>
            <a:ext cx="1031051" cy="323165"/>
          </a:xfrm>
          <a:prstGeom prst="rect">
            <a:avLst/>
          </a:prstGeom>
          <a:noFill/>
        </p:spPr>
        <p:txBody>
          <a:bodyPr wrap="none" rtlCol="0">
            <a:spAutoFit/>
          </a:bodyPr>
          <a:lstStyle/>
          <a:p>
            <a:r>
              <a:rPr lang="en-US" sz="1500" smtClean="0">
                <a:latin typeface="+mj-lt"/>
              </a:rPr>
              <a:t>Nhà vàng</a:t>
            </a:r>
            <a:endParaRPr lang="en-US" sz="1500">
              <a:latin typeface="+mj-lt"/>
            </a:endParaRPr>
          </a:p>
        </p:txBody>
      </p:sp>
      <p:sp>
        <p:nvSpPr>
          <p:cNvPr id="35" name="TextBox 34"/>
          <p:cNvSpPr txBox="1"/>
          <p:nvPr/>
        </p:nvSpPr>
        <p:spPr>
          <a:xfrm>
            <a:off x="5820599" y="5123439"/>
            <a:ext cx="1491114" cy="338554"/>
          </a:xfrm>
          <a:prstGeom prst="rect">
            <a:avLst/>
          </a:prstGeom>
          <a:noFill/>
        </p:spPr>
        <p:txBody>
          <a:bodyPr wrap="none" rtlCol="0">
            <a:spAutoFit/>
          </a:bodyPr>
          <a:lstStyle/>
          <a:p>
            <a:r>
              <a:rPr lang="en-US" sz="1600"/>
              <a:t>Nhà công </a:t>
            </a:r>
            <a:r>
              <a:rPr lang="en-US" sz="1600" smtClean="0"/>
              <a:t>nghệ</a:t>
            </a:r>
            <a:endParaRPr lang="en-US" sz="1600"/>
          </a:p>
        </p:txBody>
      </p:sp>
    </p:spTree>
    <p:extLst>
      <p:ext uri="{BB962C8B-B14F-4D97-AF65-F5344CB8AC3E}">
        <p14:creationId xmlns:p14="http://schemas.microsoft.com/office/powerpoint/2010/main" val="29208304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latin typeface="Consolas" panose="020B0609020204030204" pitchFamily="49" charset="0"/>
                <a:cs typeface="Consolas" panose="020B0609020204030204" pitchFamily="49" charset="0"/>
              </a:rPr>
              <a:t>CÁC ĐỐI TƯỢNG</a:t>
            </a:r>
            <a:r>
              <a:rPr lang="en-US">
                <a:latin typeface="Consolas" panose="020B0609020204030204" pitchFamily="49" charset="0"/>
                <a:cs typeface="Consolas" panose="020B0609020204030204" pitchFamily="49" charset="0"/>
              </a:rPr>
              <a:t> TRONG GAME</a:t>
            </a:r>
          </a:p>
        </p:txBody>
      </p:sp>
      <p:sp>
        <p:nvSpPr>
          <p:cNvPr id="4" name="Footer Placeholder 3"/>
          <p:cNvSpPr>
            <a:spLocks noGrp="1"/>
          </p:cNvSpPr>
          <p:nvPr>
            <p:ph type="ftr" sz="quarter" idx="11"/>
          </p:nvPr>
        </p:nvSpPr>
        <p:spPr/>
        <p:txBody>
          <a:bodyPr/>
          <a:lstStyle/>
          <a:p>
            <a:r>
              <a:rPr lang="en-US" smtClean="0"/>
              <a:t>Ý tưởng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16</a:t>
            </a:fld>
            <a:endParaRPr lang="en-US"/>
          </a:p>
        </p:txBody>
      </p:sp>
      <p:pic>
        <p:nvPicPr>
          <p:cNvPr id="12" name="Ảnh 26"/>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235093" y="1815380"/>
            <a:ext cx="2692063" cy="1879365"/>
          </a:xfrm>
          <a:prstGeom prst="rect">
            <a:avLst/>
          </a:prstGeom>
        </p:spPr>
      </p:pic>
      <p:pic>
        <p:nvPicPr>
          <p:cNvPr id="13" name="Ảnh 228"/>
          <p:cNvPicPr/>
          <p:nvPr/>
        </p:nvPicPr>
        <p:blipFill>
          <a:blip r:embed="rId3">
            <a:extLst>
              <a:ext uri="{28A0092B-C50C-407E-A947-70E740481C1C}">
                <a14:useLocalDpi xmlns:a14="http://schemas.microsoft.com/office/drawing/2010/main" val="0"/>
              </a:ext>
            </a:extLst>
          </a:blip>
          <a:stretch>
            <a:fillRect/>
          </a:stretch>
        </p:blipFill>
        <p:spPr>
          <a:xfrm>
            <a:off x="4724400" y="2184197"/>
            <a:ext cx="1776730" cy="1141730"/>
          </a:xfrm>
          <a:prstGeom prst="rect">
            <a:avLst/>
          </a:prstGeom>
        </p:spPr>
      </p:pic>
      <p:sp>
        <p:nvSpPr>
          <p:cNvPr id="14" name="TextBox 13"/>
          <p:cNvSpPr txBox="1"/>
          <p:nvPr/>
        </p:nvSpPr>
        <p:spPr>
          <a:xfrm>
            <a:off x="1550073" y="3881226"/>
            <a:ext cx="1136850" cy="323165"/>
          </a:xfrm>
          <a:prstGeom prst="rect">
            <a:avLst/>
          </a:prstGeom>
          <a:noFill/>
        </p:spPr>
        <p:txBody>
          <a:bodyPr wrap="none" rtlCol="0">
            <a:spAutoFit/>
          </a:bodyPr>
          <a:lstStyle/>
          <a:p>
            <a:r>
              <a:rPr lang="en-US" sz="1500" smtClean="0">
                <a:latin typeface="+mj-lt"/>
              </a:rPr>
              <a:t>Nhà chính</a:t>
            </a:r>
            <a:endParaRPr lang="en-US" sz="1500">
              <a:latin typeface="+mj-lt"/>
            </a:endParaRPr>
          </a:p>
        </p:txBody>
      </p:sp>
      <p:sp>
        <p:nvSpPr>
          <p:cNvPr id="15" name="TextBox 14"/>
          <p:cNvSpPr txBox="1"/>
          <p:nvPr/>
        </p:nvSpPr>
        <p:spPr>
          <a:xfrm>
            <a:off x="4953000" y="3881226"/>
            <a:ext cx="1454244" cy="323165"/>
          </a:xfrm>
          <a:prstGeom prst="rect">
            <a:avLst/>
          </a:prstGeom>
          <a:noFill/>
        </p:spPr>
        <p:txBody>
          <a:bodyPr wrap="none" rtlCol="0">
            <a:spAutoFit/>
          </a:bodyPr>
          <a:lstStyle/>
          <a:p>
            <a:r>
              <a:rPr lang="en-US" sz="1500" smtClean="0">
                <a:latin typeface="+mj-lt"/>
              </a:rPr>
              <a:t>Nhà sửa chữa</a:t>
            </a:r>
            <a:endParaRPr lang="en-US" sz="1500">
              <a:latin typeface="+mj-lt"/>
            </a:endParaRPr>
          </a:p>
        </p:txBody>
      </p:sp>
    </p:spTree>
    <p:extLst>
      <p:ext uri="{BB962C8B-B14F-4D97-AF65-F5344CB8AC3E}">
        <p14:creationId xmlns:p14="http://schemas.microsoft.com/office/powerpoint/2010/main" val="26371208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latin typeface="Consolas" panose="020B0609020204030204" pitchFamily="49" charset="0"/>
                <a:cs typeface="Consolas" panose="020B0609020204030204" pitchFamily="49" charset="0"/>
              </a:rPr>
              <a:t>CÁC ĐỐI TƯỢNG</a:t>
            </a:r>
            <a:r>
              <a:rPr lang="en-US">
                <a:latin typeface="Consolas" panose="020B0609020204030204" pitchFamily="49" charset="0"/>
                <a:cs typeface="Consolas" panose="020B0609020204030204" pitchFamily="49" charset="0"/>
              </a:rPr>
              <a:t> TRONG GAME</a:t>
            </a:r>
          </a:p>
        </p:txBody>
      </p:sp>
      <p:sp>
        <p:nvSpPr>
          <p:cNvPr id="4" name="Footer Placeholder 3"/>
          <p:cNvSpPr>
            <a:spLocks noGrp="1"/>
          </p:cNvSpPr>
          <p:nvPr>
            <p:ph type="ftr" sz="quarter" idx="11"/>
          </p:nvPr>
        </p:nvSpPr>
        <p:spPr/>
        <p:txBody>
          <a:bodyPr/>
          <a:lstStyle/>
          <a:p>
            <a:r>
              <a:rPr lang="en-US" smtClean="0"/>
              <a:t>Ý tưởng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17</a:t>
            </a:fld>
            <a:endParaRPr lang="en-US"/>
          </a:p>
        </p:txBody>
      </p:sp>
      <p:sp>
        <p:nvSpPr>
          <p:cNvPr id="14" name="TextBox 13"/>
          <p:cNvSpPr txBox="1"/>
          <p:nvPr/>
        </p:nvSpPr>
        <p:spPr>
          <a:xfrm>
            <a:off x="1597673" y="3368855"/>
            <a:ext cx="1031051" cy="323165"/>
          </a:xfrm>
          <a:prstGeom prst="rect">
            <a:avLst/>
          </a:prstGeom>
          <a:noFill/>
        </p:spPr>
        <p:txBody>
          <a:bodyPr wrap="none" rtlCol="0">
            <a:spAutoFit/>
          </a:bodyPr>
          <a:lstStyle/>
          <a:p>
            <a:r>
              <a:rPr lang="en-US" sz="1500" smtClean="0">
                <a:latin typeface="+mj-lt"/>
              </a:rPr>
              <a:t>Trụ điện</a:t>
            </a:r>
            <a:endParaRPr lang="en-US" sz="1500">
              <a:latin typeface="+mj-lt"/>
            </a:endParaRPr>
          </a:p>
        </p:txBody>
      </p:sp>
      <p:sp>
        <p:nvSpPr>
          <p:cNvPr id="15" name="TextBox 14"/>
          <p:cNvSpPr txBox="1"/>
          <p:nvPr/>
        </p:nvSpPr>
        <p:spPr>
          <a:xfrm>
            <a:off x="2916340" y="3408449"/>
            <a:ext cx="1136850" cy="323165"/>
          </a:xfrm>
          <a:prstGeom prst="rect">
            <a:avLst/>
          </a:prstGeom>
          <a:noFill/>
        </p:spPr>
        <p:txBody>
          <a:bodyPr wrap="none" rtlCol="0">
            <a:spAutoFit/>
          </a:bodyPr>
          <a:lstStyle/>
          <a:p>
            <a:r>
              <a:rPr lang="en-US" sz="1500" smtClean="0">
                <a:latin typeface="+mj-lt"/>
              </a:rPr>
              <a:t>Trụ lazer</a:t>
            </a:r>
            <a:endParaRPr lang="en-US" sz="1500">
              <a:latin typeface="+mj-lt"/>
            </a:endParaRPr>
          </a:p>
        </p:txBody>
      </p:sp>
      <p:grpSp>
        <p:nvGrpSpPr>
          <p:cNvPr id="10" name="Nhóm 259"/>
          <p:cNvGrpSpPr/>
          <p:nvPr/>
        </p:nvGrpSpPr>
        <p:grpSpPr>
          <a:xfrm>
            <a:off x="1355129" y="2225498"/>
            <a:ext cx="3935065" cy="1380490"/>
            <a:chOff x="-33917" y="0"/>
            <a:chExt cx="4358002" cy="1742440"/>
          </a:xfrm>
        </p:grpSpPr>
        <p:pic>
          <p:nvPicPr>
            <p:cNvPr id="11" name="Ảnh 19" descr="C:\Users\Ngo\Downloads\New folder\game\IMG\Unit\Construction\teslatower\build\img (25).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917" y="84362"/>
              <a:ext cx="1871345" cy="1477645"/>
            </a:xfrm>
            <a:prstGeom prst="rect">
              <a:avLst/>
            </a:prstGeom>
            <a:noFill/>
            <a:ln>
              <a:noFill/>
            </a:ln>
          </p:spPr>
        </p:pic>
        <p:pic>
          <p:nvPicPr>
            <p:cNvPr id="16" name="Ảnh 11" descr="C:\Users\Ngo\Downloads\New folder\game\IMG\Unit\Construction\primtower\build\img (8).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0175" y="0"/>
              <a:ext cx="1860550" cy="1742440"/>
            </a:xfrm>
            <a:prstGeom prst="rect">
              <a:avLst/>
            </a:prstGeom>
            <a:noFill/>
            <a:ln>
              <a:noFill/>
            </a:ln>
          </p:spPr>
        </p:pic>
        <p:pic>
          <p:nvPicPr>
            <p:cNvPr id="20" name="Ảnh 23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1620" y="494637"/>
              <a:ext cx="672465" cy="685164"/>
            </a:xfrm>
            <a:prstGeom prst="rect">
              <a:avLst/>
            </a:prstGeom>
          </p:spPr>
        </p:pic>
      </p:grpSp>
      <p:pic>
        <p:nvPicPr>
          <p:cNvPr id="22" name="Ảnh 234"/>
          <p:cNvPicPr/>
          <p:nvPr/>
        </p:nvPicPr>
        <p:blipFill>
          <a:blip r:embed="rId5">
            <a:extLst>
              <a:ext uri="{28A0092B-C50C-407E-A947-70E740481C1C}">
                <a14:useLocalDpi xmlns:a14="http://schemas.microsoft.com/office/drawing/2010/main" val="0"/>
              </a:ext>
            </a:extLst>
          </a:blip>
          <a:stretch>
            <a:fillRect/>
          </a:stretch>
        </p:blipFill>
        <p:spPr>
          <a:xfrm>
            <a:off x="6117818" y="2332077"/>
            <a:ext cx="1041400" cy="883920"/>
          </a:xfrm>
          <a:prstGeom prst="rect">
            <a:avLst/>
          </a:prstGeom>
        </p:spPr>
      </p:pic>
      <p:sp>
        <p:nvSpPr>
          <p:cNvPr id="33" name="TextBox 32"/>
          <p:cNvSpPr txBox="1"/>
          <p:nvPr/>
        </p:nvSpPr>
        <p:spPr>
          <a:xfrm>
            <a:off x="4047874" y="3396053"/>
            <a:ext cx="1877437" cy="323165"/>
          </a:xfrm>
          <a:prstGeom prst="rect">
            <a:avLst/>
          </a:prstGeom>
          <a:noFill/>
        </p:spPr>
        <p:txBody>
          <a:bodyPr wrap="none" rtlCol="0">
            <a:spAutoFit/>
          </a:bodyPr>
          <a:lstStyle/>
          <a:p>
            <a:r>
              <a:rPr lang="en-US" sz="1500" smtClean="0">
                <a:latin typeface="+mj-lt"/>
              </a:rPr>
              <a:t>Pháo phòng không</a:t>
            </a:r>
            <a:endParaRPr lang="en-US" sz="1500">
              <a:latin typeface="+mj-lt"/>
            </a:endParaRPr>
          </a:p>
        </p:txBody>
      </p:sp>
      <p:sp>
        <p:nvSpPr>
          <p:cNvPr id="34" name="TextBox 33"/>
          <p:cNvSpPr txBox="1"/>
          <p:nvPr/>
        </p:nvSpPr>
        <p:spPr>
          <a:xfrm>
            <a:off x="5964295" y="3408448"/>
            <a:ext cx="1348446" cy="323165"/>
          </a:xfrm>
          <a:prstGeom prst="rect">
            <a:avLst/>
          </a:prstGeom>
          <a:noFill/>
        </p:spPr>
        <p:txBody>
          <a:bodyPr wrap="none" rtlCol="0">
            <a:spAutoFit/>
          </a:bodyPr>
          <a:lstStyle/>
          <a:p>
            <a:r>
              <a:rPr lang="en-US" sz="1500" smtClean="0">
                <a:latin typeface="+mj-lt"/>
              </a:rPr>
              <a:t>Pháo cannon</a:t>
            </a:r>
            <a:endParaRPr lang="en-US" sz="1500">
              <a:latin typeface="+mj-lt"/>
            </a:endParaRPr>
          </a:p>
        </p:txBody>
      </p:sp>
    </p:spTree>
    <p:extLst>
      <p:ext uri="{BB962C8B-B14F-4D97-AF65-F5344CB8AC3E}">
        <p14:creationId xmlns:p14="http://schemas.microsoft.com/office/powerpoint/2010/main" val="27911667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latin typeface="Consolas" panose="020B0609020204030204" pitchFamily="49" charset="0"/>
                <a:cs typeface="Consolas" panose="020B0609020204030204" pitchFamily="49" charset="0"/>
              </a:rPr>
              <a:t>CÁC ĐỐI TƯỢNG</a:t>
            </a:r>
            <a:r>
              <a:rPr lang="en-US">
                <a:latin typeface="Consolas" panose="020B0609020204030204" pitchFamily="49" charset="0"/>
                <a:cs typeface="Consolas" panose="020B0609020204030204" pitchFamily="49" charset="0"/>
              </a:rPr>
              <a:t> TRONG GAME</a:t>
            </a:r>
          </a:p>
        </p:txBody>
      </p:sp>
      <p:sp>
        <p:nvSpPr>
          <p:cNvPr id="4" name="Footer Placeholder 3"/>
          <p:cNvSpPr>
            <a:spLocks noGrp="1"/>
          </p:cNvSpPr>
          <p:nvPr>
            <p:ph type="ftr" sz="quarter" idx="11"/>
          </p:nvPr>
        </p:nvSpPr>
        <p:spPr/>
        <p:txBody>
          <a:bodyPr/>
          <a:lstStyle/>
          <a:p>
            <a:r>
              <a:rPr lang="en-US" smtClean="0"/>
              <a:t>Ý tưởng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18</a:t>
            </a:fld>
            <a:endParaRPr lang="en-US"/>
          </a:p>
        </p:txBody>
      </p:sp>
      <p:grpSp>
        <p:nvGrpSpPr>
          <p:cNvPr id="17" name="Nhóm 288"/>
          <p:cNvGrpSpPr/>
          <p:nvPr/>
        </p:nvGrpSpPr>
        <p:grpSpPr>
          <a:xfrm>
            <a:off x="1687032" y="2154865"/>
            <a:ext cx="5015014" cy="2312804"/>
            <a:chOff x="10632" y="21265"/>
            <a:chExt cx="5015113" cy="2312832"/>
          </a:xfrm>
        </p:grpSpPr>
        <p:pic>
          <p:nvPicPr>
            <p:cNvPr id="18" name="Ảnh 9" descr="C:\Users\Ngo\Downloads\New folder\game\IMG\Unit\vehicle\FIRETANK\img (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632" y="36029"/>
              <a:ext cx="914400" cy="737235"/>
            </a:xfrm>
            <a:prstGeom prst="rect">
              <a:avLst/>
            </a:prstGeom>
            <a:noFill/>
            <a:ln>
              <a:noFill/>
            </a:ln>
          </p:spPr>
        </p:pic>
        <p:pic>
          <p:nvPicPr>
            <p:cNvPr id="21" name="Ảnh 19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5907" y="21265"/>
              <a:ext cx="906145" cy="731520"/>
            </a:xfrm>
            <a:prstGeom prst="rect">
              <a:avLst/>
            </a:prstGeom>
          </p:spPr>
        </p:pic>
        <p:pic>
          <p:nvPicPr>
            <p:cNvPr id="24" name="Ảnh 19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21935" y="159488"/>
              <a:ext cx="720090" cy="580390"/>
            </a:xfrm>
            <a:prstGeom prst="rect">
              <a:avLst/>
            </a:prstGeom>
          </p:spPr>
        </p:pic>
        <p:pic>
          <p:nvPicPr>
            <p:cNvPr id="26" name="Ảnh 20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08475" y="74428"/>
              <a:ext cx="1017270" cy="803275"/>
            </a:xfrm>
            <a:prstGeom prst="rect">
              <a:avLst/>
            </a:prstGeom>
          </p:spPr>
        </p:pic>
        <p:pic>
          <p:nvPicPr>
            <p:cNvPr id="28" name="Ảnh 20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86270" y="1382232"/>
              <a:ext cx="1205865" cy="951865"/>
            </a:xfrm>
            <a:prstGeom prst="rect">
              <a:avLst/>
            </a:prstGeom>
          </p:spPr>
        </p:pic>
        <p:pic>
          <p:nvPicPr>
            <p:cNvPr id="29" name="Ảnh 20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85461" y="1350335"/>
              <a:ext cx="913765" cy="735965"/>
            </a:xfrm>
            <a:prstGeom prst="rect">
              <a:avLst/>
            </a:prstGeom>
          </p:spPr>
        </p:pic>
        <p:pic>
          <p:nvPicPr>
            <p:cNvPr id="30" name="Ảnh 20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8960" y="1382232"/>
              <a:ext cx="913765" cy="735965"/>
            </a:xfrm>
            <a:prstGeom prst="rect">
              <a:avLst/>
            </a:prstGeom>
          </p:spPr>
        </p:pic>
      </p:grpSp>
      <p:sp>
        <p:nvSpPr>
          <p:cNvPr id="3" name="Rectangle 2"/>
          <p:cNvSpPr/>
          <p:nvPr/>
        </p:nvSpPr>
        <p:spPr>
          <a:xfrm>
            <a:off x="1638315" y="2945064"/>
            <a:ext cx="1136850" cy="323165"/>
          </a:xfrm>
          <a:prstGeom prst="rect">
            <a:avLst/>
          </a:prstGeom>
        </p:spPr>
        <p:txBody>
          <a:bodyPr wrap="none">
            <a:spAutoFit/>
          </a:bodyPr>
          <a:lstStyle/>
          <a:p>
            <a:r>
              <a:rPr lang="en-US" sz="1500">
                <a:latin typeface="+mj-lt"/>
                <a:ea typeface="Arial" panose="020B0604020202020204" pitchFamily="34" charset="0"/>
              </a:rPr>
              <a:t>Fire tank</a:t>
            </a:r>
            <a:endParaRPr lang="en-US" sz="1500">
              <a:latin typeface="+mj-lt"/>
            </a:endParaRPr>
          </a:p>
        </p:txBody>
      </p:sp>
      <p:sp>
        <p:nvSpPr>
          <p:cNvPr id="6" name="Rectangle 5"/>
          <p:cNvSpPr/>
          <p:nvPr/>
        </p:nvSpPr>
        <p:spPr>
          <a:xfrm>
            <a:off x="2884915" y="2931263"/>
            <a:ext cx="1031051" cy="339324"/>
          </a:xfrm>
          <a:prstGeom prst="rect">
            <a:avLst/>
          </a:prstGeom>
        </p:spPr>
        <p:txBody>
          <a:bodyPr wrap="none">
            <a:spAutoFit/>
          </a:bodyPr>
          <a:lstStyle/>
          <a:p>
            <a:pPr algn="ctr">
              <a:lnSpc>
                <a:spcPct val="107000"/>
              </a:lnSpc>
              <a:spcAft>
                <a:spcPts val="800"/>
              </a:spcAft>
            </a:pPr>
            <a:r>
              <a:rPr lang="en-US" sz="1500">
                <a:latin typeface="+mj-lt"/>
                <a:ea typeface="Arial" panose="020B0604020202020204" pitchFamily="34" charset="0"/>
                <a:cs typeface="Times New Roman" panose="02020603050405020304" pitchFamily="18" charset="0"/>
              </a:rPr>
              <a:t>IFV tank</a:t>
            </a:r>
            <a:endParaRPr lang="en-US" sz="1500">
              <a:effectLst/>
              <a:latin typeface="+mj-lt"/>
              <a:ea typeface="Arial" panose="020B0604020202020204" pitchFamily="34" charset="0"/>
              <a:cs typeface="Times New Roman" panose="02020603050405020304" pitchFamily="18" charset="0"/>
            </a:endParaRPr>
          </a:p>
        </p:txBody>
      </p:sp>
      <p:sp>
        <p:nvSpPr>
          <p:cNvPr id="7" name="Rectangle 6"/>
          <p:cNvSpPr/>
          <p:nvPr/>
        </p:nvSpPr>
        <p:spPr>
          <a:xfrm>
            <a:off x="4461864" y="2931263"/>
            <a:ext cx="502061" cy="339324"/>
          </a:xfrm>
          <a:prstGeom prst="rect">
            <a:avLst/>
          </a:prstGeom>
        </p:spPr>
        <p:txBody>
          <a:bodyPr wrap="none">
            <a:spAutoFit/>
          </a:bodyPr>
          <a:lstStyle/>
          <a:p>
            <a:pPr algn="ctr">
              <a:lnSpc>
                <a:spcPct val="107000"/>
              </a:lnSpc>
              <a:spcAft>
                <a:spcPts val="800"/>
              </a:spcAft>
            </a:pPr>
            <a:r>
              <a:rPr lang="en-US" sz="1500">
                <a:latin typeface="+mj-lt"/>
                <a:ea typeface="Arial" panose="020B0604020202020204" pitchFamily="34" charset="0"/>
                <a:cs typeface="Times New Roman" panose="02020603050405020304" pitchFamily="18" charset="0"/>
              </a:rPr>
              <a:t>MCV</a:t>
            </a:r>
            <a:endParaRPr lang="en-US" sz="1500">
              <a:effectLst/>
              <a:latin typeface="+mj-lt"/>
              <a:ea typeface="Arial" panose="020B0604020202020204" pitchFamily="34" charset="0"/>
              <a:cs typeface="Times New Roman" panose="02020603050405020304" pitchFamily="18" charset="0"/>
            </a:endParaRPr>
          </a:p>
        </p:txBody>
      </p:sp>
      <p:sp>
        <p:nvSpPr>
          <p:cNvPr id="9" name="Rectangle 8"/>
          <p:cNvSpPr/>
          <p:nvPr/>
        </p:nvSpPr>
        <p:spPr>
          <a:xfrm>
            <a:off x="5276680" y="2925700"/>
            <a:ext cx="1983235" cy="339324"/>
          </a:xfrm>
          <a:prstGeom prst="rect">
            <a:avLst/>
          </a:prstGeom>
        </p:spPr>
        <p:txBody>
          <a:bodyPr wrap="none">
            <a:spAutoFit/>
          </a:bodyPr>
          <a:lstStyle/>
          <a:p>
            <a:pPr>
              <a:lnSpc>
                <a:spcPct val="107000"/>
              </a:lnSpc>
              <a:spcAft>
                <a:spcPts val="800"/>
              </a:spcAft>
            </a:pPr>
            <a:r>
              <a:rPr lang="en-US" sz="1500">
                <a:latin typeface="+mj-lt"/>
                <a:ea typeface="Arial" panose="020B0604020202020204" pitchFamily="34" charset="0"/>
                <a:cs typeface="Times New Roman" panose="02020603050405020304" pitchFamily="18" charset="0"/>
              </a:rPr>
              <a:t>Xe khai thác vàng</a:t>
            </a:r>
            <a:endParaRPr lang="en-US" sz="1500">
              <a:effectLst/>
              <a:latin typeface="+mj-lt"/>
              <a:ea typeface="Arial" panose="020B0604020202020204" pitchFamily="34" charset="0"/>
              <a:cs typeface="Times New Roman" panose="02020603050405020304" pitchFamily="18" charset="0"/>
            </a:endParaRPr>
          </a:p>
        </p:txBody>
      </p:sp>
      <p:sp>
        <p:nvSpPr>
          <p:cNvPr id="12" name="Rectangle 11"/>
          <p:cNvSpPr/>
          <p:nvPr/>
        </p:nvSpPr>
        <p:spPr>
          <a:xfrm>
            <a:off x="3462635" y="4197023"/>
            <a:ext cx="1348446" cy="339324"/>
          </a:xfrm>
          <a:prstGeom prst="rect">
            <a:avLst/>
          </a:prstGeom>
        </p:spPr>
        <p:txBody>
          <a:bodyPr wrap="none">
            <a:spAutoFit/>
          </a:bodyPr>
          <a:lstStyle/>
          <a:p>
            <a:pPr>
              <a:lnSpc>
                <a:spcPct val="107000"/>
              </a:lnSpc>
              <a:spcAft>
                <a:spcPts val="800"/>
              </a:spcAft>
            </a:pPr>
            <a:r>
              <a:rPr lang="en-US" sz="1500">
                <a:latin typeface="+mj-lt"/>
                <a:ea typeface="Arial" panose="020B0604020202020204" pitchFamily="34" charset="0"/>
                <a:cs typeface="Times New Roman" panose="02020603050405020304" pitchFamily="18" charset="0"/>
              </a:rPr>
              <a:t>PRISM tanks</a:t>
            </a:r>
            <a:endParaRPr lang="en-US" sz="1500">
              <a:effectLst/>
              <a:latin typeface="+mj-lt"/>
              <a:ea typeface="Arial" panose="020B0604020202020204" pitchFamily="34" charset="0"/>
              <a:cs typeface="Times New Roman" panose="02020603050405020304" pitchFamily="18" charset="0"/>
            </a:endParaRPr>
          </a:p>
        </p:txBody>
      </p:sp>
      <p:sp>
        <p:nvSpPr>
          <p:cNvPr id="13" name="Rectangle 12"/>
          <p:cNvSpPr/>
          <p:nvPr/>
        </p:nvSpPr>
        <p:spPr>
          <a:xfrm>
            <a:off x="4884819" y="4219875"/>
            <a:ext cx="1348446" cy="339324"/>
          </a:xfrm>
          <a:prstGeom prst="rect">
            <a:avLst/>
          </a:prstGeom>
        </p:spPr>
        <p:txBody>
          <a:bodyPr wrap="none">
            <a:spAutoFit/>
          </a:bodyPr>
          <a:lstStyle/>
          <a:p>
            <a:pPr>
              <a:lnSpc>
                <a:spcPct val="107000"/>
              </a:lnSpc>
              <a:spcAft>
                <a:spcPts val="800"/>
              </a:spcAft>
            </a:pPr>
            <a:r>
              <a:rPr lang="en-US" sz="1500" smtClean="0">
                <a:latin typeface="+mj-lt"/>
                <a:ea typeface="Arial" panose="020B0604020202020204" pitchFamily="34" charset="0"/>
                <a:cs typeface="Times New Roman" panose="02020603050405020304" pitchFamily="18" charset="0"/>
              </a:rPr>
              <a:t>RHINO Tanks</a:t>
            </a:r>
            <a:endParaRPr lang="en-US" sz="1500">
              <a:effectLst/>
              <a:latin typeface="+mj-lt"/>
              <a:ea typeface="Arial" panose="020B0604020202020204" pitchFamily="34" charset="0"/>
              <a:cs typeface="Times New Roman" panose="02020603050405020304" pitchFamily="18" charset="0"/>
            </a:endParaRPr>
          </a:p>
        </p:txBody>
      </p:sp>
      <p:sp>
        <p:nvSpPr>
          <p:cNvPr id="46" name="Rectangle 45"/>
          <p:cNvSpPr/>
          <p:nvPr/>
        </p:nvSpPr>
        <p:spPr>
          <a:xfrm>
            <a:off x="1746330" y="4168281"/>
            <a:ext cx="1348446" cy="339324"/>
          </a:xfrm>
          <a:prstGeom prst="rect">
            <a:avLst/>
          </a:prstGeom>
        </p:spPr>
        <p:txBody>
          <a:bodyPr wrap="none">
            <a:spAutoFit/>
          </a:bodyPr>
          <a:lstStyle/>
          <a:p>
            <a:pPr>
              <a:lnSpc>
                <a:spcPct val="107000"/>
              </a:lnSpc>
              <a:spcAft>
                <a:spcPts val="800"/>
              </a:spcAft>
            </a:pPr>
            <a:r>
              <a:rPr lang="en-US" sz="1500" smtClean="0">
                <a:latin typeface="+mj-lt"/>
                <a:ea typeface="Arial" panose="020B0604020202020204" pitchFamily="34" charset="0"/>
                <a:cs typeface="Times New Roman" panose="02020603050405020304" pitchFamily="18" charset="0"/>
              </a:rPr>
              <a:t>TESLA Tanks</a:t>
            </a:r>
            <a:endParaRPr lang="en-US" sz="1500">
              <a:effectLst/>
              <a:latin typeface="+mj-lt"/>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5364823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latin typeface="Consolas" panose="020B0609020204030204" pitchFamily="49" charset="0"/>
                <a:cs typeface="Consolas" panose="020B0609020204030204" pitchFamily="49" charset="0"/>
              </a:rPr>
              <a:t>CÁC ĐỐI TƯỢNG</a:t>
            </a:r>
            <a:r>
              <a:rPr lang="en-US">
                <a:latin typeface="Consolas" panose="020B0609020204030204" pitchFamily="49" charset="0"/>
                <a:cs typeface="Consolas" panose="020B0609020204030204" pitchFamily="49" charset="0"/>
              </a:rPr>
              <a:t> TRONG GAME</a:t>
            </a:r>
          </a:p>
        </p:txBody>
      </p:sp>
      <p:sp>
        <p:nvSpPr>
          <p:cNvPr id="4" name="Footer Placeholder 3"/>
          <p:cNvSpPr>
            <a:spLocks noGrp="1"/>
          </p:cNvSpPr>
          <p:nvPr>
            <p:ph type="ftr" sz="quarter" idx="11"/>
          </p:nvPr>
        </p:nvSpPr>
        <p:spPr/>
        <p:txBody>
          <a:bodyPr/>
          <a:lstStyle/>
          <a:p>
            <a:r>
              <a:rPr lang="en-US" smtClean="0"/>
              <a:t>Ý tưởng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19</a:t>
            </a:fld>
            <a:endParaRPr lang="en-US"/>
          </a:p>
        </p:txBody>
      </p:sp>
      <p:pic>
        <p:nvPicPr>
          <p:cNvPr id="20" name="Ảnh 8" descr="C:\Users\Ngo\Downloads\New folder\game\IMG\Unit\Solider\CONS\move\img (38).png"/>
          <p:cNvPicPr/>
          <p:nvPr/>
        </p:nvPicPr>
        <p:blipFill>
          <a:blip r:embed="rId2">
            <a:extLst>
              <a:ext uri="{28A0092B-C50C-407E-A947-70E740481C1C}">
                <a14:useLocalDpi xmlns:a14="http://schemas.microsoft.com/office/drawing/2010/main" val="0"/>
              </a:ext>
            </a:extLst>
          </a:blip>
          <a:srcRect/>
          <a:stretch>
            <a:fillRect/>
          </a:stretch>
        </p:blipFill>
        <p:spPr bwMode="auto">
          <a:xfrm>
            <a:off x="1520190" y="1870075"/>
            <a:ext cx="961390" cy="1220470"/>
          </a:xfrm>
          <a:prstGeom prst="rect">
            <a:avLst/>
          </a:prstGeom>
          <a:noFill/>
          <a:ln>
            <a:noFill/>
          </a:ln>
        </p:spPr>
      </p:pic>
      <p:pic>
        <p:nvPicPr>
          <p:cNvPr id="22" name="Ảnh 20" descr="C:\Users\Ngo\Downloads\New folder\game\IMG\Unit\Solider\DOG2\ACTIVE\adogp 0006.png"/>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209800"/>
            <a:ext cx="937895" cy="914400"/>
          </a:xfrm>
          <a:prstGeom prst="rect">
            <a:avLst/>
          </a:prstGeom>
          <a:noFill/>
          <a:ln>
            <a:noFill/>
          </a:ln>
        </p:spPr>
      </p:pic>
      <p:pic>
        <p:nvPicPr>
          <p:cNvPr id="23" name="Ảnh 21" descr="C:\Users\Ngo\Downloads\New folder\game\IMG\Unit\Solider\ENGINEER\move\img (1).png"/>
          <p:cNvPicPr/>
          <p:nvPr/>
        </p:nvPicPr>
        <p:blipFill>
          <a:blip r:embed="rId4">
            <a:extLst>
              <a:ext uri="{28A0092B-C50C-407E-A947-70E740481C1C}">
                <a14:useLocalDpi xmlns:a14="http://schemas.microsoft.com/office/drawing/2010/main" val="0"/>
              </a:ext>
            </a:extLst>
          </a:blip>
          <a:srcRect/>
          <a:stretch>
            <a:fillRect/>
          </a:stretch>
        </p:blipFill>
        <p:spPr bwMode="auto">
          <a:xfrm>
            <a:off x="3721100" y="2293620"/>
            <a:ext cx="698500" cy="739775"/>
          </a:xfrm>
          <a:prstGeom prst="rect">
            <a:avLst/>
          </a:prstGeom>
          <a:noFill/>
          <a:ln>
            <a:noFill/>
          </a:ln>
        </p:spPr>
      </p:pic>
      <p:pic>
        <p:nvPicPr>
          <p:cNvPr id="25" name="Ảnh 218"/>
          <p:cNvPicPr/>
          <p:nvPr/>
        </p:nvPicPr>
        <p:blipFill>
          <a:blip r:embed="rId5">
            <a:extLst>
              <a:ext uri="{28A0092B-C50C-407E-A947-70E740481C1C}">
                <a14:useLocalDpi xmlns:a14="http://schemas.microsoft.com/office/drawing/2010/main" val="0"/>
              </a:ext>
            </a:extLst>
          </a:blip>
          <a:stretch>
            <a:fillRect/>
          </a:stretch>
        </p:blipFill>
        <p:spPr>
          <a:xfrm>
            <a:off x="4700270" y="2204085"/>
            <a:ext cx="836930" cy="964565"/>
          </a:xfrm>
          <a:prstGeom prst="rect">
            <a:avLst/>
          </a:prstGeom>
        </p:spPr>
      </p:pic>
      <p:pic>
        <p:nvPicPr>
          <p:cNvPr id="27" name="Ảnh 12"/>
          <p:cNvPicPr/>
          <p:nvPr/>
        </p:nvPicPr>
        <p:blipFill>
          <a:blip r:embed="rId6">
            <a:extLst>
              <a:ext uri="{28A0092B-C50C-407E-A947-70E740481C1C}">
                <a14:useLocalDpi xmlns:a14="http://schemas.microsoft.com/office/drawing/2010/main" val="0"/>
              </a:ext>
            </a:extLst>
          </a:blip>
          <a:stretch>
            <a:fillRect/>
          </a:stretch>
        </p:blipFill>
        <p:spPr>
          <a:xfrm>
            <a:off x="6007100" y="2314575"/>
            <a:ext cx="382270" cy="503555"/>
          </a:xfrm>
          <a:prstGeom prst="rect">
            <a:avLst/>
          </a:prstGeom>
        </p:spPr>
      </p:pic>
      <p:sp>
        <p:nvSpPr>
          <p:cNvPr id="8" name="Rectangle 7"/>
          <p:cNvSpPr/>
          <p:nvPr/>
        </p:nvSpPr>
        <p:spPr>
          <a:xfrm>
            <a:off x="1293636" y="2896197"/>
            <a:ext cx="1454244" cy="339324"/>
          </a:xfrm>
          <a:prstGeom prst="rect">
            <a:avLst/>
          </a:prstGeom>
        </p:spPr>
        <p:txBody>
          <a:bodyPr wrap="none">
            <a:spAutoFit/>
          </a:bodyPr>
          <a:lstStyle/>
          <a:p>
            <a:pPr>
              <a:lnSpc>
                <a:spcPct val="107000"/>
              </a:lnSpc>
              <a:spcAft>
                <a:spcPts val="800"/>
              </a:spcAft>
            </a:pPr>
            <a:r>
              <a:rPr lang="en-US" sz="1500" smtClean="0">
                <a:latin typeface="+mj-lt"/>
                <a:ea typeface="Arial" panose="020B0604020202020204" pitchFamily="34" charset="0"/>
                <a:cs typeface="Times New Roman" panose="02020603050405020304" pitchFamily="18" charset="0"/>
              </a:rPr>
              <a:t>Lính bắn </a:t>
            </a:r>
            <a:r>
              <a:rPr lang="en-US" sz="1500">
                <a:latin typeface="+mj-lt"/>
                <a:ea typeface="Arial" panose="020B0604020202020204" pitchFamily="34" charset="0"/>
                <a:cs typeface="Times New Roman" panose="02020603050405020304" pitchFamily="18" charset="0"/>
              </a:rPr>
              <a:t>tỉa</a:t>
            </a:r>
            <a:endParaRPr lang="en-US" sz="1500">
              <a:effectLst/>
              <a:latin typeface="+mj-lt"/>
              <a:ea typeface="Arial" panose="020B0604020202020204" pitchFamily="34" charset="0"/>
              <a:cs typeface="Times New Roman" panose="02020603050405020304" pitchFamily="18" charset="0"/>
            </a:endParaRPr>
          </a:p>
        </p:txBody>
      </p:sp>
      <p:sp>
        <p:nvSpPr>
          <p:cNvPr id="10" name="Rectangle 9"/>
          <p:cNvSpPr/>
          <p:nvPr/>
        </p:nvSpPr>
        <p:spPr>
          <a:xfrm>
            <a:off x="2726685" y="2896197"/>
            <a:ext cx="502061" cy="339324"/>
          </a:xfrm>
          <a:prstGeom prst="rect">
            <a:avLst/>
          </a:prstGeom>
        </p:spPr>
        <p:txBody>
          <a:bodyPr wrap="none">
            <a:spAutoFit/>
          </a:bodyPr>
          <a:lstStyle/>
          <a:p>
            <a:pPr>
              <a:lnSpc>
                <a:spcPct val="107000"/>
              </a:lnSpc>
              <a:spcAft>
                <a:spcPts val="800"/>
              </a:spcAft>
            </a:pPr>
            <a:r>
              <a:rPr lang="en-US" sz="1500">
                <a:latin typeface="+mj-lt"/>
                <a:ea typeface="Arial" panose="020B0604020202020204" pitchFamily="34" charset="0"/>
                <a:cs typeface="Times New Roman" panose="02020603050405020304" pitchFamily="18" charset="0"/>
              </a:rPr>
              <a:t>Chó</a:t>
            </a:r>
            <a:endParaRPr lang="en-US" sz="1500">
              <a:effectLst/>
              <a:latin typeface="+mj-lt"/>
              <a:ea typeface="Arial" panose="020B0604020202020204" pitchFamily="34" charset="0"/>
              <a:cs typeface="Times New Roman" panose="02020603050405020304" pitchFamily="18" charset="0"/>
            </a:endParaRPr>
          </a:p>
        </p:txBody>
      </p:sp>
      <p:sp>
        <p:nvSpPr>
          <p:cNvPr id="11" name="Rectangle 10"/>
          <p:cNvSpPr/>
          <p:nvPr/>
        </p:nvSpPr>
        <p:spPr>
          <a:xfrm>
            <a:off x="3681095" y="2896197"/>
            <a:ext cx="713657" cy="339324"/>
          </a:xfrm>
          <a:prstGeom prst="rect">
            <a:avLst/>
          </a:prstGeom>
        </p:spPr>
        <p:txBody>
          <a:bodyPr wrap="none">
            <a:spAutoFit/>
          </a:bodyPr>
          <a:lstStyle/>
          <a:p>
            <a:pPr>
              <a:lnSpc>
                <a:spcPct val="107000"/>
              </a:lnSpc>
              <a:spcAft>
                <a:spcPts val="800"/>
              </a:spcAft>
            </a:pPr>
            <a:r>
              <a:rPr lang="en-US" sz="1500">
                <a:latin typeface="+mj-lt"/>
                <a:ea typeface="Arial" panose="020B0604020202020204" pitchFamily="34" charset="0"/>
                <a:cs typeface="Times New Roman" panose="02020603050405020304" pitchFamily="18" charset="0"/>
              </a:rPr>
              <a:t>Kĩ sư</a:t>
            </a:r>
            <a:endParaRPr lang="en-US" sz="1500">
              <a:effectLst/>
              <a:latin typeface="+mj-lt"/>
              <a:ea typeface="Arial" panose="020B0604020202020204" pitchFamily="34" charset="0"/>
              <a:cs typeface="Times New Roman" panose="02020603050405020304" pitchFamily="18" charset="0"/>
            </a:endParaRPr>
          </a:p>
        </p:txBody>
      </p:sp>
      <p:sp>
        <p:nvSpPr>
          <p:cNvPr id="14" name="Rectangle 13"/>
          <p:cNvSpPr/>
          <p:nvPr/>
        </p:nvSpPr>
        <p:spPr>
          <a:xfrm>
            <a:off x="4459605" y="2905703"/>
            <a:ext cx="1242648" cy="339324"/>
          </a:xfrm>
          <a:prstGeom prst="rect">
            <a:avLst/>
          </a:prstGeom>
        </p:spPr>
        <p:txBody>
          <a:bodyPr wrap="none">
            <a:spAutoFit/>
          </a:bodyPr>
          <a:lstStyle/>
          <a:p>
            <a:pPr>
              <a:lnSpc>
                <a:spcPct val="107000"/>
              </a:lnSpc>
              <a:spcAft>
                <a:spcPts val="800"/>
              </a:spcAft>
            </a:pPr>
            <a:r>
              <a:rPr lang="en-US" sz="1500">
                <a:latin typeface="+mj-lt"/>
                <a:ea typeface="Arial" panose="020B0604020202020204" pitchFamily="34" charset="0"/>
                <a:cs typeface="Times New Roman" panose="02020603050405020304" pitchFamily="18" charset="0"/>
              </a:rPr>
              <a:t>SHK – điện</a:t>
            </a:r>
            <a:endParaRPr lang="en-US" sz="1500">
              <a:effectLst/>
              <a:latin typeface="+mj-lt"/>
              <a:ea typeface="Arial" panose="020B0604020202020204" pitchFamily="34" charset="0"/>
              <a:cs typeface="Times New Roman" panose="02020603050405020304" pitchFamily="18" charset="0"/>
            </a:endParaRPr>
          </a:p>
        </p:txBody>
      </p:sp>
      <p:sp>
        <p:nvSpPr>
          <p:cNvPr id="15" name="Rectangle 14"/>
          <p:cNvSpPr/>
          <p:nvPr/>
        </p:nvSpPr>
        <p:spPr>
          <a:xfrm>
            <a:off x="5831397" y="2905703"/>
            <a:ext cx="502061" cy="339324"/>
          </a:xfrm>
          <a:prstGeom prst="rect">
            <a:avLst/>
          </a:prstGeom>
        </p:spPr>
        <p:txBody>
          <a:bodyPr wrap="none">
            <a:spAutoFit/>
          </a:bodyPr>
          <a:lstStyle/>
          <a:p>
            <a:pPr>
              <a:lnSpc>
                <a:spcPct val="107000"/>
              </a:lnSpc>
              <a:spcAft>
                <a:spcPts val="800"/>
              </a:spcAft>
            </a:pPr>
            <a:r>
              <a:rPr lang="en-US" sz="1500">
                <a:latin typeface="+mj-lt"/>
                <a:ea typeface="Arial" panose="020B0604020202020204" pitchFamily="34" charset="0"/>
                <a:cs typeface="Times New Roman" panose="02020603050405020304" pitchFamily="18" charset="0"/>
              </a:rPr>
              <a:t>Spy</a:t>
            </a:r>
            <a:endParaRPr lang="en-US" sz="1500">
              <a:effectLst/>
              <a:latin typeface="+mj-lt"/>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13664967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latin typeface="Consolas" panose="020B0609020204030204" pitchFamily="49" charset="0"/>
                <a:cs typeface="Consolas" panose="020B0609020204030204" pitchFamily="49" charset="0"/>
              </a:rPr>
              <a:t>CÁC ĐỐI TƯỢNG</a:t>
            </a:r>
            <a:r>
              <a:rPr lang="en-US">
                <a:latin typeface="Consolas" panose="020B0609020204030204" pitchFamily="49" charset="0"/>
                <a:cs typeface="Consolas" panose="020B0609020204030204" pitchFamily="49" charset="0"/>
              </a:rPr>
              <a:t> TRONG GAME</a:t>
            </a:r>
          </a:p>
        </p:txBody>
      </p:sp>
      <p:sp>
        <p:nvSpPr>
          <p:cNvPr id="4" name="Footer Placeholder 3"/>
          <p:cNvSpPr>
            <a:spLocks noGrp="1"/>
          </p:cNvSpPr>
          <p:nvPr>
            <p:ph type="ftr" sz="quarter" idx="11"/>
          </p:nvPr>
        </p:nvSpPr>
        <p:spPr/>
        <p:txBody>
          <a:bodyPr/>
          <a:lstStyle/>
          <a:p>
            <a:r>
              <a:rPr lang="en-US" smtClean="0"/>
              <a:t>Ý tưởng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20</a:t>
            </a:fld>
            <a:endParaRPr lang="en-US"/>
          </a:p>
        </p:txBody>
      </p:sp>
      <p:pic>
        <p:nvPicPr>
          <p:cNvPr id="20" name="Ảnh 8" descr="C:\Users\Ngo\Downloads\New folder\game\IMG\Unit\Solider\CONS\move\img (38).png"/>
          <p:cNvPicPr/>
          <p:nvPr/>
        </p:nvPicPr>
        <p:blipFill>
          <a:blip r:embed="rId2">
            <a:extLst>
              <a:ext uri="{28A0092B-C50C-407E-A947-70E740481C1C}">
                <a14:useLocalDpi xmlns:a14="http://schemas.microsoft.com/office/drawing/2010/main" val="0"/>
              </a:ext>
            </a:extLst>
          </a:blip>
          <a:srcRect/>
          <a:stretch>
            <a:fillRect/>
          </a:stretch>
        </p:blipFill>
        <p:spPr bwMode="auto">
          <a:xfrm>
            <a:off x="1520190" y="1870075"/>
            <a:ext cx="961390" cy="1220470"/>
          </a:xfrm>
          <a:prstGeom prst="rect">
            <a:avLst/>
          </a:prstGeom>
          <a:noFill/>
          <a:ln>
            <a:noFill/>
          </a:ln>
        </p:spPr>
      </p:pic>
      <p:pic>
        <p:nvPicPr>
          <p:cNvPr id="22" name="Ảnh 20" descr="C:\Users\Ngo\Downloads\New folder\game\IMG\Unit\Solider\DOG2\ACTIVE\adogp 0006.png"/>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209800"/>
            <a:ext cx="937895" cy="914400"/>
          </a:xfrm>
          <a:prstGeom prst="rect">
            <a:avLst/>
          </a:prstGeom>
          <a:noFill/>
          <a:ln>
            <a:noFill/>
          </a:ln>
        </p:spPr>
      </p:pic>
      <p:pic>
        <p:nvPicPr>
          <p:cNvPr id="23" name="Ảnh 21" descr="C:\Users\Ngo\Downloads\New folder\game\IMG\Unit\Solider\ENGINEER\move\img (1).png"/>
          <p:cNvPicPr/>
          <p:nvPr/>
        </p:nvPicPr>
        <p:blipFill>
          <a:blip r:embed="rId4">
            <a:extLst>
              <a:ext uri="{28A0092B-C50C-407E-A947-70E740481C1C}">
                <a14:useLocalDpi xmlns:a14="http://schemas.microsoft.com/office/drawing/2010/main" val="0"/>
              </a:ext>
            </a:extLst>
          </a:blip>
          <a:srcRect/>
          <a:stretch>
            <a:fillRect/>
          </a:stretch>
        </p:blipFill>
        <p:spPr bwMode="auto">
          <a:xfrm>
            <a:off x="3721100" y="2293620"/>
            <a:ext cx="698500" cy="739775"/>
          </a:xfrm>
          <a:prstGeom prst="rect">
            <a:avLst/>
          </a:prstGeom>
          <a:noFill/>
          <a:ln>
            <a:noFill/>
          </a:ln>
        </p:spPr>
      </p:pic>
      <p:pic>
        <p:nvPicPr>
          <p:cNvPr id="25" name="Ảnh 218"/>
          <p:cNvPicPr/>
          <p:nvPr/>
        </p:nvPicPr>
        <p:blipFill>
          <a:blip r:embed="rId5">
            <a:extLst>
              <a:ext uri="{28A0092B-C50C-407E-A947-70E740481C1C}">
                <a14:useLocalDpi xmlns:a14="http://schemas.microsoft.com/office/drawing/2010/main" val="0"/>
              </a:ext>
            </a:extLst>
          </a:blip>
          <a:stretch>
            <a:fillRect/>
          </a:stretch>
        </p:blipFill>
        <p:spPr>
          <a:xfrm>
            <a:off x="4700270" y="2204085"/>
            <a:ext cx="836930" cy="964565"/>
          </a:xfrm>
          <a:prstGeom prst="rect">
            <a:avLst/>
          </a:prstGeom>
        </p:spPr>
      </p:pic>
      <p:pic>
        <p:nvPicPr>
          <p:cNvPr id="27" name="Ảnh 12"/>
          <p:cNvPicPr/>
          <p:nvPr/>
        </p:nvPicPr>
        <p:blipFill>
          <a:blip r:embed="rId6">
            <a:extLst>
              <a:ext uri="{28A0092B-C50C-407E-A947-70E740481C1C}">
                <a14:useLocalDpi xmlns:a14="http://schemas.microsoft.com/office/drawing/2010/main" val="0"/>
              </a:ext>
            </a:extLst>
          </a:blip>
          <a:stretch>
            <a:fillRect/>
          </a:stretch>
        </p:blipFill>
        <p:spPr>
          <a:xfrm>
            <a:off x="6007100" y="2314575"/>
            <a:ext cx="382270" cy="503555"/>
          </a:xfrm>
          <a:prstGeom prst="rect">
            <a:avLst/>
          </a:prstGeom>
        </p:spPr>
      </p:pic>
      <p:sp>
        <p:nvSpPr>
          <p:cNvPr id="8" name="Rectangle 7"/>
          <p:cNvSpPr/>
          <p:nvPr/>
        </p:nvSpPr>
        <p:spPr>
          <a:xfrm>
            <a:off x="1293636" y="2896197"/>
            <a:ext cx="1454244" cy="339324"/>
          </a:xfrm>
          <a:prstGeom prst="rect">
            <a:avLst/>
          </a:prstGeom>
        </p:spPr>
        <p:txBody>
          <a:bodyPr wrap="none">
            <a:spAutoFit/>
          </a:bodyPr>
          <a:lstStyle/>
          <a:p>
            <a:pPr>
              <a:lnSpc>
                <a:spcPct val="107000"/>
              </a:lnSpc>
              <a:spcAft>
                <a:spcPts val="800"/>
              </a:spcAft>
            </a:pPr>
            <a:r>
              <a:rPr lang="en-US" sz="1500" smtClean="0">
                <a:latin typeface="+mj-lt"/>
                <a:ea typeface="Arial" panose="020B0604020202020204" pitchFamily="34" charset="0"/>
                <a:cs typeface="Times New Roman" panose="02020603050405020304" pitchFamily="18" charset="0"/>
              </a:rPr>
              <a:t>Lính bắn </a:t>
            </a:r>
            <a:r>
              <a:rPr lang="en-US" sz="1500">
                <a:latin typeface="+mj-lt"/>
                <a:ea typeface="Arial" panose="020B0604020202020204" pitchFamily="34" charset="0"/>
                <a:cs typeface="Times New Roman" panose="02020603050405020304" pitchFamily="18" charset="0"/>
              </a:rPr>
              <a:t>tỉa</a:t>
            </a:r>
            <a:endParaRPr lang="en-US" sz="1500">
              <a:effectLst/>
              <a:latin typeface="+mj-lt"/>
              <a:ea typeface="Arial" panose="020B0604020202020204" pitchFamily="34" charset="0"/>
              <a:cs typeface="Times New Roman" panose="02020603050405020304" pitchFamily="18" charset="0"/>
            </a:endParaRPr>
          </a:p>
        </p:txBody>
      </p:sp>
      <p:sp>
        <p:nvSpPr>
          <p:cNvPr id="10" name="Rectangle 9"/>
          <p:cNvSpPr/>
          <p:nvPr/>
        </p:nvSpPr>
        <p:spPr>
          <a:xfrm>
            <a:off x="2726685" y="2896197"/>
            <a:ext cx="502061" cy="339324"/>
          </a:xfrm>
          <a:prstGeom prst="rect">
            <a:avLst/>
          </a:prstGeom>
        </p:spPr>
        <p:txBody>
          <a:bodyPr wrap="none">
            <a:spAutoFit/>
          </a:bodyPr>
          <a:lstStyle/>
          <a:p>
            <a:pPr>
              <a:lnSpc>
                <a:spcPct val="107000"/>
              </a:lnSpc>
              <a:spcAft>
                <a:spcPts val="800"/>
              </a:spcAft>
            </a:pPr>
            <a:r>
              <a:rPr lang="en-US" sz="1500">
                <a:latin typeface="+mj-lt"/>
                <a:ea typeface="Arial" panose="020B0604020202020204" pitchFamily="34" charset="0"/>
                <a:cs typeface="Times New Roman" panose="02020603050405020304" pitchFamily="18" charset="0"/>
              </a:rPr>
              <a:t>Chó</a:t>
            </a:r>
            <a:endParaRPr lang="en-US" sz="1500">
              <a:effectLst/>
              <a:latin typeface="+mj-lt"/>
              <a:ea typeface="Arial" panose="020B0604020202020204" pitchFamily="34" charset="0"/>
              <a:cs typeface="Times New Roman" panose="02020603050405020304" pitchFamily="18" charset="0"/>
            </a:endParaRPr>
          </a:p>
        </p:txBody>
      </p:sp>
      <p:sp>
        <p:nvSpPr>
          <p:cNvPr id="11" name="Rectangle 10"/>
          <p:cNvSpPr/>
          <p:nvPr/>
        </p:nvSpPr>
        <p:spPr>
          <a:xfrm>
            <a:off x="3681095" y="2896197"/>
            <a:ext cx="713657" cy="339324"/>
          </a:xfrm>
          <a:prstGeom prst="rect">
            <a:avLst/>
          </a:prstGeom>
        </p:spPr>
        <p:txBody>
          <a:bodyPr wrap="none">
            <a:spAutoFit/>
          </a:bodyPr>
          <a:lstStyle/>
          <a:p>
            <a:pPr>
              <a:lnSpc>
                <a:spcPct val="107000"/>
              </a:lnSpc>
              <a:spcAft>
                <a:spcPts val="800"/>
              </a:spcAft>
            </a:pPr>
            <a:r>
              <a:rPr lang="en-US" sz="1500">
                <a:latin typeface="+mj-lt"/>
                <a:ea typeface="Arial" panose="020B0604020202020204" pitchFamily="34" charset="0"/>
                <a:cs typeface="Times New Roman" panose="02020603050405020304" pitchFamily="18" charset="0"/>
              </a:rPr>
              <a:t>Kĩ sư</a:t>
            </a:r>
            <a:endParaRPr lang="en-US" sz="1500">
              <a:effectLst/>
              <a:latin typeface="+mj-lt"/>
              <a:ea typeface="Arial" panose="020B0604020202020204" pitchFamily="34" charset="0"/>
              <a:cs typeface="Times New Roman" panose="02020603050405020304" pitchFamily="18" charset="0"/>
            </a:endParaRPr>
          </a:p>
        </p:txBody>
      </p:sp>
      <p:sp>
        <p:nvSpPr>
          <p:cNvPr id="14" name="Rectangle 13"/>
          <p:cNvSpPr/>
          <p:nvPr/>
        </p:nvSpPr>
        <p:spPr>
          <a:xfrm>
            <a:off x="4459605" y="2905703"/>
            <a:ext cx="1242648" cy="339324"/>
          </a:xfrm>
          <a:prstGeom prst="rect">
            <a:avLst/>
          </a:prstGeom>
        </p:spPr>
        <p:txBody>
          <a:bodyPr wrap="none">
            <a:spAutoFit/>
          </a:bodyPr>
          <a:lstStyle/>
          <a:p>
            <a:pPr>
              <a:lnSpc>
                <a:spcPct val="107000"/>
              </a:lnSpc>
              <a:spcAft>
                <a:spcPts val="800"/>
              </a:spcAft>
            </a:pPr>
            <a:r>
              <a:rPr lang="en-US" sz="1500">
                <a:latin typeface="+mj-lt"/>
                <a:ea typeface="Arial" panose="020B0604020202020204" pitchFamily="34" charset="0"/>
                <a:cs typeface="Times New Roman" panose="02020603050405020304" pitchFamily="18" charset="0"/>
              </a:rPr>
              <a:t>SHK – điện</a:t>
            </a:r>
            <a:endParaRPr lang="en-US" sz="1500">
              <a:effectLst/>
              <a:latin typeface="+mj-lt"/>
              <a:ea typeface="Arial" panose="020B0604020202020204" pitchFamily="34" charset="0"/>
              <a:cs typeface="Times New Roman" panose="02020603050405020304" pitchFamily="18" charset="0"/>
            </a:endParaRPr>
          </a:p>
        </p:txBody>
      </p:sp>
      <p:sp>
        <p:nvSpPr>
          <p:cNvPr id="15" name="Rectangle 14"/>
          <p:cNvSpPr/>
          <p:nvPr/>
        </p:nvSpPr>
        <p:spPr>
          <a:xfrm>
            <a:off x="5831397" y="2905703"/>
            <a:ext cx="502061" cy="339324"/>
          </a:xfrm>
          <a:prstGeom prst="rect">
            <a:avLst/>
          </a:prstGeom>
        </p:spPr>
        <p:txBody>
          <a:bodyPr wrap="none">
            <a:spAutoFit/>
          </a:bodyPr>
          <a:lstStyle/>
          <a:p>
            <a:pPr>
              <a:lnSpc>
                <a:spcPct val="107000"/>
              </a:lnSpc>
              <a:spcAft>
                <a:spcPts val="800"/>
              </a:spcAft>
            </a:pPr>
            <a:r>
              <a:rPr lang="en-US" sz="1500">
                <a:latin typeface="+mj-lt"/>
                <a:ea typeface="Arial" panose="020B0604020202020204" pitchFamily="34" charset="0"/>
                <a:cs typeface="Times New Roman" panose="02020603050405020304" pitchFamily="18" charset="0"/>
              </a:rPr>
              <a:t>Spy</a:t>
            </a:r>
            <a:endParaRPr lang="en-US" sz="1500">
              <a:effectLst/>
              <a:latin typeface="+mj-lt"/>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25709378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SƠ ĐỒ TƯƠNG TÁC HỆ THỐNG</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Thiết kế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21</a:t>
            </a:fld>
            <a:endParaRPr lang="en-US"/>
          </a:p>
        </p:txBody>
      </p:sp>
      <p:sp>
        <p:nvSpPr>
          <p:cNvPr id="8" name="Rectangle 4"/>
          <p:cNvSpPr>
            <a:spLocks noChangeArrowheads="1"/>
          </p:cNvSpPr>
          <p:nvPr/>
        </p:nvSpPr>
        <p:spPr bwMode="auto">
          <a:xfrm>
            <a:off x="1371600" y="160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p:cNvGraphicFramePr>
            <a:graphicFrameLocks noChangeAspect="1"/>
          </p:cNvGraphicFramePr>
          <p:nvPr>
            <p:extLst>
              <p:ext uri="{D42A27DB-BD31-4B8C-83A1-F6EECF244321}">
                <p14:modId xmlns:p14="http://schemas.microsoft.com/office/powerpoint/2010/main" val="2691619834"/>
              </p:ext>
            </p:extLst>
          </p:nvPr>
        </p:nvGraphicFramePr>
        <p:xfrm>
          <a:off x="1371600" y="1600200"/>
          <a:ext cx="5934075" cy="4057650"/>
        </p:xfrm>
        <a:graphic>
          <a:graphicData uri="http://schemas.openxmlformats.org/presentationml/2006/ole">
            <mc:AlternateContent xmlns:mc="http://schemas.openxmlformats.org/markup-compatibility/2006">
              <mc:Choice xmlns:v="urn:schemas-microsoft-com:vml" Requires="v">
                <p:oleObj spid="_x0000_s1054" r:id="rId3" imgW="9953530" imgH="6791447" progId="Visio.Drawing.15">
                  <p:embed/>
                </p:oleObj>
              </mc:Choice>
              <mc:Fallback>
                <p:oleObj r:id="rId3" imgW="9953530" imgH="6791447" progId="Visio.Drawing.15">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600200"/>
                        <a:ext cx="5934075" cy="405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300033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HỆ THỐNG GAME OBJECT</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Thiết kế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22</a:t>
            </a:fld>
            <a:endParaRPr lang="en-US"/>
          </a:p>
        </p:txBody>
      </p:sp>
      <p:sp>
        <p:nvSpPr>
          <p:cNvPr id="8" name="Rectangle 4"/>
          <p:cNvSpPr>
            <a:spLocks noChangeArrowheads="1"/>
          </p:cNvSpPr>
          <p:nvPr/>
        </p:nvSpPr>
        <p:spPr bwMode="auto">
          <a:xfrm>
            <a:off x="1371600" y="160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p:cNvSpPr>
            <a:spLocks noChangeArrowheads="1"/>
          </p:cNvSpPr>
          <p:nvPr/>
        </p:nvSpPr>
        <p:spPr bwMode="auto">
          <a:xfrm>
            <a:off x="1432956" y="1524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2341204719"/>
              </p:ext>
            </p:extLst>
          </p:nvPr>
        </p:nvGraphicFramePr>
        <p:xfrm>
          <a:off x="1432956" y="1676398"/>
          <a:ext cx="5806044" cy="4610101"/>
        </p:xfrm>
        <a:graphic>
          <a:graphicData uri="http://schemas.openxmlformats.org/presentationml/2006/ole">
            <mc:AlternateContent xmlns:mc="http://schemas.openxmlformats.org/markup-compatibility/2006">
              <mc:Choice xmlns:v="urn:schemas-microsoft-com:vml" Requires="v">
                <p:oleObj spid="_x0000_s2076" r:id="rId3" imgW="7791561" imgH="6239036" progId="Visio.Drawing.15">
                  <p:embed/>
                </p:oleObj>
              </mc:Choice>
              <mc:Fallback>
                <p:oleObj r:id="rId3" imgW="7791561" imgH="6239036"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2956" y="1676398"/>
                        <a:ext cx="5806044" cy="4610101"/>
                      </a:xfrm>
                      <a:prstGeom prst="rect">
                        <a:avLst/>
                      </a:prstGeom>
                      <a:noFill/>
                    </p:spPr>
                  </p:pic>
                </p:oleObj>
              </mc:Fallback>
            </mc:AlternateContent>
          </a:graphicData>
        </a:graphic>
      </p:graphicFrame>
    </p:spTree>
    <p:extLst>
      <p:ext uri="{BB962C8B-B14F-4D97-AF65-F5344CB8AC3E}">
        <p14:creationId xmlns:p14="http://schemas.microsoft.com/office/powerpoint/2010/main" val="16765632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Consolas" panose="020B0609020204030204" pitchFamily="49" charset="0"/>
                <a:cs typeface="Consolas" panose="020B0609020204030204" pitchFamily="49" charset="0"/>
              </a:rPr>
              <a:t>HỆ THỐNG </a:t>
            </a:r>
            <a:r>
              <a:rPr lang="vi-VN" smtClean="0">
                <a:latin typeface="Consolas" panose="020B0609020204030204" pitchFamily="49" charset="0"/>
                <a:cs typeface="Consolas" panose="020B0609020204030204" pitchFamily="49" charset="0"/>
              </a:rPr>
              <a:t>BẢN ĐỒ </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Thiết kế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23</a:t>
            </a:fld>
            <a:endParaRPr lang="en-US"/>
          </a:p>
        </p:txBody>
      </p:sp>
      <p:sp>
        <p:nvSpPr>
          <p:cNvPr id="8" name="Rectangle 4"/>
          <p:cNvSpPr>
            <a:spLocks noChangeArrowheads="1"/>
          </p:cNvSpPr>
          <p:nvPr/>
        </p:nvSpPr>
        <p:spPr bwMode="auto">
          <a:xfrm>
            <a:off x="1371600" y="160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p:cNvSpPr>
            <a:spLocks noChangeArrowheads="1"/>
          </p:cNvSpPr>
          <p:nvPr/>
        </p:nvSpPr>
        <p:spPr bwMode="auto">
          <a:xfrm>
            <a:off x="1432956" y="1524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2"/>
          <p:cNvSpPr>
            <a:spLocks noChangeArrowheads="1"/>
          </p:cNvSpPr>
          <p:nvPr/>
        </p:nvSpPr>
        <p:spPr bwMode="auto">
          <a:xfrm>
            <a:off x="1143000"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9" name="Object 8"/>
          <p:cNvGraphicFramePr>
            <a:graphicFrameLocks noChangeAspect="1"/>
          </p:cNvGraphicFramePr>
          <p:nvPr>
            <p:extLst>
              <p:ext uri="{D42A27DB-BD31-4B8C-83A1-F6EECF244321}">
                <p14:modId xmlns:p14="http://schemas.microsoft.com/office/powerpoint/2010/main" val="782855704"/>
              </p:ext>
            </p:extLst>
          </p:nvPr>
        </p:nvGraphicFramePr>
        <p:xfrm>
          <a:off x="1143000" y="1905000"/>
          <a:ext cx="5934075" cy="2524125"/>
        </p:xfrm>
        <a:graphic>
          <a:graphicData uri="http://schemas.openxmlformats.org/presentationml/2006/ole">
            <mc:AlternateContent xmlns:mc="http://schemas.openxmlformats.org/markup-compatibility/2006">
              <mc:Choice xmlns:v="urn:schemas-microsoft-com:vml" Requires="v">
                <p:oleObj spid="_x0000_s3100" r:id="rId3" imgW="8725035" imgH="3695684" progId="Visio.Drawing.15">
                  <p:embed/>
                </p:oleObj>
              </mc:Choice>
              <mc:Fallback>
                <p:oleObj r:id="rId3" imgW="8725035" imgH="3695684"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905000"/>
                        <a:ext cx="5934075" cy="2524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494470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Consolas" panose="020B0609020204030204" pitchFamily="49" charset="0"/>
                <a:cs typeface="Consolas" panose="020B0609020204030204" pitchFamily="49" charset="0"/>
              </a:rPr>
              <a:t>HỆ THỐNG </a:t>
            </a:r>
            <a:r>
              <a:rPr lang="vi-VN" smtClean="0">
                <a:latin typeface="Consolas" panose="020B0609020204030204" pitchFamily="49" charset="0"/>
                <a:cs typeface="Consolas" panose="020B0609020204030204" pitchFamily="49" charset="0"/>
              </a:rPr>
              <a:t>BẢN ĐỒ </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Thiết kế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24</a:t>
            </a:fld>
            <a:endParaRPr lang="en-US"/>
          </a:p>
        </p:txBody>
      </p:sp>
      <p:sp>
        <p:nvSpPr>
          <p:cNvPr id="8" name="Rectangle 4"/>
          <p:cNvSpPr>
            <a:spLocks noChangeArrowheads="1"/>
          </p:cNvSpPr>
          <p:nvPr/>
        </p:nvSpPr>
        <p:spPr bwMode="auto">
          <a:xfrm>
            <a:off x="1371600" y="160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p:cNvSpPr>
            <a:spLocks noChangeArrowheads="1"/>
          </p:cNvSpPr>
          <p:nvPr/>
        </p:nvSpPr>
        <p:spPr bwMode="auto">
          <a:xfrm>
            <a:off x="1432956" y="1524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2"/>
          <p:cNvSpPr>
            <a:spLocks noChangeArrowheads="1"/>
          </p:cNvSpPr>
          <p:nvPr/>
        </p:nvSpPr>
        <p:spPr bwMode="auto">
          <a:xfrm>
            <a:off x="1143000"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flipV="1">
            <a:off x="1371600" y="1094209"/>
            <a:ext cx="810514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0" name="Object 9"/>
          <p:cNvGraphicFramePr>
            <a:graphicFrameLocks noChangeAspect="1"/>
          </p:cNvGraphicFramePr>
          <p:nvPr>
            <p:extLst>
              <p:ext uri="{D42A27DB-BD31-4B8C-83A1-F6EECF244321}">
                <p14:modId xmlns:p14="http://schemas.microsoft.com/office/powerpoint/2010/main" val="2011350802"/>
              </p:ext>
            </p:extLst>
          </p:nvPr>
        </p:nvGraphicFramePr>
        <p:xfrm>
          <a:off x="1371600" y="1676400"/>
          <a:ext cx="5259903" cy="4542260"/>
        </p:xfrm>
        <a:graphic>
          <a:graphicData uri="http://schemas.openxmlformats.org/presentationml/2006/ole">
            <mc:AlternateContent xmlns:mc="http://schemas.openxmlformats.org/markup-compatibility/2006">
              <mc:Choice xmlns:v="urn:schemas-microsoft-com:vml" Requires="v">
                <p:oleObj spid="_x0000_s4124" r:id="rId3" imgW="8305955" imgH="7162863" progId="Visio.Drawing.15">
                  <p:embed/>
                </p:oleObj>
              </mc:Choice>
              <mc:Fallback>
                <p:oleObj r:id="rId3" imgW="8305955" imgH="7162863"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676400"/>
                        <a:ext cx="5259903" cy="4542260"/>
                      </a:xfrm>
                      <a:prstGeom prst="rect">
                        <a:avLst/>
                      </a:prstGeom>
                      <a:noFill/>
                    </p:spPr>
                  </p:pic>
                </p:oleObj>
              </mc:Fallback>
            </mc:AlternateContent>
          </a:graphicData>
        </a:graphic>
      </p:graphicFrame>
    </p:spTree>
    <p:extLst>
      <p:ext uri="{BB962C8B-B14F-4D97-AF65-F5344CB8AC3E}">
        <p14:creationId xmlns:p14="http://schemas.microsoft.com/office/powerpoint/2010/main" val="1575698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Consolas" panose="020B0609020204030204" pitchFamily="49" charset="0"/>
                <a:cs typeface="Consolas" panose="020B0609020204030204" pitchFamily="49" charset="0"/>
              </a:rPr>
              <a:t>HỆ THỐNG DỰNG HÌNH</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Thiết kế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25</a:t>
            </a:fld>
            <a:endParaRPr lang="en-US"/>
          </a:p>
        </p:txBody>
      </p:sp>
      <p:sp>
        <p:nvSpPr>
          <p:cNvPr id="8" name="Rectangle 4"/>
          <p:cNvSpPr>
            <a:spLocks noChangeArrowheads="1"/>
          </p:cNvSpPr>
          <p:nvPr/>
        </p:nvSpPr>
        <p:spPr bwMode="auto">
          <a:xfrm>
            <a:off x="1371600" y="160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p:cNvSpPr>
            <a:spLocks noChangeArrowheads="1"/>
          </p:cNvSpPr>
          <p:nvPr/>
        </p:nvSpPr>
        <p:spPr bwMode="auto">
          <a:xfrm>
            <a:off x="1432956" y="1524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2"/>
          <p:cNvSpPr>
            <a:spLocks noChangeArrowheads="1"/>
          </p:cNvSpPr>
          <p:nvPr/>
        </p:nvSpPr>
        <p:spPr bwMode="auto">
          <a:xfrm>
            <a:off x="1143000"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flipV="1">
            <a:off x="1371600" y="1094209"/>
            <a:ext cx="810514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432956" y="184308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Object 10"/>
          <p:cNvGraphicFramePr>
            <a:graphicFrameLocks noChangeAspect="1"/>
          </p:cNvGraphicFramePr>
          <p:nvPr>
            <p:extLst>
              <p:ext uri="{D42A27DB-BD31-4B8C-83A1-F6EECF244321}">
                <p14:modId xmlns:p14="http://schemas.microsoft.com/office/powerpoint/2010/main" val="1175551095"/>
              </p:ext>
            </p:extLst>
          </p:nvPr>
        </p:nvGraphicFramePr>
        <p:xfrm>
          <a:off x="1432956" y="1843087"/>
          <a:ext cx="5924550" cy="3971925"/>
        </p:xfrm>
        <a:graphic>
          <a:graphicData uri="http://schemas.openxmlformats.org/presentationml/2006/ole">
            <mc:AlternateContent xmlns:mc="http://schemas.openxmlformats.org/markup-compatibility/2006">
              <mc:Choice xmlns:v="urn:schemas-microsoft-com:vml" Requires="v">
                <p:oleObj spid="_x0000_s5149" r:id="rId3" imgW="7782105" imgH="5210006" progId="Visio.Drawing.15">
                  <p:embed/>
                </p:oleObj>
              </mc:Choice>
              <mc:Fallback>
                <p:oleObj r:id="rId3" imgW="7782105" imgH="5210006"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2956" y="1843087"/>
                        <a:ext cx="5924550" cy="397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981011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Consolas" panose="020B0609020204030204" pitchFamily="49" charset="0"/>
                <a:cs typeface="Consolas" panose="020B0609020204030204" pitchFamily="49" charset="0"/>
              </a:rPr>
              <a:t>HỆ THỐNG ÂM THANH</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Thiết kế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26</a:t>
            </a:fld>
            <a:endParaRPr lang="en-US"/>
          </a:p>
        </p:txBody>
      </p:sp>
      <p:sp>
        <p:nvSpPr>
          <p:cNvPr id="8" name="Rectangle 4"/>
          <p:cNvSpPr>
            <a:spLocks noChangeArrowheads="1"/>
          </p:cNvSpPr>
          <p:nvPr/>
        </p:nvSpPr>
        <p:spPr bwMode="auto">
          <a:xfrm>
            <a:off x="1371600" y="160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p:cNvSpPr>
            <a:spLocks noChangeArrowheads="1"/>
          </p:cNvSpPr>
          <p:nvPr/>
        </p:nvSpPr>
        <p:spPr bwMode="auto">
          <a:xfrm>
            <a:off x="1432956" y="1524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2"/>
          <p:cNvSpPr>
            <a:spLocks noChangeArrowheads="1"/>
          </p:cNvSpPr>
          <p:nvPr/>
        </p:nvSpPr>
        <p:spPr bwMode="auto">
          <a:xfrm>
            <a:off x="1143000"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flipV="1">
            <a:off x="1371600" y="1094209"/>
            <a:ext cx="810514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432956" y="184308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2"/>
          <p:cNvSpPr>
            <a:spLocks noChangeArrowheads="1"/>
          </p:cNvSpPr>
          <p:nvPr/>
        </p:nvSpPr>
        <p:spPr bwMode="auto">
          <a:xfrm>
            <a:off x="1143000" y="177693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2" name="Object 11"/>
          <p:cNvGraphicFramePr>
            <a:graphicFrameLocks noChangeAspect="1"/>
          </p:cNvGraphicFramePr>
          <p:nvPr>
            <p:extLst>
              <p:ext uri="{D42A27DB-BD31-4B8C-83A1-F6EECF244321}">
                <p14:modId xmlns:p14="http://schemas.microsoft.com/office/powerpoint/2010/main" val="4223997870"/>
              </p:ext>
            </p:extLst>
          </p:nvPr>
        </p:nvGraphicFramePr>
        <p:xfrm>
          <a:off x="1143000" y="1776937"/>
          <a:ext cx="5934075" cy="3857625"/>
        </p:xfrm>
        <a:graphic>
          <a:graphicData uri="http://schemas.openxmlformats.org/presentationml/2006/ole">
            <mc:AlternateContent xmlns:mc="http://schemas.openxmlformats.org/markup-compatibility/2006">
              <mc:Choice xmlns:v="urn:schemas-microsoft-com:vml" Requires="v">
                <p:oleObj spid="_x0000_s6172" r:id="rId3" imgW="7220054" imgH="4686253" progId="Visio.Drawing.15">
                  <p:embed/>
                </p:oleObj>
              </mc:Choice>
              <mc:Fallback>
                <p:oleObj r:id="rId3" imgW="7220054" imgH="4686253"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776937"/>
                        <a:ext cx="5934075" cy="3857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82386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Consolas" panose="020B0609020204030204" pitchFamily="49" charset="0"/>
                <a:cs typeface="Consolas" panose="020B0609020204030204" pitchFamily="49" charset="0"/>
              </a:rPr>
              <a:t>HỆ THỐNG AI</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Thiết kế game</a:t>
            </a:r>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27</a:t>
            </a:fld>
            <a:endParaRPr lang="en-US"/>
          </a:p>
        </p:txBody>
      </p:sp>
      <p:sp>
        <p:nvSpPr>
          <p:cNvPr id="8" name="Rectangle 4"/>
          <p:cNvSpPr>
            <a:spLocks noChangeArrowheads="1"/>
          </p:cNvSpPr>
          <p:nvPr/>
        </p:nvSpPr>
        <p:spPr bwMode="auto">
          <a:xfrm>
            <a:off x="1371600" y="1600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p:cNvSpPr>
            <a:spLocks noChangeArrowheads="1"/>
          </p:cNvSpPr>
          <p:nvPr/>
        </p:nvSpPr>
        <p:spPr bwMode="auto">
          <a:xfrm>
            <a:off x="1432956" y="1524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2"/>
          <p:cNvSpPr>
            <a:spLocks noChangeArrowheads="1"/>
          </p:cNvSpPr>
          <p:nvPr/>
        </p:nvSpPr>
        <p:spPr bwMode="auto">
          <a:xfrm>
            <a:off x="1143000"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flipV="1">
            <a:off x="1371600" y="1094209"/>
            <a:ext cx="810514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432956" y="184308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2"/>
          <p:cNvSpPr>
            <a:spLocks noChangeArrowheads="1"/>
          </p:cNvSpPr>
          <p:nvPr/>
        </p:nvSpPr>
        <p:spPr bwMode="auto">
          <a:xfrm>
            <a:off x="1143000" y="177693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Rectangle 2"/>
          <p:cNvSpPr>
            <a:spLocks noChangeArrowheads="1"/>
          </p:cNvSpPr>
          <p:nvPr/>
        </p:nvSpPr>
        <p:spPr bwMode="auto">
          <a:xfrm>
            <a:off x="1143000" y="167639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Object 12"/>
          <p:cNvGraphicFramePr>
            <a:graphicFrameLocks noChangeAspect="1"/>
          </p:cNvGraphicFramePr>
          <p:nvPr>
            <p:extLst>
              <p:ext uri="{D42A27DB-BD31-4B8C-83A1-F6EECF244321}">
                <p14:modId xmlns:p14="http://schemas.microsoft.com/office/powerpoint/2010/main" val="1890960259"/>
              </p:ext>
            </p:extLst>
          </p:nvPr>
        </p:nvGraphicFramePr>
        <p:xfrm>
          <a:off x="1143000" y="1676399"/>
          <a:ext cx="5934075" cy="4095750"/>
        </p:xfrm>
        <a:graphic>
          <a:graphicData uri="http://schemas.openxmlformats.org/presentationml/2006/ole">
            <mc:AlternateContent xmlns:mc="http://schemas.openxmlformats.org/markup-compatibility/2006">
              <mc:Choice xmlns:v="urn:schemas-microsoft-com:vml" Requires="v">
                <p:oleObj spid="_x0000_s7196" r:id="rId3" imgW="9991731" imgH="6896273" progId="Visio.Drawing.15">
                  <p:embed/>
                </p:oleObj>
              </mc:Choice>
              <mc:Fallback>
                <p:oleObj r:id="rId3" imgW="9991731" imgH="6896273"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676399"/>
                        <a:ext cx="5934075" cy="409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151643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dirty="0">
                <a:latin typeface="Consolas" panose="020B0609020204030204" pitchFamily="49" charset="0"/>
                <a:cs typeface="Consolas" panose="020B0609020204030204" pitchFamily="49" charset="0"/>
              </a:rPr>
              <a:t>SƠ ĐỒ KẾ THỪA </a:t>
            </a:r>
            <a:r>
              <a:rPr lang="vi-VN" dirty="0" err="1">
                <a:latin typeface="Consolas" panose="020B0609020204030204" pitchFamily="49" charset="0"/>
                <a:cs typeface="Consolas" panose="020B0609020204030204" pitchFamily="49" charset="0"/>
              </a:rPr>
              <a:t>GAME</a:t>
            </a:r>
            <a:r>
              <a:rPr lang="vi-VN" dirty="0">
                <a:latin typeface="Consolas" panose="020B0609020204030204" pitchFamily="49" charset="0"/>
                <a:cs typeface="Consolas" panose="020B0609020204030204" pitchFamily="49" charset="0"/>
              </a:rPr>
              <a:t> </a:t>
            </a:r>
            <a:r>
              <a:rPr lang="vi-VN" dirty="0" err="1">
                <a:latin typeface="Consolas" panose="020B0609020204030204" pitchFamily="49" charset="0"/>
                <a:cs typeface="Consolas" panose="020B0609020204030204" pitchFamily="49" charset="0"/>
              </a:rPr>
              <a:t>OBJECT</a:t>
            </a:r>
            <a:r>
              <a:rPr lang="vi-VN" dirty="0">
                <a:latin typeface="Consolas" panose="020B0609020204030204" pitchFamily="49" charset="0"/>
                <a:cs typeface="Consolas" panose="020B0609020204030204" pitchFamily="49" charset="0"/>
              </a:rPr>
              <a:t> </a:t>
            </a:r>
            <a:endParaRPr lang="vi-VN" dirty="0"/>
          </a:p>
        </p:txBody>
      </p:sp>
      <p:sp>
        <p:nvSpPr>
          <p:cNvPr id="4" name="Chỗ dành sẵn cho Chân trang 3"/>
          <p:cNvSpPr>
            <a:spLocks noGrp="1"/>
          </p:cNvSpPr>
          <p:nvPr>
            <p:ph type="ftr" sz="quarter" idx="11"/>
          </p:nvPr>
        </p:nvSpPr>
        <p:spPr/>
        <p:txBody>
          <a:bodyPr/>
          <a:lstStyle/>
          <a:p>
            <a:r>
              <a:rPr lang="en-US" smtClean="0"/>
              <a:t>Giới thiệu</a:t>
            </a:r>
            <a:endParaRPr lang="en-US"/>
          </a:p>
        </p:txBody>
      </p:sp>
      <p:sp>
        <p:nvSpPr>
          <p:cNvPr id="5" name="Chỗ dành sẵn cho Số hiệu Bản chiếu 4"/>
          <p:cNvSpPr>
            <a:spLocks noGrp="1"/>
          </p:cNvSpPr>
          <p:nvPr>
            <p:ph type="sldNum" sz="quarter" idx="12"/>
          </p:nvPr>
        </p:nvSpPr>
        <p:spPr/>
        <p:txBody>
          <a:bodyPr/>
          <a:lstStyle/>
          <a:p>
            <a:fld id="{E31375A4-56A4-47D6-9801-1991572033F7}" type="slidenum">
              <a:rPr lang="en-US" smtClean="0"/>
              <a:t>28</a:t>
            </a:fld>
            <a:endParaRPr lang="en-US"/>
          </a:p>
        </p:txBody>
      </p:sp>
      <p:graphicFrame>
        <p:nvGraphicFramePr>
          <p:cNvPr id="7" name="Object 13"/>
          <p:cNvGraphicFramePr>
            <a:graphicFrameLocks noChangeAspect="1"/>
          </p:cNvGraphicFramePr>
          <p:nvPr>
            <p:extLst>
              <p:ext uri="{D42A27DB-BD31-4B8C-83A1-F6EECF244321}">
                <p14:modId xmlns:p14="http://schemas.microsoft.com/office/powerpoint/2010/main" val="2516990461"/>
              </p:ext>
            </p:extLst>
          </p:nvPr>
        </p:nvGraphicFramePr>
        <p:xfrm>
          <a:off x="795041" y="1828800"/>
          <a:ext cx="7205959" cy="4305300"/>
        </p:xfrm>
        <a:graphic>
          <a:graphicData uri="http://schemas.openxmlformats.org/presentationml/2006/ole">
            <mc:AlternateContent xmlns:mc="http://schemas.openxmlformats.org/markup-compatibility/2006">
              <mc:Choice xmlns:v="urn:schemas-microsoft-com:vml" Requires="v">
                <p:oleObj spid="_x0000_s15365" name="Visio" r:id="rId3" imgW="8563152" imgH="4914759" progId="Visio.Drawing.15">
                  <p:embed/>
                </p:oleObj>
              </mc:Choice>
              <mc:Fallback>
                <p:oleObj name="Visio" r:id="rId3" imgW="8563152" imgH="4914759" progId="Visio.Drawing.15">
                  <p:embed/>
                  <p:pic>
                    <p:nvPicPr>
                      <p:cNvPr id="0" name=""/>
                      <p:cNvPicPr>
                        <a:picLocks noChangeAspect="1" noChangeArrowheads="1"/>
                      </p:cNvPicPr>
                      <p:nvPr/>
                    </p:nvPicPr>
                    <p:blipFill>
                      <a:blip r:embed="rId4"/>
                      <a:srcRect/>
                      <a:stretch>
                        <a:fillRect/>
                      </a:stretch>
                    </p:blipFill>
                    <p:spPr bwMode="auto">
                      <a:xfrm>
                        <a:off x="795041" y="1828800"/>
                        <a:ext cx="7205959" cy="4305300"/>
                      </a:xfrm>
                      <a:prstGeom prst="rect">
                        <a:avLst/>
                      </a:prstGeom>
                      <a:noFill/>
                    </p:spPr>
                  </p:pic>
                </p:oleObj>
              </mc:Fallback>
            </mc:AlternateContent>
          </a:graphicData>
        </a:graphic>
      </p:graphicFrame>
    </p:spTree>
    <p:extLst>
      <p:ext uri="{BB962C8B-B14F-4D97-AF65-F5344CB8AC3E}">
        <p14:creationId xmlns:p14="http://schemas.microsoft.com/office/powerpoint/2010/main" val="22378642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dirty="0" err="1">
                <a:latin typeface="Consolas" panose="020B0609020204030204" pitchFamily="49" charset="0"/>
                <a:cs typeface="Consolas" panose="020B0609020204030204" pitchFamily="49" charset="0"/>
              </a:rPr>
              <a:t>GAME</a:t>
            </a:r>
            <a:r>
              <a:rPr lang="vi-VN" dirty="0">
                <a:latin typeface="Consolas" panose="020B0609020204030204" pitchFamily="49" charset="0"/>
                <a:cs typeface="Consolas" panose="020B0609020204030204" pitchFamily="49" charset="0"/>
              </a:rPr>
              <a:t> </a:t>
            </a:r>
            <a:r>
              <a:rPr lang="vi-VN" dirty="0" err="1">
                <a:latin typeface="Consolas" panose="020B0609020204030204" pitchFamily="49" charset="0"/>
                <a:cs typeface="Consolas" panose="020B0609020204030204" pitchFamily="49" charset="0"/>
              </a:rPr>
              <a:t>UNIT</a:t>
            </a:r>
            <a:endParaRPr lang="vi-VN" dirty="0"/>
          </a:p>
        </p:txBody>
      </p:sp>
      <p:sp>
        <p:nvSpPr>
          <p:cNvPr id="3" name="Chỗ dành sẵn cho Nội dung 2"/>
          <p:cNvSpPr>
            <a:spLocks noGrp="1"/>
          </p:cNvSpPr>
          <p:nvPr>
            <p:ph idx="1"/>
          </p:nvPr>
        </p:nvSpPr>
        <p:spPr/>
        <p:txBody>
          <a:bodyPr/>
          <a:lstStyle/>
          <a:p>
            <a:r>
              <a:rPr lang="vi-VN" dirty="0" smtClean="0"/>
              <a:t>Kế thừa từ </a:t>
            </a:r>
            <a:r>
              <a:rPr lang="vi-VN" dirty="0" err="1" smtClean="0"/>
              <a:t>Game</a:t>
            </a:r>
            <a:r>
              <a:rPr lang="vi-VN" dirty="0" smtClean="0"/>
              <a:t> </a:t>
            </a:r>
            <a:r>
              <a:rPr lang="vi-VN" dirty="0" err="1" smtClean="0"/>
              <a:t>Object</a:t>
            </a:r>
            <a:endParaRPr lang="vi-VN" dirty="0" smtClean="0"/>
          </a:p>
          <a:p>
            <a:r>
              <a:rPr lang="vi-VN" dirty="0" smtClean="0"/>
              <a:t>Tổ chức theo </a:t>
            </a:r>
            <a:r>
              <a:rPr lang="vi-VN" dirty="0" err="1" smtClean="0"/>
              <a:t>state</a:t>
            </a:r>
            <a:r>
              <a:rPr lang="vi-VN" dirty="0" smtClean="0"/>
              <a:t> </a:t>
            </a:r>
            <a:r>
              <a:rPr lang="vi-VN" dirty="0" err="1" smtClean="0"/>
              <a:t>machine</a:t>
            </a:r>
            <a:endParaRPr lang="vi-VN" dirty="0" smtClean="0"/>
          </a:p>
        </p:txBody>
      </p:sp>
      <p:sp>
        <p:nvSpPr>
          <p:cNvPr id="4" name="Chỗ dành sẵn cho Chân trang 3"/>
          <p:cNvSpPr>
            <a:spLocks noGrp="1"/>
          </p:cNvSpPr>
          <p:nvPr>
            <p:ph type="ftr" sz="quarter" idx="11"/>
          </p:nvPr>
        </p:nvSpPr>
        <p:spPr/>
        <p:txBody>
          <a:bodyPr/>
          <a:lstStyle/>
          <a:p>
            <a:r>
              <a:rPr lang="en-US" smtClean="0"/>
              <a:t>Giới thiệu</a:t>
            </a:r>
            <a:endParaRPr lang="en-US"/>
          </a:p>
        </p:txBody>
      </p:sp>
      <p:sp>
        <p:nvSpPr>
          <p:cNvPr id="5" name="Chỗ dành sẵn cho Số hiệu Bản chiếu 4"/>
          <p:cNvSpPr>
            <a:spLocks noGrp="1"/>
          </p:cNvSpPr>
          <p:nvPr>
            <p:ph type="sldNum" sz="quarter" idx="12"/>
          </p:nvPr>
        </p:nvSpPr>
        <p:spPr/>
        <p:txBody>
          <a:bodyPr/>
          <a:lstStyle/>
          <a:p>
            <a:fld id="{E31375A4-56A4-47D6-9801-1991572033F7}" type="slidenum">
              <a:rPr lang="en-US" smtClean="0"/>
              <a:t>29</a:t>
            </a:fld>
            <a:endParaRPr lang="en-US"/>
          </a:p>
        </p:txBody>
      </p:sp>
    </p:spTree>
    <p:extLst>
      <p:ext uri="{BB962C8B-B14F-4D97-AF65-F5344CB8AC3E}">
        <p14:creationId xmlns:p14="http://schemas.microsoft.com/office/powerpoint/2010/main" val="27187497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dirty="0" err="1">
                <a:latin typeface="Consolas" panose="020B0609020204030204" pitchFamily="49" charset="0"/>
                <a:cs typeface="Consolas" panose="020B0609020204030204" pitchFamily="49" charset="0"/>
              </a:rPr>
              <a:t>GAME</a:t>
            </a:r>
            <a:r>
              <a:rPr lang="vi-VN" dirty="0">
                <a:latin typeface="Consolas" panose="020B0609020204030204" pitchFamily="49" charset="0"/>
                <a:cs typeface="Consolas" panose="020B0609020204030204" pitchFamily="49" charset="0"/>
              </a:rPr>
              <a:t> </a:t>
            </a:r>
            <a:r>
              <a:rPr lang="vi-VN" dirty="0" err="1">
                <a:latin typeface="Consolas" panose="020B0609020204030204" pitchFamily="49" charset="0"/>
                <a:cs typeface="Consolas" panose="020B0609020204030204" pitchFamily="49" charset="0"/>
              </a:rPr>
              <a:t>UNIT</a:t>
            </a:r>
            <a:endParaRPr lang="vi-VN" dirty="0"/>
          </a:p>
        </p:txBody>
      </p:sp>
      <p:sp>
        <p:nvSpPr>
          <p:cNvPr id="3" name="Chỗ dành sẵn cho Nội dung 2"/>
          <p:cNvSpPr>
            <a:spLocks noGrp="1"/>
          </p:cNvSpPr>
          <p:nvPr>
            <p:ph idx="1"/>
          </p:nvPr>
        </p:nvSpPr>
        <p:spPr/>
        <p:txBody>
          <a:bodyPr/>
          <a:lstStyle/>
          <a:p>
            <a:r>
              <a:rPr lang="vi-VN" dirty="0" smtClean="0"/>
              <a:t>Kế thừa từ </a:t>
            </a:r>
            <a:r>
              <a:rPr lang="vi-VN" dirty="0" err="1" smtClean="0"/>
              <a:t>Game</a:t>
            </a:r>
            <a:r>
              <a:rPr lang="vi-VN" dirty="0" smtClean="0"/>
              <a:t> </a:t>
            </a:r>
            <a:r>
              <a:rPr lang="vi-VN" dirty="0" err="1" smtClean="0"/>
              <a:t>Object</a:t>
            </a:r>
            <a:endParaRPr lang="vi-VN" dirty="0" smtClean="0"/>
          </a:p>
          <a:p>
            <a:r>
              <a:rPr lang="vi-VN" dirty="0"/>
              <a:t>Tổ chức theo </a:t>
            </a:r>
            <a:r>
              <a:rPr lang="vi-VN" dirty="0" err="1"/>
              <a:t>state</a:t>
            </a:r>
            <a:r>
              <a:rPr lang="vi-VN" dirty="0"/>
              <a:t> </a:t>
            </a:r>
            <a:r>
              <a:rPr lang="vi-VN" dirty="0" err="1"/>
              <a:t>machine</a:t>
            </a:r>
            <a:endParaRPr lang="vi-VN" dirty="0"/>
          </a:p>
        </p:txBody>
      </p:sp>
      <p:sp>
        <p:nvSpPr>
          <p:cNvPr id="4" name="Chỗ dành sẵn cho Chân trang 3"/>
          <p:cNvSpPr>
            <a:spLocks noGrp="1"/>
          </p:cNvSpPr>
          <p:nvPr>
            <p:ph type="ftr" sz="quarter" idx="11"/>
          </p:nvPr>
        </p:nvSpPr>
        <p:spPr/>
        <p:txBody>
          <a:bodyPr/>
          <a:lstStyle/>
          <a:p>
            <a:r>
              <a:rPr lang="en-US" dirty="0" err="1" smtClean="0"/>
              <a:t>Giới</a:t>
            </a:r>
            <a:r>
              <a:rPr lang="en-US" dirty="0" smtClean="0"/>
              <a:t> </a:t>
            </a:r>
            <a:r>
              <a:rPr lang="en-US" dirty="0" err="1" smtClean="0"/>
              <a:t>thiệu</a:t>
            </a:r>
            <a:endParaRPr lang="en-US" dirty="0"/>
          </a:p>
        </p:txBody>
      </p:sp>
      <p:sp>
        <p:nvSpPr>
          <p:cNvPr id="5" name="Chỗ dành sẵn cho Số hiệu Bản chiếu 4"/>
          <p:cNvSpPr>
            <a:spLocks noGrp="1"/>
          </p:cNvSpPr>
          <p:nvPr>
            <p:ph type="sldNum" sz="quarter" idx="12"/>
          </p:nvPr>
        </p:nvSpPr>
        <p:spPr/>
        <p:txBody>
          <a:bodyPr/>
          <a:lstStyle/>
          <a:p>
            <a:fld id="{E31375A4-56A4-47D6-9801-1991572033F7}" type="slidenum">
              <a:rPr lang="en-US" smtClean="0"/>
              <a:t>30</a:t>
            </a:fld>
            <a:endParaRPr lang="en-US"/>
          </a:p>
        </p:txBody>
      </p:sp>
      <p:grpSp>
        <p:nvGrpSpPr>
          <p:cNvPr id="14" name="Nhóm 13"/>
          <p:cNvGrpSpPr/>
          <p:nvPr/>
        </p:nvGrpSpPr>
        <p:grpSpPr>
          <a:xfrm>
            <a:off x="1143000" y="2857411"/>
            <a:ext cx="7195689" cy="2961590"/>
            <a:chOff x="1495650" y="2776537"/>
            <a:chExt cx="7195689" cy="2961590"/>
          </a:xfrm>
        </p:grpSpPr>
        <p:graphicFrame>
          <p:nvGraphicFramePr>
            <p:cNvPr id="6" name="Object 6"/>
            <p:cNvGraphicFramePr>
              <a:graphicFrameLocks noChangeAspect="1"/>
            </p:cNvGraphicFramePr>
            <p:nvPr>
              <p:extLst>
                <p:ext uri="{D42A27DB-BD31-4B8C-83A1-F6EECF244321}">
                  <p14:modId xmlns:p14="http://schemas.microsoft.com/office/powerpoint/2010/main" val="3033409472"/>
                </p:ext>
              </p:extLst>
            </p:nvPr>
          </p:nvGraphicFramePr>
          <p:xfrm>
            <a:off x="1495650" y="2776537"/>
            <a:ext cx="3876675" cy="2371725"/>
          </p:xfrm>
          <a:graphic>
            <a:graphicData uri="http://schemas.openxmlformats.org/presentationml/2006/ole">
              <mc:AlternateContent xmlns:mc="http://schemas.openxmlformats.org/markup-compatibility/2006">
                <mc:Choice xmlns:v="urn:schemas-microsoft-com:vml" Requires="v">
                  <p:oleObj spid="_x0000_s13319" r:id="rId3" imgW="5858043" imgH="3600285" progId="Visio.Drawing.15">
                    <p:embed/>
                  </p:oleObj>
                </mc:Choice>
                <mc:Fallback>
                  <p:oleObj r:id="rId3" imgW="5858043" imgH="3600285" progId="Visio.Drawing.15">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5650" y="2776537"/>
                          <a:ext cx="3876675" cy="2371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Nhóm 6"/>
            <p:cNvGrpSpPr/>
            <p:nvPr/>
          </p:nvGrpSpPr>
          <p:grpSpPr>
            <a:xfrm>
              <a:off x="5682616" y="3629048"/>
              <a:ext cx="1689734" cy="1295400"/>
              <a:chOff x="5459297" y="3828365"/>
              <a:chExt cx="1689734" cy="1295400"/>
            </a:xfrm>
          </p:grpSpPr>
          <p:sp>
            <p:nvSpPr>
              <p:cNvPr id="8" name="TextBox 13"/>
              <p:cNvSpPr txBox="1"/>
              <p:nvPr/>
            </p:nvSpPr>
            <p:spPr>
              <a:xfrm>
                <a:off x="5788639" y="4800600"/>
                <a:ext cx="1031051" cy="323165"/>
              </a:xfrm>
              <a:prstGeom prst="rect">
                <a:avLst/>
              </a:prstGeom>
              <a:noFill/>
            </p:spPr>
            <p:txBody>
              <a:bodyPr wrap="none" rtlCol="0">
                <a:spAutoFit/>
              </a:bodyPr>
              <a:lstStyle/>
              <a:p>
                <a:r>
                  <a:rPr lang="en-US" sz="1500" dirty="0" err="1" smtClean="0">
                    <a:latin typeface="+mj-lt"/>
                  </a:rPr>
                  <a:t>Trụ</a:t>
                </a:r>
                <a:r>
                  <a:rPr lang="en-US" sz="1500" dirty="0" smtClean="0">
                    <a:latin typeface="+mj-lt"/>
                  </a:rPr>
                  <a:t> </a:t>
                </a:r>
                <a:r>
                  <a:rPr lang="en-US" sz="1500" dirty="0" err="1" smtClean="0">
                    <a:latin typeface="+mj-lt"/>
                  </a:rPr>
                  <a:t>điện</a:t>
                </a:r>
                <a:endParaRPr lang="en-US" sz="1500" dirty="0">
                  <a:latin typeface="+mj-lt"/>
                </a:endParaRPr>
              </a:p>
            </p:txBody>
          </p:sp>
          <p:pic>
            <p:nvPicPr>
              <p:cNvPr id="9" name="Ảnh 19" descr="C:\Users\Ngo\Downloads\New folder\game\IMG\Unit\Construction\teslatower\build\img (25).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459297" y="3828365"/>
                <a:ext cx="1689734" cy="1170700"/>
              </a:xfrm>
              <a:prstGeom prst="rect">
                <a:avLst/>
              </a:prstGeom>
              <a:noFill/>
              <a:ln>
                <a:noFill/>
              </a:ln>
            </p:spPr>
          </p:pic>
        </p:grpSp>
        <p:grpSp>
          <p:nvGrpSpPr>
            <p:cNvPr id="10" name="Nhóm 9"/>
            <p:cNvGrpSpPr/>
            <p:nvPr/>
          </p:nvGrpSpPr>
          <p:grpSpPr>
            <a:xfrm>
              <a:off x="7011352" y="3563008"/>
              <a:ext cx="1679987" cy="1380490"/>
              <a:chOff x="7100781" y="3419684"/>
              <a:chExt cx="1679987" cy="1380490"/>
            </a:xfrm>
          </p:grpSpPr>
          <p:sp>
            <p:nvSpPr>
              <p:cNvPr id="11" name="TextBox 14"/>
              <p:cNvSpPr txBox="1"/>
              <p:nvPr/>
            </p:nvSpPr>
            <p:spPr>
              <a:xfrm>
                <a:off x="7343146" y="4466206"/>
                <a:ext cx="1136850" cy="323165"/>
              </a:xfrm>
              <a:prstGeom prst="rect">
                <a:avLst/>
              </a:prstGeom>
              <a:noFill/>
            </p:spPr>
            <p:txBody>
              <a:bodyPr wrap="none" rtlCol="0">
                <a:spAutoFit/>
              </a:bodyPr>
              <a:lstStyle/>
              <a:p>
                <a:r>
                  <a:rPr lang="en-US" sz="1500" dirty="0" err="1" smtClean="0">
                    <a:latin typeface="+mj-lt"/>
                  </a:rPr>
                  <a:t>Trụ</a:t>
                </a:r>
                <a:r>
                  <a:rPr lang="en-US" sz="1500" dirty="0" smtClean="0">
                    <a:latin typeface="+mj-lt"/>
                  </a:rPr>
                  <a:t> </a:t>
                </a:r>
                <a:r>
                  <a:rPr lang="en-US" sz="1500" dirty="0" err="1" smtClean="0">
                    <a:latin typeface="+mj-lt"/>
                  </a:rPr>
                  <a:t>lazer</a:t>
                </a:r>
                <a:endParaRPr lang="en-US" sz="1500" dirty="0">
                  <a:latin typeface="+mj-lt"/>
                </a:endParaRPr>
              </a:p>
            </p:txBody>
          </p:sp>
          <p:pic>
            <p:nvPicPr>
              <p:cNvPr id="12" name="Ảnh 11" descr="C:\Users\Ngo\Downloads\New folder\game\IMG\Unit\Construction\primtower\build\img (8).pn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7100781" y="3419684"/>
                <a:ext cx="1679987" cy="1380490"/>
              </a:xfrm>
              <a:prstGeom prst="rect">
                <a:avLst/>
              </a:prstGeom>
              <a:noFill/>
              <a:ln>
                <a:noFill/>
              </a:ln>
            </p:spPr>
          </p:pic>
        </p:grpSp>
        <p:sp>
          <p:nvSpPr>
            <p:cNvPr id="13" name="Hộp Văn bản 12"/>
            <p:cNvSpPr txBox="1"/>
            <p:nvPr/>
          </p:nvSpPr>
          <p:spPr>
            <a:xfrm>
              <a:off x="3581400" y="5414962"/>
              <a:ext cx="2829621" cy="323165"/>
            </a:xfrm>
            <a:prstGeom prst="rect">
              <a:avLst/>
            </a:prstGeom>
            <a:noFill/>
          </p:spPr>
          <p:txBody>
            <a:bodyPr wrap="none" rtlCol="0">
              <a:spAutoFit/>
            </a:bodyPr>
            <a:lstStyle/>
            <a:p>
              <a:pPr marL="0" lvl="2"/>
              <a:r>
                <a:rPr lang="vi-VN" sz="1500" i="1" dirty="0" err="1">
                  <a:latin typeface="Consolas" panose="020B0609020204030204" pitchFamily="49" charset="0"/>
                  <a:cs typeface="Consolas" panose="020B0609020204030204" pitchFamily="49" charset="0"/>
                </a:rPr>
                <a:t>Defense</a:t>
              </a:r>
              <a:r>
                <a:rPr lang="vi-VN" sz="1500" i="1" dirty="0">
                  <a:latin typeface="Consolas" panose="020B0609020204030204" pitchFamily="49" charset="0"/>
                  <a:cs typeface="Consolas" panose="020B0609020204030204" pitchFamily="49" charset="0"/>
                </a:rPr>
                <a:t> </a:t>
              </a:r>
              <a:r>
                <a:rPr lang="vi-VN" sz="1500" i="1" dirty="0" err="1" smtClean="0">
                  <a:latin typeface="Consolas" panose="020B0609020204030204" pitchFamily="49" charset="0"/>
                  <a:cs typeface="Consolas" panose="020B0609020204030204" pitchFamily="49" charset="0"/>
                </a:rPr>
                <a:t>construction</a:t>
              </a:r>
              <a:r>
                <a:rPr lang="vi-VN" sz="1500" i="1" dirty="0" smtClean="0">
                  <a:latin typeface="Consolas" panose="020B0609020204030204" pitchFamily="49" charset="0"/>
                  <a:cs typeface="Consolas" panose="020B0609020204030204" pitchFamily="49" charset="0"/>
                </a:rPr>
                <a:t> </a:t>
              </a:r>
              <a:r>
                <a:rPr lang="vi-VN" sz="1500" i="1" dirty="0" err="1" smtClean="0">
                  <a:latin typeface="Consolas" panose="020B0609020204030204" pitchFamily="49" charset="0"/>
                  <a:cs typeface="Consolas" panose="020B0609020204030204" pitchFamily="49" charset="0"/>
                </a:rPr>
                <a:t>unit</a:t>
              </a:r>
              <a:endParaRPr lang="en-US" sz="1500" i="1" dirty="0">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41270652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p:cNvSpPr>
            <a:spLocks noGrp="1"/>
          </p:cNvSpPr>
          <p:nvPr>
            <p:ph type="title"/>
          </p:nvPr>
        </p:nvSpPr>
        <p:spPr/>
        <p:txBody>
          <a:bodyPr/>
          <a:lstStyle/>
          <a:p>
            <a:r>
              <a:rPr lang="vi-VN" dirty="0" err="1">
                <a:latin typeface="Consolas" panose="020B0609020204030204" pitchFamily="49" charset="0"/>
                <a:cs typeface="Consolas" panose="020B0609020204030204" pitchFamily="49" charset="0"/>
              </a:rPr>
              <a:t>GAME</a:t>
            </a:r>
            <a:r>
              <a:rPr lang="vi-VN" dirty="0">
                <a:latin typeface="Consolas" panose="020B0609020204030204" pitchFamily="49" charset="0"/>
                <a:cs typeface="Consolas" panose="020B0609020204030204" pitchFamily="49" charset="0"/>
              </a:rPr>
              <a:t> </a:t>
            </a:r>
            <a:r>
              <a:rPr lang="vi-VN" dirty="0" err="1">
                <a:latin typeface="Consolas" panose="020B0609020204030204" pitchFamily="49" charset="0"/>
                <a:cs typeface="Consolas" panose="020B0609020204030204" pitchFamily="49" charset="0"/>
              </a:rPr>
              <a:t>UNIT</a:t>
            </a:r>
            <a:endParaRPr lang="vi-VN" dirty="0"/>
          </a:p>
        </p:txBody>
      </p:sp>
      <p:sp>
        <p:nvSpPr>
          <p:cNvPr id="3" name="Chỗ dành sẵn cho Nội dung 2"/>
          <p:cNvSpPr>
            <a:spLocks noGrp="1"/>
          </p:cNvSpPr>
          <p:nvPr>
            <p:ph idx="1"/>
          </p:nvPr>
        </p:nvSpPr>
        <p:spPr/>
        <p:txBody>
          <a:bodyPr/>
          <a:lstStyle/>
          <a:p>
            <a:r>
              <a:rPr lang="vi-VN" dirty="0" smtClean="0"/>
              <a:t>Kế thừa từ </a:t>
            </a:r>
            <a:r>
              <a:rPr lang="vi-VN" dirty="0" err="1" smtClean="0"/>
              <a:t>Game</a:t>
            </a:r>
            <a:r>
              <a:rPr lang="vi-VN" dirty="0" smtClean="0"/>
              <a:t> </a:t>
            </a:r>
            <a:r>
              <a:rPr lang="vi-VN" dirty="0" err="1" smtClean="0"/>
              <a:t>Object</a:t>
            </a:r>
            <a:endParaRPr lang="vi-VN" dirty="0" smtClean="0"/>
          </a:p>
          <a:p>
            <a:r>
              <a:rPr lang="vi-VN" dirty="0"/>
              <a:t>Tổ chức theo </a:t>
            </a:r>
            <a:r>
              <a:rPr lang="vi-VN" dirty="0" err="1"/>
              <a:t>state</a:t>
            </a:r>
            <a:r>
              <a:rPr lang="vi-VN" dirty="0"/>
              <a:t> </a:t>
            </a:r>
            <a:r>
              <a:rPr lang="vi-VN" dirty="0" err="1"/>
              <a:t>machine</a:t>
            </a:r>
            <a:endParaRPr lang="vi-VN" dirty="0"/>
          </a:p>
        </p:txBody>
      </p:sp>
      <p:sp>
        <p:nvSpPr>
          <p:cNvPr id="4" name="Chỗ dành sẵn cho Chân trang 3"/>
          <p:cNvSpPr>
            <a:spLocks noGrp="1"/>
          </p:cNvSpPr>
          <p:nvPr>
            <p:ph type="ftr" sz="quarter" idx="11"/>
          </p:nvPr>
        </p:nvSpPr>
        <p:spPr/>
        <p:txBody>
          <a:bodyPr/>
          <a:lstStyle/>
          <a:p>
            <a:r>
              <a:rPr lang="en-US" smtClean="0"/>
              <a:t>Giới thiệu</a:t>
            </a:r>
            <a:endParaRPr lang="en-US"/>
          </a:p>
        </p:txBody>
      </p:sp>
      <p:sp>
        <p:nvSpPr>
          <p:cNvPr id="5" name="Chỗ dành sẵn cho Số hiệu Bản chiếu 4"/>
          <p:cNvSpPr>
            <a:spLocks noGrp="1"/>
          </p:cNvSpPr>
          <p:nvPr>
            <p:ph type="sldNum" sz="quarter" idx="12"/>
          </p:nvPr>
        </p:nvSpPr>
        <p:spPr/>
        <p:txBody>
          <a:bodyPr/>
          <a:lstStyle/>
          <a:p>
            <a:fld id="{E31375A4-56A4-47D6-9801-1991572033F7}" type="slidenum">
              <a:rPr lang="en-US" smtClean="0"/>
              <a:t>31</a:t>
            </a:fld>
            <a:endParaRPr lang="en-US"/>
          </a:p>
        </p:txBody>
      </p:sp>
      <p:grpSp>
        <p:nvGrpSpPr>
          <p:cNvPr id="14" name="Nhóm 13"/>
          <p:cNvGrpSpPr/>
          <p:nvPr/>
        </p:nvGrpSpPr>
        <p:grpSpPr>
          <a:xfrm>
            <a:off x="1564848" y="2971800"/>
            <a:ext cx="5899068" cy="3230401"/>
            <a:chOff x="1564848" y="2971800"/>
            <a:chExt cx="5899068" cy="3230401"/>
          </a:xfrm>
        </p:grpSpPr>
        <p:graphicFrame>
          <p:nvGraphicFramePr>
            <p:cNvPr id="6" name="Object 10"/>
            <p:cNvGraphicFramePr>
              <a:graphicFrameLocks noChangeAspect="1"/>
            </p:cNvGraphicFramePr>
            <p:nvPr>
              <p:extLst>
                <p:ext uri="{D42A27DB-BD31-4B8C-83A1-F6EECF244321}">
                  <p14:modId xmlns:p14="http://schemas.microsoft.com/office/powerpoint/2010/main" val="3263007401"/>
                </p:ext>
              </p:extLst>
            </p:nvPr>
          </p:nvGraphicFramePr>
          <p:xfrm>
            <a:off x="1564848" y="2971800"/>
            <a:ext cx="3007152" cy="2802119"/>
          </p:xfrm>
          <a:graphic>
            <a:graphicData uri="http://schemas.openxmlformats.org/presentationml/2006/ole">
              <mc:AlternateContent xmlns:mc="http://schemas.openxmlformats.org/markup-compatibility/2006">
                <mc:Choice xmlns:v="urn:schemas-microsoft-com:vml" Requires="v">
                  <p:oleObj spid="_x0000_s14343" r:id="rId3" imgW="4076745" imgH="3810045" progId="Visio.Drawing.15">
                    <p:embed/>
                  </p:oleObj>
                </mc:Choice>
                <mc:Fallback>
                  <p:oleObj r:id="rId3" imgW="4076745" imgH="3810045" progId="Visio.Drawing.15">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4848" y="2971800"/>
                          <a:ext cx="3007152" cy="2802119"/>
                        </a:xfrm>
                        <a:prstGeom prst="rect">
                          <a:avLst/>
                        </a:prstGeom>
                        <a:noFill/>
                        <a:extLst/>
                      </p:spPr>
                    </p:pic>
                  </p:oleObj>
                </mc:Fallback>
              </mc:AlternateContent>
            </a:graphicData>
          </a:graphic>
        </p:graphicFrame>
        <p:grpSp>
          <p:nvGrpSpPr>
            <p:cNvPr id="7" name="Nhóm 6"/>
            <p:cNvGrpSpPr/>
            <p:nvPr/>
          </p:nvGrpSpPr>
          <p:grpSpPr>
            <a:xfrm>
              <a:off x="5144493" y="3869914"/>
              <a:ext cx="925253" cy="936214"/>
              <a:chOff x="5841538" y="3657600"/>
              <a:chExt cx="925253" cy="936214"/>
            </a:xfrm>
          </p:grpSpPr>
          <p:pic>
            <p:nvPicPr>
              <p:cNvPr id="8" name="Ảnh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99403" y="3657600"/>
                <a:ext cx="609524" cy="546032"/>
              </a:xfrm>
              <a:prstGeom prst="rect">
                <a:avLst/>
              </a:prstGeom>
            </p:spPr>
          </p:pic>
          <p:sp>
            <p:nvSpPr>
              <p:cNvPr id="9" name="TextBox 13"/>
              <p:cNvSpPr txBox="1"/>
              <p:nvPr/>
            </p:nvSpPr>
            <p:spPr>
              <a:xfrm>
                <a:off x="5841538" y="4270649"/>
                <a:ext cx="925253" cy="323165"/>
              </a:xfrm>
              <a:prstGeom prst="rect">
                <a:avLst/>
              </a:prstGeom>
              <a:noFill/>
            </p:spPr>
            <p:txBody>
              <a:bodyPr wrap="none" rtlCol="0">
                <a:spAutoFit/>
              </a:bodyPr>
              <a:lstStyle/>
              <a:p>
                <a:r>
                  <a:rPr lang="en-US" sz="1500" dirty="0" err="1" smtClean="0">
                    <a:latin typeface="+mj-lt"/>
                  </a:rPr>
                  <a:t>Bộ</a:t>
                </a:r>
                <a:r>
                  <a:rPr lang="en-US" sz="1500" dirty="0" smtClean="0">
                    <a:latin typeface="+mj-lt"/>
                  </a:rPr>
                  <a:t> </a:t>
                </a:r>
                <a:r>
                  <a:rPr lang="en-US" sz="1500" dirty="0" err="1" smtClean="0">
                    <a:latin typeface="+mj-lt"/>
                  </a:rPr>
                  <a:t>binh</a:t>
                </a:r>
                <a:endParaRPr lang="en-US" sz="1500" dirty="0">
                  <a:latin typeface="+mj-lt"/>
                </a:endParaRPr>
              </a:p>
            </p:txBody>
          </p:sp>
        </p:grpSp>
        <p:grpSp>
          <p:nvGrpSpPr>
            <p:cNvPr id="10" name="Nhóm 9"/>
            <p:cNvGrpSpPr/>
            <p:nvPr/>
          </p:nvGrpSpPr>
          <p:grpSpPr>
            <a:xfrm>
              <a:off x="6527003" y="3838256"/>
              <a:ext cx="936913" cy="971081"/>
              <a:chOff x="7224048" y="3625942"/>
              <a:chExt cx="936913" cy="971081"/>
            </a:xfrm>
          </p:grpSpPr>
          <p:sp>
            <p:nvSpPr>
              <p:cNvPr id="11" name="TextBox 13"/>
              <p:cNvSpPr txBox="1"/>
              <p:nvPr/>
            </p:nvSpPr>
            <p:spPr>
              <a:xfrm>
                <a:off x="7224048" y="4273858"/>
                <a:ext cx="925253" cy="323165"/>
              </a:xfrm>
              <a:prstGeom prst="rect">
                <a:avLst/>
              </a:prstGeom>
              <a:noFill/>
            </p:spPr>
            <p:txBody>
              <a:bodyPr wrap="none" rtlCol="0">
                <a:spAutoFit/>
              </a:bodyPr>
              <a:lstStyle/>
              <a:p>
                <a:r>
                  <a:rPr lang="en-US" sz="1500" dirty="0" err="1" smtClean="0">
                    <a:latin typeface="+mj-lt"/>
                  </a:rPr>
                  <a:t>Bộ</a:t>
                </a:r>
                <a:r>
                  <a:rPr lang="en-US" sz="1500" dirty="0" smtClean="0">
                    <a:latin typeface="+mj-lt"/>
                  </a:rPr>
                  <a:t> </a:t>
                </a:r>
                <a:r>
                  <a:rPr lang="en-US" sz="1500" dirty="0" err="1" smtClean="0">
                    <a:latin typeface="+mj-lt"/>
                  </a:rPr>
                  <a:t>binh</a:t>
                </a:r>
                <a:endParaRPr lang="en-US" sz="1500" dirty="0">
                  <a:latin typeface="+mj-lt"/>
                </a:endParaRPr>
              </a:p>
            </p:txBody>
          </p:sp>
          <p:pic>
            <p:nvPicPr>
              <p:cNvPr id="12" name="Ảnh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46675" y="3625942"/>
                <a:ext cx="914286" cy="736508"/>
              </a:xfrm>
              <a:prstGeom prst="rect">
                <a:avLst/>
              </a:prstGeom>
            </p:spPr>
          </p:pic>
        </p:grpSp>
        <p:sp>
          <p:nvSpPr>
            <p:cNvPr id="13" name="Hộp Văn bản 12"/>
            <p:cNvSpPr txBox="1"/>
            <p:nvPr/>
          </p:nvSpPr>
          <p:spPr>
            <a:xfrm>
              <a:off x="3927724" y="5879036"/>
              <a:ext cx="1665841" cy="323165"/>
            </a:xfrm>
            <a:prstGeom prst="rect">
              <a:avLst/>
            </a:prstGeom>
            <a:noFill/>
          </p:spPr>
          <p:txBody>
            <a:bodyPr wrap="none" rtlCol="0">
              <a:spAutoFit/>
            </a:bodyPr>
            <a:lstStyle/>
            <a:p>
              <a:pPr marL="0" lvl="1"/>
              <a:r>
                <a:rPr lang="vi-VN" sz="1500" i="1" dirty="0" err="1">
                  <a:latin typeface="Consolas" panose="020B0609020204030204" pitchFamily="49" charset="0"/>
                  <a:cs typeface="Consolas" panose="020B0609020204030204" pitchFamily="49" charset="0"/>
                </a:rPr>
                <a:t>Moveable</a:t>
              </a:r>
              <a:r>
                <a:rPr lang="vi-VN" sz="1500" i="1" dirty="0">
                  <a:latin typeface="Consolas" panose="020B0609020204030204" pitchFamily="49" charset="0"/>
                  <a:cs typeface="Consolas" panose="020B0609020204030204" pitchFamily="49" charset="0"/>
                </a:rPr>
                <a:t> </a:t>
              </a:r>
              <a:r>
                <a:rPr lang="vi-VN" sz="1500" i="1" dirty="0" err="1">
                  <a:latin typeface="Consolas" panose="020B0609020204030204" pitchFamily="49" charset="0"/>
                  <a:cs typeface="Consolas" panose="020B0609020204030204" pitchFamily="49" charset="0"/>
                </a:rPr>
                <a:t>unit</a:t>
              </a:r>
              <a:r>
                <a:rPr lang="vi-VN" sz="1500" i="1" dirty="0">
                  <a:latin typeface="Consolas" panose="020B0609020204030204" pitchFamily="49" charset="0"/>
                  <a:cs typeface="Consolas" panose="020B0609020204030204" pitchFamily="49" charset="0"/>
                </a:rPr>
                <a:t> </a:t>
              </a:r>
              <a:endParaRPr lang="en-US" sz="1500" i="1" dirty="0">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36407107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GAME WEAPON </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a:xfrm>
            <a:off x="1143000" y="1828800"/>
            <a:ext cx="6858000" cy="3733800"/>
          </a:xfrm>
        </p:spPr>
        <p:txBody>
          <a:bodyPr>
            <a:normAutofit/>
          </a:bodyPr>
          <a:lstStyle/>
          <a:p>
            <a:r>
              <a:rPr lang="vi-VN" sz="1600" dirty="0" err="1" smtClean="0">
                <a:latin typeface="Consolas" panose="020B0609020204030204" pitchFamily="49" charset="0"/>
                <a:cs typeface="Consolas" panose="020B0609020204030204" pitchFamily="49" charset="0"/>
              </a:rPr>
              <a:t>Attack_object</a:t>
            </a:r>
            <a:r>
              <a:rPr lang="vi-VN" sz="1600" dirty="0" smtClean="0">
                <a:latin typeface="Consolas" panose="020B0609020204030204" pitchFamily="49" charset="0"/>
                <a:cs typeface="Consolas" panose="020B0609020204030204" pitchFamily="49" charset="0"/>
              </a:rPr>
              <a:t> </a:t>
            </a:r>
            <a:r>
              <a:rPr lang="vi-VN" sz="1600" dirty="0">
                <a:latin typeface="Consolas" panose="020B0609020204030204" pitchFamily="49" charset="0"/>
                <a:cs typeface="Consolas" panose="020B0609020204030204" pitchFamily="49" charset="0"/>
              </a:rPr>
              <a:t>là kiểu đối tượng được tạo ra khi </a:t>
            </a:r>
            <a:r>
              <a:rPr lang="vi-VN" sz="1600" dirty="0" err="1">
                <a:latin typeface="Consolas" panose="020B0609020204030204" pitchFamily="49" charset="0"/>
                <a:cs typeface="Consolas" panose="020B0609020204030204" pitchFamily="49" charset="0"/>
              </a:rPr>
              <a:t>Unit</a:t>
            </a:r>
            <a:r>
              <a:rPr lang="vi-VN" sz="1600" dirty="0">
                <a:latin typeface="Consolas" panose="020B0609020204030204" pitchFamily="49" charset="0"/>
                <a:cs typeface="Consolas" panose="020B0609020204030204" pitchFamily="49" charset="0"/>
              </a:rPr>
              <a:t> thực hiện tấn công, có thể được hiểu như là đạn, bom hoặc là tên lửa , gây sát thương kẻ địch và sau đó mất </a:t>
            </a:r>
            <a:r>
              <a:rPr lang="vi-VN" sz="1600" dirty="0" smtClean="0">
                <a:latin typeface="Consolas" panose="020B0609020204030204" pitchFamily="49" charset="0"/>
                <a:cs typeface="Consolas" panose="020B0609020204030204" pitchFamily="49" charset="0"/>
              </a:rPr>
              <a:t>đi</a:t>
            </a:r>
            <a:r>
              <a:rPr lang="en-US" sz="1600" i="1" dirty="0" smtClean="0">
                <a:latin typeface="Consolas" panose="020B0609020204030204" pitchFamily="49" charset="0"/>
                <a:cs typeface="Consolas" panose="020B0609020204030204" pitchFamily="49" charset="0"/>
              </a:rPr>
              <a:t>.</a:t>
            </a:r>
            <a:endParaRPr lang="en-US" sz="1800" i="1" dirty="0" smtClean="0"/>
          </a:p>
          <a:p>
            <a:pPr marL="274320" lvl="1" indent="0">
              <a:buNone/>
            </a:pPr>
            <a:endParaRPr lang="vi-VN" sz="1600" i="1" dirty="0" smtClean="0"/>
          </a:p>
          <a:p>
            <a:pPr marL="274320" lvl="1" indent="0">
              <a:buNone/>
            </a:pPr>
            <a:endParaRPr lang="vi-VN" sz="1600" i="1" dirty="0"/>
          </a:p>
          <a:p>
            <a:pPr marL="274320" lvl="1" indent="0">
              <a:buNone/>
            </a:pPr>
            <a:endParaRPr lang="en-US" sz="1500" dirty="0">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a:t>Thiết kế game</a:t>
            </a:r>
          </a:p>
        </p:txBody>
      </p:sp>
      <p:sp>
        <p:nvSpPr>
          <p:cNvPr id="5" name="Slide Number Placeholder 4"/>
          <p:cNvSpPr>
            <a:spLocks noGrp="1"/>
          </p:cNvSpPr>
          <p:nvPr>
            <p:ph type="sldNum" sz="quarter" idx="12"/>
          </p:nvPr>
        </p:nvSpPr>
        <p:spPr/>
        <p:txBody>
          <a:bodyPr/>
          <a:lstStyle/>
          <a:p>
            <a:fld id="{E31375A4-56A4-47D6-9801-1991572033F7}" type="slidenum">
              <a:rPr lang="en-US" smtClean="0"/>
              <a:t>32</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mc:Choice xmlns:a14="http://schemas.microsoft.com/office/drawing/2010/main" Requires="a14">
          <p:sp>
            <p:nvSpPr>
              <p:cNvPr id="7" name="Hộp Văn bản 6"/>
              <p:cNvSpPr txBox="1"/>
              <p:nvPr/>
            </p:nvSpPr>
            <p:spPr>
              <a:xfrm>
                <a:off x="533400" y="3124201"/>
                <a:ext cx="6985963" cy="1815112"/>
              </a:xfrm>
              <a:prstGeom prst="rect">
                <a:avLst/>
              </a:prstGeom>
              <a:noFill/>
            </p:spPr>
            <p:txBody>
              <a:bodyPr wrap="square" rtlCol="0">
                <a:spAutoFit/>
              </a:bodyPr>
              <a:lstStyle/>
              <a:p>
                <a:pPr marL="274320" lvl="1" indent="0">
                  <a:buNone/>
                </a:pPr>
                <a14:m>
                  <m:oMathPara xmlns:m="http://schemas.openxmlformats.org/officeDocument/2006/math">
                    <m:oMathParaPr>
                      <m:jc m:val="centerGroup"/>
                    </m:oMathParaPr>
                    <m:oMath xmlns:m="http://schemas.openxmlformats.org/officeDocument/2006/math">
                      <m:r>
                        <a:rPr lang="vi-VN" sz="1600" i="1" smtClean="0">
                          <a:latin typeface="Cambria Math" panose="02040503050406030204" pitchFamily="18" charset="0"/>
                        </a:rPr>
                        <m:t>𝐷𝑎𝑚𝑎𝑔𝑒</m:t>
                      </m:r>
                      <m:r>
                        <a:rPr lang="vi-VN" sz="1600" i="1" smtClean="0">
                          <a:latin typeface="Cambria Math" panose="02040503050406030204" pitchFamily="18" charset="0"/>
                        </a:rPr>
                        <m:t>=</m:t>
                      </m:r>
                      <m:r>
                        <a:rPr lang="vi-VN" sz="1600" i="1" smtClean="0">
                          <a:latin typeface="Cambria Math" panose="02040503050406030204" pitchFamily="18" charset="0"/>
                        </a:rPr>
                        <m:t>𝑜𝑏</m:t>
                      </m:r>
                      <m:r>
                        <a:rPr lang="vi-VN" sz="1600" i="1" smtClean="0">
                          <a:latin typeface="Cambria Math" panose="02040503050406030204" pitchFamily="18" charset="0"/>
                        </a:rPr>
                        <m:t>.</m:t>
                      </m:r>
                      <m:r>
                        <a:rPr lang="vi-VN" sz="1600" i="1" smtClean="0">
                          <a:latin typeface="Cambria Math" panose="02040503050406030204" pitchFamily="18" charset="0"/>
                        </a:rPr>
                        <m:t>𝑑𝑎𝑚𝑎𝑔𝑒</m:t>
                      </m:r>
                      <m:r>
                        <a:rPr lang="vi-VN" sz="1600" i="1" smtClean="0">
                          <a:latin typeface="Cambria Math" panose="02040503050406030204" pitchFamily="18" charset="0"/>
                        </a:rPr>
                        <m:t>× </m:t>
                      </m:r>
                      <m:d>
                        <m:dPr>
                          <m:ctrlPr>
                            <a:rPr lang="vi-VN" sz="1600" i="1">
                              <a:latin typeface="Cambria Math" panose="02040503050406030204" pitchFamily="18" charset="0"/>
                            </a:rPr>
                          </m:ctrlPr>
                        </m:dPr>
                        <m:e>
                          <m:r>
                            <a:rPr lang="vi-VN" sz="1600" i="1">
                              <a:latin typeface="Cambria Math" panose="02040503050406030204" pitchFamily="18" charset="0"/>
                            </a:rPr>
                            <m:t> </m:t>
                          </m:r>
                          <m:f>
                            <m:fPr>
                              <m:ctrlPr>
                                <a:rPr lang="en-US" sz="1600" i="1">
                                  <a:latin typeface="Cambria Math" panose="02040503050406030204" pitchFamily="18" charset="0"/>
                                </a:rPr>
                              </m:ctrlPr>
                            </m:fPr>
                            <m:num>
                              <m:r>
                                <a:rPr lang="vi-VN" sz="1600" i="1" smtClean="0">
                                  <a:latin typeface="Cambria Math" panose="02040503050406030204" pitchFamily="18" charset="0"/>
                                </a:rPr>
                                <m:t>𝑜𝑏</m:t>
                              </m:r>
                              <m:r>
                                <a:rPr lang="vi-VN" sz="1600" b="0" i="1" smtClean="0">
                                  <a:latin typeface="Cambria Math" panose="02040503050406030204" pitchFamily="18" charset="0"/>
                                </a:rPr>
                                <m:t>._</m:t>
                              </m:r>
                              <m:r>
                                <a:rPr lang="vi-VN" sz="1600" b="0" i="1" smtClean="0">
                                  <a:latin typeface="Cambria Math" panose="02040503050406030204" pitchFamily="18" charset="0"/>
                                </a:rPr>
                                <m:t>1</m:t>
                              </m:r>
                            </m:num>
                            <m:den>
                              <m:r>
                                <a:rPr lang="vi-VN" sz="1600" i="1">
                                  <a:latin typeface="Cambria Math" panose="02040503050406030204" pitchFamily="18" charset="0"/>
                                </a:rPr>
                                <m:t>𝑑𝑖</m:t>
                              </m:r>
                              <m:r>
                                <a:rPr lang="vi-VN" sz="1600" b="0" i="1" smtClean="0">
                                  <a:latin typeface="Cambria Math" panose="02040503050406030204" pitchFamily="18" charset="0"/>
                                </a:rPr>
                                <m:t>._</m:t>
                              </m:r>
                              <m:r>
                                <a:rPr lang="vi-VN" sz="1600" b="0" i="1" smtClean="0">
                                  <a:latin typeface="Cambria Math" panose="02040503050406030204" pitchFamily="18" charset="0"/>
                                </a:rPr>
                                <m:t>1</m:t>
                              </m:r>
                            </m:den>
                          </m:f>
                          <m:r>
                            <a:rPr lang="vi-VN" sz="1600" i="1">
                              <a:latin typeface="Cambria Math" panose="02040503050406030204" pitchFamily="18" charset="0"/>
                            </a:rPr>
                            <m:t>+  </m:t>
                          </m:r>
                          <m:f>
                            <m:fPr>
                              <m:ctrlPr>
                                <a:rPr lang="en-US" sz="1600" i="1">
                                  <a:latin typeface="Cambria Math" panose="02040503050406030204" pitchFamily="18" charset="0"/>
                                </a:rPr>
                              </m:ctrlPr>
                            </m:fPr>
                            <m:num>
                              <m:r>
                                <a:rPr lang="vi-VN" sz="1600" i="1">
                                  <a:latin typeface="Cambria Math" panose="02040503050406030204" pitchFamily="18" charset="0"/>
                                </a:rPr>
                                <m:t>𝑜𝑏</m:t>
                              </m:r>
                              <m:r>
                                <a:rPr lang="vi-VN" sz="1600" i="1">
                                  <a:latin typeface="Cambria Math" panose="02040503050406030204" pitchFamily="18" charset="0"/>
                                </a:rPr>
                                <m:t>._</m:t>
                              </m:r>
                              <m:r>
                                <a:rPr lang="vi-VN" sz="1600" b="0" i="1" smtClean="0">
                                  <a:latin typeface="Cambria Math" panose="02040503050406030204" pitchFamily="18" charset="0"/>
                                </a:rPr>
                                <m:t>2</m:t>
                              </m:r>
                            </m:num>
                            <m:den>
                              <m:r>
                                <a:rPr lang="vi-VN" sz="1600" i="1">
                                  <a:latin typeface="Cambria Math" panose="02040503050406030204" pitchFamily="18" charset="0"/>
                                </a:rPr>
                                <m:t>𝑑𝑖</m:t>
                              </m:r>
                              <m:r>
                                <a:rPr lang="vi-VN" sz="1600" b="0" i="1" smtClean="0">
                                  <a:latin typeface="Cambria Math" panose="02040503050406030204" pitchFamily="18" charset="0"/>
                                </a:rPr>
                                <m:t>._</m:t>
                              </m:r>
                              <m:r>
                                <a:rPr lang="vi-VN" sz="1600" b="0" i="1" smtClean="0">
                                  <a:latin typeface="Cambria Math" panose="02040503050406030204" pitchFamily="18" charset="0"/>
                                </a:rPr>
                                <m:t>2</m:t>
                              </m:r>
                            </m:den>
                          </m:f>
                          <m:r>
                            <a:rPr lang="vi-VN" sz="1600" i="1">
                              <a:latin typeface="Cambria Math" panose="02040503050406030204" pitchFamily="18" charset="0"/>
                            </a:rPr>
                            <m:t>+  </m:t>
                          </m:r>
                          <m:f>
                            <m:fPr>
                              <m:ctrlPr>
                                <a:rPr lang="en-US" sz="1600" i="1">
                                  <a:latin typeface="Cambria Math" panose="02040503050406030204" pitchFamily="18" charset="0"/>
                                </a:rPr>
                              </m:ctrlPr>
                            </m:fPr>
                            <m:num>
                              <m:r>
                                <a:rPr lang="vi-VN" sz="1600" i="1">
                                  <a:latin typeface="Cambria Math" panose="02040503050406030204" pitchFamily="18" charset="0"/>
                                </a:rPr>
                                <m:t>𝑜𝑏</m:t>
                              </m:r>
                              <m:r>
                                <a:rPr lang="vi-VN" sz="1600" i="1">
                                  <a:latin typeface="Cambria Math" panose="02040503050406030204" pitchFamily="18" charset="0"/>
                                </a:rPr>
                                <m:t>._</m:t>
                              </m:r>
                              <m:r>
                                <a:rPr lang="vi-VN" sz="1600" b="0" i="1" smtClean="0">
                                  <a:latin typeface="Cambria Math" panose="02040503050406030204" pitchFamily="18" charset="0"/>
                                </a:rPr>
                                <m:t>3</m:t>
                              </m:r>
                            </m:num>
                            <m:den>
                              <m:r>
                                <a:rPr lang="vi-VN" sz="1600" i="1">
                                  <a:latin typeface="Cambria Math" panose="02040503050406030204" pitchFamily="18" charset="0"/>
                                </a:rPr>
                                <m:t>𝑑𝑖</m:t>
                              </m:r>
                              <m:r>
                                <a:rPr lang="vi-VN" sz="1600" b="0" i="1" smtClean="0">
                                  <a:latin typeface="Cambria Math" panose="02040503050406030204" pitchFamily="18" charset="0"/>
                                </a:rPr>
                                <m:t>._</m:t>
                              </m:r>
                              <m:r>
                                <a:rPr lang="vi-VN" sz="1600" b="0" i="1" smtClean="0">
                                  <a:latin typeface="Cambria Math" panose="02040503050406030204" pitchFamily="18" charset="0"/>
                                </a:rPr>
                                <m:t>3</m:t>
                              </m:r>
                            </m:den>
                          </m:f>
                          <m:r>
                            <a:rPr lang="vi-VN" sz="1600" i="1">
                              <a:latin typeface="Cambria Math" panose="02040503050406030204" pitchFamily="18" charset="0"/>
                            </a:rPr>
                            <m:t>+  </m:t>
                          </m:r>
                          <m:f>
                            <m:fPr>
                              <m:ctrlPr>
                                <a:rPr lang="en-US" sz="1600" i="1" smtClean="0">
                                  <a:latin typeface="Cambria Math" panose="02040503050406030204" pitchFamily="18" charset="0"/>
                                </a:rPr>
                              </m:ctrlPr>
                            </m:fPr>
                            <m:num>
                              <m:r>
                                <a:rPr lang="vi-VN" sz="1600" i="1">
                                  <a:latin typeface="Cambria Math" panose="02040503050406030204" pitchFamily="18" charset="0"/>
                                </a:rPr>
                                <m:t>𝑜𝑏</m:t>
                              </m:r>
                              <m:r>
                                <a:rPr lang="vi-VN" sz="1600" i="1">
                                  <a:latin typeface="Cambria Math" panose="02040503050406030204" pitchFamily="18" charset="0"/>
                                </a:rPr>
                                <m:t>._</m:t>
                              </m:r>
                              <m:r>
                                <a:rPr lang="vi-VN" sz="1600" b="0" i="1" smtClean="0">
                                  <a:latin typeface="Cambria Math" panose="02040503050406030204" pitchFamily="18" charset="0"/>
                                </a:rPr>
                                <m:t>3</m:t>
                              </m:r>
                            </m:num>
                            <m:den>
                              <m:r>
                                <a:rPr lang="vi-VN" sz="1600" i="1">
                                  <a:latin typeface="Cambria Math" panose="02040503050406030204" pitchFamily="18" charset="0"/>
                                </a:rPr>
                                <m:t>𝑑𝑖</m:t>
                              </m:r>
                              <m:r>
                                <a:rPr lang="vi-VN" sz="1600" b="0" i="1" smtClean="0">
                                  <a:latin typeface="Cambria Math" panose="02040503050406030204" pitchFamily="18" charset="0"/>
                                </a:rPr>
                                <m:t>._</m:t>
                              </m:r>
                              <m:r>
                                <a:rPr lang="vi-VN" sz="1600" b="0" i="1" smtClean="0">
                                  <a:latin typeface="Cambria Math" panose="02040503050406030204" pitchFamily="18" charset="0"/>
                                </a:rPr>
                                <m:t>4</m:t>
                              </m:r>
                            </m:den>
                          </m:f>
                        </m:e>
                      </m:d>
                    </m:oMath>
                  </m:oMathPara>
                </a14:m>
                <a:endParaRPr lang="vi-VN" sz="1600" i="1" dirty="0" smtClean="0">
                  <a:latin typeface="Consolas" panose="020B0609020204030204" pitchFamily="49" charset="0"/>
                </a:endParaRPr>
              </a:p>
              <a:p>
                <a:pPr marL="274320" lvl="1" indent="0">
                  <a:buNone/>
                </a:pPr>
                <a:endParaRPr lang="en-US" sz="1200" dirty="0" smtClean="0">
                  <a:latin typeface="Consolas" panose="020B0609020204030204" pitchFamily="49" charset="0"/>
                  <a:cs typeface="Consolas" panose="020B0609020204030204" pitchFamily="49" charset="0"/>
                </a:endParaRPr>
              </a:p>
              <a:p>
                <a:pPr marL="274320" lvl="1" indent="0">
                  <a:buNone/>
                </a:pPr>
                <a:r>
                  <a:rPr lang="en-US" sz="1200" dirty="0" smtClean="0">
                    <a:latin typeface="Consolas" panose="020B0609020204030204" pitchFamily="49" charset="0"/>
                    <a:cs typeface="Consolas" panose="020B0609020204030204" pitchFamily="49" charset="0"/>
                  </a:rPr>
                  <a:t>		</a:t>
                </a:r>
                <a:r>
                  <a:rPr lang="en-US" sz="1200" dirty="0" err="1" smtClean="0">
                    <a:latin typeface="Consolas" panose="020B0609020204030204" pitchFamily="49" charset="0"/>
                    <a:cs typeface="Consolas" panose="020B0609020204030204" pitchFamily="49" charset="0"/>
                  </a:rPr>
                  <a:t>Trong</a:t>
                </a:r>
                <a:r>
                  <a:rPr lang="en-US" sz="1200" dirty="0" smtClean="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đó</a:t>
                </a:r>
                <a:r>
                  <a:rPr lang="en-US" sz="1200" dirty="0">
                    <a:latin typeface="Consolas" panose="020B0609020204030204" pitchFamily="49" charset="0"/>
                    <a:cs typeface="Consolas" panose="020B0609020204030204" pitchFamily="49" charset="0"/>
                  </a:rPr>
                  <a:t> </a:t>
                </a:r>
                <a:r>
                  <a:rPr lang="en-US" sz="1200" dirty="0" smtClean="0">
                    <a:latin typeface="Consolas" panose="020B0609020204030204" pitchFamily="49" charset="0"/>
                    <a:cs typeface="Consolas" panose="020B0609020204030204" pitchFamily="49" charset="0"/>
                  </a:rPr>
                  <a:t>: </a:t>
                </a:r>
                <a:r>
                  <a:rPr lang="en-US" sz="1200" i="1" dirty="0" err="1" smtClean="0">
                    <a:latin typeface="Consolas" panose="020B0609020204030204" pitchFamily="49" charset="0"/>
                    <a:cs typeface="Consolas" panose="020B0609020204030204" pitchFamily="49" charset="0"/>
                  </a:rPr>
                  <a:t>ob</a:t>
                </a:r>
                <a:r>
                  <a:rPr lang="en-US" sz="1200" dirty="0" smtClean="0">
                    <a:latin typeface="Consolas" panose="020B0609020204030204" pitchFamily="49" charset="0"/>
                    <a:cs typeface="Consolas" panose="020B0609020204030204" pitchFamily="49" charset="0"/>
                  </a:rPr>
                  <a:t> </a:t>
                </a:r>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attack_object</a:t>
                </a:r>
                <a:r>
                  <a:rPr lang="en-US" sz="1200" dirty="0">
                    <a:latin typeface="Consolas" panose="020B0609020204030204" pitchFamily="49" charset="0"/>
                    <a:cs typeface="Consolas" panose="020B0609020204030204" pitchFamily="49" charset="0"/>
                  </a:rPr>
                  <a:t>.</a:t>
                </a:r>
              </a:p>
              <a:p>
                <a:pPr marL="274320" lvl="1" indent="0">
                  <a:buNone/>
                </a:pPr>
                <a:r>
                  <a:rPr lang="en-US" sz="1200" dirty="0">
                    <a:latin typeface="Consolas" panose="020B0609020204030204" pitchFamily="49" charset="0"/>
                    <a:cs typeface="Consolas" panose="020B0609020204030204" pitchFamily="49" charset="0"/>
                  </a:rPr>
                  <a:t>	  </a:t>
                </a:r>
                <a:r>
                  <a:rPr lang="en-US" sz="1200" dirty="0" smtClean="0">
                    <a:latin typeface="Consolas" panose="020B0609020204030204" pitchFamily="49" charset="0"/>
                    <a:cs typeface="Consolas" panose="020B0609020204030204" pitchFamily="49" charset="0"/>
                  </a:rPr>
                  <a:t>		</a:t>
                </a:r>
                <a:r>
                  <a:rPr lang="en-US" sz="1200" i="1" dirty="0" smtClean="0">
                    <a:latin typeface="Consolas" panose="020B0609020204030204" pitchFamily="49" charset="0"/>
                    <a:cs typeface="Consolas" panose="020B0609020204030204" pitchFamily="49" charset="0"/>
                  </a:rPr>
                  <a:t>di</a:t>
                </a:r>
                <a:r>
                  <a:rPr lang="en-US" sz="1200" dirty="0" smtClean="0">
                    <a:latin typeface="Consolas" panose="020B0609020204030204" pitchFamily="49" charset="0"/>
                    <a:cs typeface="Consolas" panose="020B0609020204030204" pitchFamily="49" charset="0"/>
                  </a:rPr>
                  <a:t> </a:t>
                </a:r>
                <a:r>
                  <a:rPr lang="en-US" sz="1200" dirty="0">
                    <a:latin typeface="Consolas" panose="020B0609020204030204" pitchFamily="49" charset="0"/>
                    <a:cs typeface="Consolas" panose="020B0609020204030204" pitchFamily="49" charset="0"/>
                  </a:rPr>
                  <a:t>- unit </a:t>
                </a:r>
                <a:r>
                  <a:rPr lang="en-US" sz="1200" dirty="0" err="1">
                    <a:latin typeface="Consolas" panose="020B0609020204030204" pitchFamily="49" charset="0"/>
                    <a:cs typeface="Consolas" panose="020B0609020204030204" pitchFamily="49" charset="0"/>
                  </a:rPr>
                  <a:t>bị</a:t>
                </a:r>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tấn</a:t>
                </a:r>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công</a:t>
                </a:r>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distination</a:t>
                </a:r>
                <a:r>
                  <a:rPr lang="en-US" sz="1200" dirty="0">
                    <a:latin typeface="Consolas" panose="020B0609020204030204" pitchFamily="49" charset="0"/>
                    <a:cs typeface="Consolas" panose="020B0609020204030204" pitchFamily="49" charset="0"/>
                  </a:rPr>
                  <a:t>).</a:t>
                </a:r>
              </a:p>
              <a:p>
                <a:pPr marL="274320" lvl="1" indent="0">
                  <a:buNone/>
                </a:pPr>
                <a:r>
                  <a:rPr lang="en-US" sz="1200" dirty="0">
                    <a:latin typeface="Consolas" panose="020B0609020204030204" pitchFamily="49" charset="0"/>
                    <a:cs typeface="Consolas" panose="020B0609020204030204" pitchFamily="49" charset="0"/>
                  </a:rPr>
                  <a:t>	</a:t>
                </a:r>
                <a:r>
                  <a:rPr lang="en-US" sz="1200" dirty="0" smtClean="0">
                    <a:latin typeface="Consolas" panose="020B0609020204030204" pitchFamily="49" charset="0"/>
                    <a:cs typeface="Consolas" panose="020B0609020204030204" pitchFamily="49" charset="0"/>
                  </a:rPr>
                  <a:t>  		</a:t>
                </a:r>
                <a:r>
                  <a:rPr lang="en-US" sz="1200" i="1" dirty="0" smtClean="0">
                    <a:latin typeface="Consolas" panose="020B0609020204030204" pitchFamily="49" charset="0"/>
                    <a:cs typeface="Consolas" panose="020B0609020204030204" pitchFamily="49" charset="0"/>
                  </a:rPr>
                  <a:t>_</a:t>
                </a:r>
                <a:r>
                  <a:rPr lang="en-US" sz="1200" i="1" dirty="0">
                    <a:latin typeface="Consolas" panose="020B0609020204030204" pitchFamily="49" charset="0"/>
                    <a:cs typeface="Consolas" panose="020B0609020204030204" pitchFamily="49" charset="0"/>
                  </a:rPr>
                  <a:t>1,_2,_3,_4 </a:t>
                </a:r>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điểm</a:t>
                </a:r>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từng</a:t>
                </a:r>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thành</a:t>
                </a:r>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phần</a:t>
                </a:r>
                <a:r>
                  <a:rPr lang="en-US" sz="1200" dirty="0">
                    <a:latin typeface="Consolas" panose="020B0609020204030204" pitchFamily="49" charset="0"/>
                    <a:cs typeface="Consolas" panose="020B0609020204030204" pitchFamily="49" charset="0"/>
                  </a:rPr>
                  <a:t> 				</a:t>
                </a:r>
                <a:r>
                  <a:rPr lang="en-US" sz="1200" i="1" dirty="0" smtClean="0">
                    <a:latin typeface="Consolas" panose="020B0609020204030204" pitchFamily="49" charset="0"/>
                    <a:cs typeface="Consolas" panose="020B0609020204030204" pitchFamily="49" charset="0"/>
                  </a:rPr>
                  <a:t>(</a:t>
                </a:r>
                <a:r>
                  <a:rPr lang="en-US" sz="1200" i="1" dirty="0">
                    <a:latin typeface="Consolas" panose="020B0609020204030204" pitchFamily="49" charset="0"/>
                    <a:cs typeface="Consolas" panose="020B0609020204030204" pitchFamily="49" charset="0"/>
                  </a:rPr>
                  <a:t>biological ,structural ,electrical ,thermal).</a:t>
                </a:r>
              </a:p>
              <a:p>
                <a:r>
                  <a:rPr lang="en-US" sz="1600" dirty="0"/>
                  <a:t>	</a:t>
                </a:r>
                <a:endParaRPr lang="vi-VN" dirty="0"/>
              </a:p>
            </p:txBody>
          </p:sp>
        </mc:Choice>
        <mc:Fallback>
          <p:sp>
            <p:nvSpPr>
              <p:cNvPr id="7" name="Hộp Văn bản 6"/>
              <p:cNvSpPr txBox="1">
                <a:spLocks noRot="1" noChangeAspect="1" noMove="1" noResize="1" noEditPoints="1" noAdjustHandles="1" noChangeArrowheads="1" noChangeShapeType="1" noTextEdit="1"/>
              </p:cNvSpPr>
              <p:nvPr/>
            </p:nvSpPr>
            <p:spPr>
              <a:xfrm>
                <a:off x="533400" y="3124201"/>
                <a:ext cx="6985963" cy="1815112"/>
              </a:xfrm>
              <a:prstGeom prst="rect">
                <a:avLst/>
              </a:prstGeom>
              <a:blipFill rotWithShape="0">
                <a:blip r:embed="rId2"/>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21216695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GAME WEAPON </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a:xfrm>
            <a:off x="1143000" y="1828800"/>
            <a:ext cx="6858000" cy="1143000"/>
          </a:xfrm>
        </p:spPr>
        <p:txBody>
          <a:bodyPr>
            <a:normAutofit/>
          </a:bodyPr>
          <a:lstStyle/>
          <a:p>
            <a:r>
              <a:rPr lang="vi-VN" sz="1600" dirty="0" err="1" smtClean="0">
                <a:latin typeface="Consolas" panose="020B0609020204030204" pitchFamily="49" charset="0"/>
                <a:cs typeface="Consolas" panose="020B0609020204030204" pitchFamily="49" charset="0"/>
              </a:rPr>
              <a:t>Attack_object</a:t>
            </a:r>
            <a:r>
              <a:rPr lang="vi-VN" sz="1600" dirty="0" smtClean="0">
                <a:latin typeface="Consolas" panose="020B0609020204030204" pitchFamily="49" charset="0"/>
                <a:cs typeface="Consolas" panose="020B0609020204030204" pitchFamily="49" charset="0"/>
              </a:rPr>
              <a:t> </a:t>
            </a:r>
            <a:r>
              <a:rPr lang="vi-VN" sz="1600" dirty="0">
                <a:latin typeface="Consolas" panose="020B0609020204030204" pitchFamily="49" charset="0"/>
                <a:cs typeface="Consolas" panose="020B0609020204030204" pitchFamily="49" charset="0"/>
              </a:rPr>
              <a:t>là kiểu đối tượng được tạo ra khi </a:t>
            </a:r>
            <a:r>
              <a:rPr lang="vi-VN" sz="1600" dirty="0" err="1">
                <a:latin typeface="Consolas" panose="020B0609020204030204" pitchFamily="49" charset="0"/>
                <a:cs typeface="Consolas" panose="020B0609020204030204" pitchFamily="49" charset="0"/>
              </a:rPr>
              <a:t>Unit</a:t>
            </a:r>
            <a:r>
              <a:rPr lang="vi-VN" sz="1600" dirty="0">
                <a:latin typeface="Consolas" panose="020B0609020204030204" pitchFamily="49" charset="0"/>
                <a:cs typeface="Consolas" panose="020B0609020204030204" pitchFamily="49" charset="0"/>
              </a:rPr>
              <a:t> thực hiện tấn công, có thể được hiểu như là đạn, bom hoặc là tên lửa , gây sát thương kẻ địch và sau đó mất </a:t>
            </a:r>
            <a:r>
              <a:rPr lang="vi-VN" sz="1600" dirty="0" smtClean="0">
                <a:latin typeface="Consolas" panose="020B0609020204030204" pitchFamily="49" charset="0"/>
                <a:cs typeface="Consolas" panose="020B0609020204030204" pitchFamily="49" charset="0"/>
              </a:rPr>
              <a:t>đi</a:t>
            </a:r>
            <a:r>
              <a:rPr lang="en-US" sz="1600" i="1" dirty="0" smtClean="0">
                <a:latin typeface="Consolas" panose="020B0609020204030204" pitchFamily="49" charset="0"/>
                <a:cs typeface="Consolas" panose="020B0609020204030204" pitchFamily="49" charset="0"/>
              </a:rPr>
              <a:t>.</a:t>
            </a:r>
            <a:endParaRPr lang="en-US" sz="1800" i="1" dirty="0" smtClean="0"/>
          </a:p>
          <a:p>
            <a:pPr marL="274320" lvl="1" indent="0">
              <a:buNone/>
            </a:pPr>
            <a:endParaRPr lang="vi-VN" sz="1600" i="1" dirty="0" smtClean="0"/>
          </a:p>
          <a:p>
            <a:pPr marL="274320" lvl="1" indent="0">
              <a:buNone/>
            </a:pPr>
            <a:endParaRPr lang="vi-VN" sz="1600" i="1" dirty="0"/>
          </a:p>
          <a:p>
            <a:pPr marL="274320" lvl="1" indent="0">
              <a:buNone/>
            </a:pPr>
            <a:endParaRPr lang="en-US" sz="1500" dirty="0">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a:t>Thiết kế game</a:t>
            </a:r>
          </a:p>
        </p:txBody>
      </p:sp>
      <p:sp>
        <p:nvSpPr>
          <p:cNvPr id="5" name="Slide Number Placeholder 4"/>
          <p:cNvSpPr>
            <a:spLocks noGrp="1"/>
          </p:cNvSpPr>
          <p:nvPr>
            <p:ph type="sldNum" sz="quarter" idx="12"/>
          </p:nvPr>
        </p:nvSpPr>
        <p:spPr/>
        <p:txBody>
          <a:bodyPr/>
          <a:lstStyle/>
          <a:p>
            <a:fld id="{E31375A4-56A4-47D6-9801-1991572033F7}" type="slidenum">
              <a:rPr lang="en-US" smtClean="0"/>
              <a:t>33</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Video 27-12-2015 8-26-29 S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676400" y="3286447"/>
            <a:ext cx="6019800" cy="1581150"/>
          </a:xfrm>
          <a:prstGeom prst="rect">
            <a:avLst/>
          </a:prstGeom>
        </p:spPr>
      </p:pic>
      <p:sp>
        <p:nvSpPr>
          <p:cNvPr id="11" name="Hộp Văn bản 10"/>
          <p:cNvSpPr txBox="1"/>
          <p:nvPr/>
        </p:nvSpPr>
        <p:spPr>
          <a:xfrm>
            <a:off x="3699519" y="4863586"/>
            <a:ext cx="1765996" cy="369332"/>
          </a:xfrm>
          <a:prstGeom prst="rect">
            <a:avLst/>
          </a:prstGeom>
          <a:noFill/>
        </p:spPr>
        <p:txBody>
          <a:bodyPr wrap="none" rtlCol="0">
            <a:spAutoFit/>
          </a:bodyPr>
          <a:lstStyle/>
          <a:p>
            <a:r>
              <a:rPr lang="vi-VN" dirty="0" err="1" smtClean="0"/>
              <a:t>Tesla</a:t>
            </a:r>
            <a:r>
              <a:rPr lang="vi-VN" dirty="0" smtClean="0"/>
              <a:t> </a:t>
            </a:r>
            <a:r>
              <a:rPr lang="vi-VN" dirty="0" err="1" smtClean="0"/>
              <a:t>Weapon</a:t>
            </a:r>
            <a:endParaRPr lang="vi-VN" dirty="0"/>
          </a:p>
        </p:txBody>
      </p:sp>
    </p:spTree>
    <p:extLst>
      <p:ext uri="{BB962C8B-B14F-4D97-AF65-F5344CB8AC3E}">
        <p14:creationId xmlns:p14="http://schemas.microsoft.com/office/powerpoint/2010/main" val="21960258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83"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GAME WEAPON </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a:xfrm>
            <a:off x="1143000" y="1828800"/>
            <a:ext cx="6858000" cy="1066800"/>
          </a:xfrm>
        </p:spPr>
        <p:txBody>
          <a:bodyPr>
            <a:normAutofit/>
          </a:bodyPr>
          <a:lstStyle/>
          <a:p>
            <a:r>
              <a:rPr lang="vi-VN" sz="1600" dirty="0" err="1" smtClean="0">
                <a:latin typeface="Consolas" panose="020B0609020204030204" pitchFamily="49" charset="0"/>
                <a:cs typeface="Consolas" panose="020B0609020204030204" pitchFamily="49" charset="0"/>
              </a:rPr>
              <a:t>Attack_object</a:t>
            </a:r>
            <a:r>
              <a:rPr lang="vi-VN" sz="1600" dirty="0" smtClean="0">
                <a:latin typeface="Consolas" panose="020B0609020204030204" pitchFamily="49" charset="0"/>
                <a:cs typeface="Consolas" panose="020B0609020204030204" pitchFamily="49" charset="0"/>
              </a:rPr>
              <a:t> </a:t>
            </a:r>
            <a:r>
              <a:rPr lang="vi-VN" sz="1600" dirty="0">
                <a:latin typeface="Consolas" panose="020B0609020204030204" pitchFamily="49" charset="0"/>
                <a:cs typeface="Consolas" panose="020B0609020204030204" pitchFamily="49" charset="0"/>
              </a:rPr>
              <a:t>là kiểu đối tượng được tạo ra khi </a:t>
            </a:r>
            <a:r>
              <a:rPr lang="vi-VN" sz="1600" dirty="0" err="1">
                <a:latin typeface="Consolas" panose="020B0609020204030204" pitchFamily="49" charset="0"/>
                <a:cs typeface="Consolas" panose="020B0609020204030204" pitchFamily="49" charset="0"/>
              </a:rPr>
              <a:t>Unit</a:t>
            </a:r>
            <a:r>
              <a:rPr lang="vi-VN" sz="1600" dirty="0">
                <a:latin typeface="Consolas" panose="020B0609020204030204" pitchFamily="49" charset="0"/>
                <a:cs typeface="Consolas" panose="020B0609020204030204" pitchFamily="49" charset="0"/>
              </a:rPr>
              <a:t> thực hiện tấn công, có thể được hiểu như là đạn, bom hoặc là tên lửa , gây sát thương kẻ địch và sau đó mất </a:t>
            </a:r>
            <a:r>
              <a:rPr lang="vi-VN" sz="1600" dirty="0" smtClean="0">
                <a:latin typeface="Consolas" panose="020B0609020204030204" pitchFamily="49" charset="0"/>
                <a:cs typeface="Consolas" panose="020B0609020204030204" pitchFamily="49" charset="0"/>
              </a:rPr>
              <a:t>đi</a:t>
            </a:r>
            <a:r>
              <a:rPr lang="en-US" sz="1600" i="1" dirty="0" smtClean="0">
                <a:latin typeface="Consolas" panose="020B0609020204030204" pitchFamily="49" charset="0"/>
                <a:cs typeface="Consolas" panose="020B0609020204030204" pitchFamily="49" charset="0"/>
              </a:rPr>
              <a:t>.</a:t>
            </a:r>
            <a:endParaRPr lang="en-US" sz="1800" i="1" dirty="0" smtClean="0"/>
          </a:p>
          <a:p>
            <a:pPr marL="274320" lvl="1" indent="0">
              <a:buNone/>
            </a:pPr>
            <a:endParaRPr lang="vi-VN" sz="1600" i="1" dirty="0" smtClean="0"/>
          </a:p>
          <a:p>
            <a:pPr marL="274320" lvl="1" indent="0">
              <a:buNone/>
            </a:pPr>
            <a:endParaRPr lang="vi-VN" sz="1600" i="1" dirty="0"/>
          </a:p>
          <a:p>
            <a:pPr marL="274320" lvl="1" indent="0">
              <a:buNone/>
            </a:pPr>
            <a:endParaRPr lang="en-US" sz="1500" dirty="0">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a:t>Thiết kế game</a:t>
            </a:r>
          </a:p>
        </p:txBody>
      </p:sp>
      <p:sp>
        <p:nvSpPr>
          <p:cNvPr id="5" name="Slide Number Placeholder 4"/>
          <p:cNvSpPr>
            <a:spLocks noGrp="1"/>
          </p:cNvSpPr>
          <p:nvPr>
            <p:ph type="sldNum" sz="quarter" idx="12"/>
          </p:nvPr>
        </p:nvSpPr>
        <p:spPr/>
        <p:txBody>
          <a:bodyPr/>
          <a:lstStyle/>
          <a:p>
            <a:fld id="{E31375A4-56A4-47D6-9801-1991572033F7}" type="slidenum">
              <a:rPr lang="en-US" smtClean="0"/>
              <a:t>34</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98120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Video 27-12-2015 8-25-33 S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981200" y="3048000"/>
            <a:ext cx="5143500" cy="1581150"/>
          </a:xfrm>
          <a:prstGeom prst="rect">
            <a:avLst/>
          </a:prstGeom>
        </p:spPr>
      </p:pic>
      <p:sp>
        <p:nvSpPr>
          <p:cNvPr id="11" name="Hộp Văn bản 10"/>
          <p:cNvSpPr txBox="1"/>
          <p:nvPr/>
        </p:nvSpPr>
        <p:spPr>
          <a:xfrm>
            <a:off x="3761553" y="4781550"/>
            <a:ext cx="1620893" cy="369332"/>
          </a:xfrm>
          <a:prstGeom prst="rect">
            <a:avLst/>
          </a:prstGeom>
          <a:noFill/>
        </p:spPr>
        <p:txBody>
          <a:bodyPr wrap="none" rtlCol="0">
            <a:spAutoFit/>
          </a:bodyPr>
          <a:lstStyle/>
          <a:p>
            <a:r>
              <a:rPr lang="vi-VN" dirty="0" err="1" smtClean="0"/>
              <a:t>Fire</a:t>
            </a:r>
            <a:r>
              <a:rPr lang="vi-VN" dirty="0" smtClean="0"/>
              <a:t> </a:t>
            </a:r>
            <a:r>
              <a:rPr lang="vi-VN" dirty="0" err="1" smtClean="0"/>
              <a:t>Weapon</a:t>
            </a:r>
            <a:endParaRPr lang="vi-VN" dirty="0"/>
          </a:p>
        </p:txBody>
      </p:sp>
    </p:spTree>
    <p:extLst>
      <p:ext uri="{BB962C8B-B14F-4D97-AF65-F5344CB8AC3E}">
        <p14:creationId xmlns:p14="http://schemas.microsoft.com/office/powerpoint/2010/main" val="2035863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5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GAME WEAPON </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a:xfrm>
            <a:off x="1143000" y="1828800"/>
            <a:ext cx="6858000" cy="1143000"/>
          </a:xfrm>
        </p:spPr>
        <p:txBody>
          <a:bodyPr>
            <a:normAutofit/>
          </a:bodyPr>
          <a:lstStyle/>
          <a:p>
            <a:r>
              <a:rPr lang="vi-VN" sz="1600" dirty="0" err="1" smtClean="0">
                <a:latin typeface="Consolas" panose="020B0609020204030204" pitchFamily="49" charset="0"/>
                <a:cs typeface="Consolas" panose="020B0609020204030204" pitchFamily="49" charset="0"/>
              </a:rPr>
              <a:t>Attack_object</a:t>
            </a:r>
            <a:r>
              <a:rPr lang="vi-VN" sz="1600" dirty="0" smtClean="0">
                <a:latin typeface="Consolas" panose="020B0609020204030204" pitchFamily="49" charset="0"/>
                <a:cs typeface="Consolas" panose="020B0609020204030204" pitchFamily="49" charset="0"/>
              </a:rPr>
              <a:t> </a:t>
            </a:r>
            <a:r>
              <a:rPr lang="vi-VN" sz="1600" dirty="0">
                <a:latin typeface="Consolas" panose="020B0609020204030204" pitchFamily="49" charset="0"/>
                <a:cs typeface="Consolas" panose="020B0609020204030204" pitchFamily="49" charset="0"/>
              </a:rPr>
              <a:t>là kiểu đối tượng được tạo ra khi </a:t>
            </a:r>
            <a:r>
              <a:rPr lang="vi-VN" sz="1600" dirty="0" err="1">
                <a:latin typeface="Consolas" panose="020B0609020204030204" pitchFamily="49" charset="0"/>
                <a:cs typeface="Consolas" panose="020B0609020204030204" pitchFamily="49" charset="0"/>
              </a:rPr>
              <a:t>Unit</a:t>
            </a:r>
            <a:r>
              <a:rPr lang="vi-VN" sz="1600" dirty="0">
                <a:latin typeface="Consolas" panose="020B0609020204030204" pitchFamily="49" charset="0"/>
                <a:cs typeface="Consolas" panose="020B0609020204030204" pitchFamily="49" charset="0"/>
              </a:rPr>
              <a:t> thực hiện tấn công, có thể được hiểu như là đạn, bom hoặc là tên lửa , gây sát thương kẻ địch và sau đó mất </a:t>
            </a:r>
            <a:r>
              <a:rPr lang="vi-VN" sz="1600" dirty="0" smtClean="0">
                <a:latin typeface="Consolas" panose="020B0609020204030204" pitchFamily="49" charset="0"/>
                <a:cs typeface="Consolas" panose="020B0609020204030204" pitchFamily="49" charset="0"/>
              </a:rPr>
              <a:t>đi</a:t>
            </a:r>
            <a:r>
              <a:rPr lang="en-US" sz="1600" i="1" dirty="0" smtClean="0">
                <a:latin typeface="Consolas" panose="020B0609020204030204" pitchFamily="49" charset="0"/>
                <a:cs typeface="Consolas" panose="020B0609020204030204" pitchFamily="49" charset="0"/>
              </a:rPr>
              <a:t>.</a:t>
            </a:r>
            <a:endParaRPr lang="en-US" sz="1800" i="1" dirty="0" smtClean="0"/>
          </a:p>
          <a:p>
            <a:pPr marL="274320" lvl="1" indent="0">
              <a:buNone/>
            </a:pPr>
            <a:endParaRPr lang="vi-VN" sz="1600" i="1" dirty="0" smtClean="0"/>
          </a:p>
          <a:p>
            <a:pPr marL="274320" lvl="1" indent="0">
              <a:buNone/>
            </a:pPr>
            <a:endParaRPr lang="vi-VN" sz="1600" i="1" dirty="0"/>
          </a:p>
          <a:p>
            <a:pPr marL="274320" lvl="1" indent="0">
              <a:buNone/>
            </a:pPr>
            <a:endParaRPr lang="en-US" sz="1500" dirty="0">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a:t>Thiết kế game</a:t>
            </a:r>
          </a:p>
        </p:txBody>
      </p:sp>
      <p:sp>
        <p:nvSpPr>
          <p:cNvPr id="5" name="Slide Number Placeholder 4"/>
          <p:cNvSpPr>
            <a:spLocks noGrp="1"/>
          </p:cNvSpPr>
          <p:nvPr>
            <p:ph type="sldNum" sz="quarter" idx="12"/>
          </p:nvPr>
        </p:nvSpPr>
        <p:spPr/>
        <p:txBody>
          <a:bodyPr/>
          <a:lstStyle/>
          <a:p>
            <a:fld id="{E31375A4-56A4-47D6-9801-1991572033F7}" type="slidenum">
              <a:rPr lang="en-US" smtClean="0"/>
              <a:t>35</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Video 27-12-2015 8-28-00 S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24000" y="3429000"/>
            <a:ext cx="5391150" cy="1543050"/>
          </a:xfrm>
          <a:prstGeom prst="rect">
            <a:avLst/>
          </a:prstGeom>
        </p:spPr>
      </p:pic>
      <p:sp>
        <p:nvSpPr>
          <p:cNvPr id="10" name="Hộp Văn bản 9"/>
          <p:cNvSpPr txBox="1"/>
          <p:nvPr/>
        </p:nvSpPr>
        <p:spPr>
          <a:xfrm>
            <a:off x="3462085" y="5168386"/>
            <a:ext cx="1667380" cy="369332"/>
          </a:xfrm>
          <a:prstGeom prst="rect">
            <a:avLst/>
          </a:prstGeom>
          <a:noFill/>
        </p:spPr>
        <p:txBody>
          <a:bodyPr wrap="none" rtlCol="0">
            <a:spAutoFit/>
          </a:bodyPr>
          <a:lstStyle/>
          <a:p>
            <a:r>
              <a:rPr lang="vi-VN" dirty="0" err="1" smtClean="0"/>
              <a:t>RPG</a:t>
            </a:r>
            <a:r>
              <a:rPr lang="vi-VN" dirty="0" smtClean="0"/>
              <a:t> </a:t>
            </a:r>
            <a:r>
              <a:rPr lang="vi-VN" dirty="0" err="1" smtClean="0"/>
              <a:t>Weapon</a:t>
            </a:r>
            <a:endParaRPr lang="vi-VN" dirty="0"/>
          </a:p>
        </p:txBody>
      </p:sp>
    </p:spTree>
    <p:extLst>
      <p:ext uri="{BB962C8B-B14F-4D97-AF65-F5344CB8AC3E}">
        <p14:creationId xmlns:p14="http://schemas.microsoft.com/office/powerpoint/2010/main" val="42601043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err="1" smtClean="0">
                <a:latin typeface="Consolas" panose="020B0609020204030204" pitchFamily="49" charset="0"/>
                <a:cs typeface="Consolas" panose="020B0609020204030204" pitchFamily="49" charset="0"/>
              </a:rPr>
              <a:t>GAME</a:t>
            </a:r>
            <a:r>
              <a:rPr lang="vi-VN" dirty="0" smtClean="0">
                <a:latin typeface="Consolas" panose="020B0609020204030204" pitchFamily="49" charset="0"/>
                <a:cs typeface="Consolas" panose="020B0609020204030204" pitchFamily="49" charset="0"/>
              </a:rPr>
              <a:t> </a:t>
            </a:r>
            <a:r>
              <a:rPr lang="vi-VN" dirty="0" err="1" smtClean="0">
                <a:latin typeface="Consolas" panose="020B0609020204030204" pitchFamily="49" charset="0"/>
                <a:cs typeface="Consolas" panose="020B0609020204030204" pitchFamily="49" charset="0"/>
              </a:rPr>
              <a:t>EFFECT</a:t>
            </a:r>
            <a:endParaRPr lang="en-US" dirty="0">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a:xfrm>
            <a:off x="1143000" y="1828800"/>
            <a:ext cx="6858000" cy="1295400"/>
          </a:xfrm>
        </p:spPr>
        <p:txBody>
          <a:bodyPr>
            <a:normAutofit/>
          </a:bodyPr>
          <a:lstStyle/>
          <a:p>
            <a:pPr lvl="1"/>
            <a:r>
              <a:rPr lang="vi-VN" sz="1600" i="1" dirty="0" err="1"/>
              <a:t>Game</a:t>
            </a:r>
            <a:r>
              <a:rPr lang="vi-VN" sz="1600" i="1" dirty="0"/>
              <a:t> </a:t>
            </a:r>
            <a:r>
              <a:rPr lang="vi-VN" sz="1600" i="1" dirty="0" err="1"/>
              <a:t>effect</a:t>
            </a:r>
            <a:r>
              <a:rPr lang="vi-VN" sz="1600" i="1" dirty="0"/>
              <a:t> là các hiệu ứng trong </a:t>
            </a:r>
            <a:r>
              <a:rPr lang="vi-VN" sz="1600" i="1" dirty="0" err="1"/>
              <a:t>game</a:t>
            </a:r>
            <a:r>
              <a:rPr lang="vi-VN" sz="1600" i="1" dirty="0"/>
              <a:t>, như là các vụ nổ, khói, lửa, hiệu ứng khi lính bị bắn, nhà </a:t>
            </a:r>
            <a:r>
              <a:rPr lang="vi-VN" sz="1600" i="1" dirty="0" smtClean="0"/>
              <a:t>nổ.</a:t>
            </a:r>
          </a:p>
          <a:p>
            <a:pPr lvl="1"/>
            <a:r>
              <a:rPr lang="vi-VN" sz="1600" i="1" dirty="0" smtClean="0"/>
              <a:t>Bao gồm </a:t>
            </a:r>
            <a:r>
              <a:rPr lang="vi-VN" sz="1600" i="1" dirty="0" err="1" smtClean="0"/>
              <a:t>particle</a:t>
            </a:r>
            <a:r>
              <a:rPr lang="vi-VN" sz="1600" i="1" dirty="0" smtClean="0"/>
              <a:t> </a:t>
            </a:r>
            <a:r>
              <a:rPr lang="vi-VN" sz="1600" i="1" dirty="0" err="1" smtClean="0"/>
              <a:t>effect</a:t>
            </a:r>
            <a:r>
              <a:rPr lang="vi-VN" sz="1600" i="1" dirty="0" smtClean="0"/>
              <a:t> và </a:t>
            </a:r>
            <a:r>
              <a:rPr lang="vi-VN" sz="1600" i="1" dirty="0" err="1" smtClean="0"/>
              <a:t>movieclip</a:t>
            </a:r>
            <a:r>
              <a:rPr lang="vi-VN" sz="1600" i="1" dirty="0" smtClean="0"/>
              <a:t> </a:t>
            </a:r>
            <a:r>
              <a:rPr lang="vi-VN" sz="1600" i="1" dirty="0" err="1" smtClean="0"/>
              <a:t>effect</a:t>
            </a:r>
            <a:r>
              <a:rPr lang="vi-VN" sz="1600" i="1" dirty="0"/>
              <a:t>.</a:t>
            </a:r>
            <a:endParaRPr lang="vi-VN" sz="1600" i="1" dirty="0" smtClean="0"/>
          </a:p>
          <a:p>
            <a:pPr marL="274320" lvl="1" indent="0">
              <a:buNone/>
            </a:pPr>
            <a:endParaRPr lang="vi-VN" sz="1600" i="1" dirty="0"/>
          </a:p>
          <a:p>
            <a:pPr marL="274320" lvl="1" indent="0">
              <a:buNone/>
            </a:pPr>
            <a:endParaRPr lang="en-US" sz="1500" dirty="0">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a:xfrm>
            <a:off x="1208982" y="6362700"/>
            <a:ext cx="5161165" cy="257176"/>
          </a:xfrm>
        </p:spPr>
        <p:txBody>
          <a:bodyPr/>
          <a:lstStyle/>
          <a:p>
            <a:r>
              <a:rPr lang="en-US" dirty="0" err="1"/>
              <a:t>Thiết</a:t>
            </a:r>
            <a:r>
              <a:rPr lang="en-US" dirty="0"/>
              <a:t> </a:t>
            </a:r>
            <a:r>
              <a:rPr lang="en-US" dirty="0" err="1"/>
              <a:t>kế</a:t>
            </a:r>
            <a:r>
              <a:rPr lang="en-US" dirty="0"/>
              <a:t> game</a:t>
            </a:r>
          </a:p>
        </p:txBody>
      </p:sp>
      <p:sp>
        <p:nvSpPr>
          <p:cNvPr id="5" name="Slide Number Placeholder 4"/>
          <p:cNvSpPr>
            <a:spLocks noGrp="1"/>
          </p:cNvSpPr>
          <p:nvPr>
            <p:ph type="sldNum" sz="quarter" idx="12"/>
          </p:nvPr>
        </p:nvSpPr>
        <p:spPr/>
        <p:txBody>
          <a:bodyPr/>
          <a:lstStyle/>
          <a:p>
            <a:fld id="{E31375A4-56A4-47D6-9801-1991572033F7}" type="slidenum">
              <a:rPr lang="en-US" smtClean="0"/>
              <a:t>36</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 name="Video 27-12-2015 10-28-20 S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rotWithShape="1">
          <a:blip r:embed="rId6"/>
          <a:srcRect l="26667" t="-1835" r="31110" b="1835"/>
          <a:stretch>
            <a:fillRect/>
          </a:stretch>
        </p:blipFill>
        <p:spPr>
          <a:xfrm>
            <a:off x="2209800" y="3124200"/>
            <a:ext cx="1447800" cy="2076450"/>
          </a:xfrm>
          <a:prstGeom prst="rect">
            <a:avLst/>
          </a:prstGeom>
        </p:spPr>
      </p:pic>
      <p:pic>
        <p:nvPicPr>
          <p:cNvPr id="11" name="Video 27-12-2015 10-41-19 SA">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4267200" y="3429000"/>
            <a:ext cx="3429000" cy="1924050"/>
          </a:xfrm>
          <a:prstGeom prst="rect">
            <a:avLst/>
          </a:prstGeom>
        </p:spPr>
      </p:pic>
      <p:sp>
        <p:nvSpPr>
          <p:cNvPr id="12" name="Hộp Văn bản 11"/>
          <p:cNvSpPr txBox="1"/>
          <p:nvPr/>
        </p:nvSpPr>
        <p:spPr>
          <a:xfrm>
            <a:off x="3371471" y="5597009"/>
            <a:ext cx="1420582" cy="307777"/>
          </a:xfrm>
          <a:prstGeom prst="rect">
            <a:avLst/>
          </a:prstGeom>
          <a:noFill/>
        </p:spPr>
        <p:txBody>
          <a:bodyPr wrap="none" rtlCol="0">
            <a:spAutoFit/>
          </a:bodyPr>
          <a:lstStyle/>
          <a:p>
            <a:r>
              <a:rPr lang="vi-VN" sz="1400" i="1" dirty="0" err="1" smtClean="0"/>
              <a:t>Particle</a:t>
            </a:r>
            <a:r>
              <a:rPr lang="vi-VN" sz="1400" i="1" dirty="0" smtClean="0"/>
              <a:t> </a:t>
            </a:r>
            <a:r>
              <a:rPr lang="vi-VN" sz="1400" i="1" dirty="0" err="1" smtClean="0"/>
              <a:t>Effect</a:t>
            </a:r>
            <a:endParaRPr lang="vi-VN" sz="1400" i="1" dirty="0"/>
          </a:p>
        </p:txBody>
      </p:sp>
    </p:spTree>
    <p:extLst>
      <p:ext uri="{BB962C8B-B14F-4D97-AF65-F5344CB8AC3E}">
        <p14:creationId xmlns:p14="http://schemas.microsoft.com/office/powerpoint/2010/main" val="4115557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50" fill="hold"/>
                                        <p:tgtEl>
                                          <p:spTgt spid="10"/>
                                        </p:tgtEl>
                                      </p:cBhvr>
                                    </p:cmd>
                                  </p:childTnLst>
                                </p:cTn>
                              </p:par>
                            </p:childTnLst>
                          </p:cTn>
                        </p:par>
                        <p:par>
                          <p:cTn id="7" fill="hold">
                            <p:stCondLst>
                              <p:cond delay="5250"/>
                            </p:stCondLst>
                            <p:childTnLst>
                              <p:par>
                                <p:cTn id="8" presetID="1" presetClass="mediacall" presetSubtype="0" fill="hold" nodeType="afterEffect">
                                  <p:stCondLst>
                                    <p:cond delay="0"/>
                                  </p:stCondLst>
                                  <p:childTnLst>
                                    <p:cmd type="call" cmd="playFrom(0.0)">
                                      <p:cBhvr>
                                        <p:cTn id="9" dur="40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repeatCount="indefinite" fill="hold" display="0">
                  <p:stCondLst>
                    <p:cond delay="indefinite"/>
                  </p:stCondLst>
                </p:cTn>
                <p:tgtEl>
                  <p:spTgt spid="10"/>
                </p:tgtEl>
              </p:cMediaNode>
            </p:video>
            <p:seq concurrent="1" nextAc="seek">
              <p:cTn id="11" restart="whenNotActive" fill="hold" evtFilter="cancelBubble" nodeType="interactiveSeq">
                <p:stCondLst>
                  <p:cond evt="onClick" delay="0">
                    <p:tgtEl>
                      <p:spTgt spid="10"/>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10"/>
                                        </p:tgtEl>
                                      </p:cBhvr>
                                    </p:cmd>
                                  </p:childTnLst>
                                </p:cTn>
                              </p:par>
                            </p:childTnLst>
                          </p:cTn>
                        </p:par>
                      </p:childTnLst>
                    </p:cTn>
                  </p:par>
                </p:childTnLst>
              </p:cTn>
              <p:nextCondLst>
                <p:cond evt="onClick" delay="0">
                  <p:tgtEl>
                    <p:spTgt spid="10"/>
                  </p:tgtEl>
                </p:cond>
              </p:nextCondLst>
            </p:seq>
            <p:video>
              <p:cMediaNode vol="80000">
                <p:cTn id="16" repeatCount="indefinite" fill="hold" display="0">
                  <p:stCondLst>
                    <p:cond delay="indefinite"/>
                  </p:stCondLst>
                </p:cTn>
                <p:tgtEl>
                  <p:spTgt spid="11"/>
                </p:tgtEl>
              </p:cMediaNode>
            </p:video>
            <p:seq concurrent="1" nextAc="seek">
              <p:cTn id="17" restart="whenNotActive" fill="hold" evtFilter="cancelBubble" nodeType="interactiveSeq">
                <p:stCondLst>
                  <p:cond evt="onClick" delay="0">
                    <p:tgtEl>
                      <p:spTgt spid="11"/>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THIẾT KẾ BẢN ĐỒ GAME</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a:xfrm>
            <a:off x="1066800" y="1828800"/>
            <a:ext cx="3870158" cy="4267200"/>
          </a:xfrm>
        </p:spPr>
        <p:txBody>
          <a:bodyPr>
            <a:normAutofit/>
          </a:bodyPr>
          <a:lstStyle/>
          <a:p>
            <a:r>
              <a:rPr lang="vi-VN" dirty="0">
                <a:latin typeface="Consolas" panose="020B0609020204030204" pitchFamily="49" charset="0"/>
                <a:cs typeface="Consolas" panose="020B0609020204030204" pitchFamily="49" charset="0"/>
              </a:rPr>
              <a:t>Địa </a:t>
            </a:r>
            <a:r>
              <a:rPr lang="vi-VN" dirty="0" smtClean="0">
                <a:latin typeface="Consolas" panose="020B0609020204030204" pitchFamily="49" charset="0"/>
                <a:cs typeface="Consolas" panose="020B0609020204030204" pitchFamily="49" charset="0"/>
              </a:rPr>
              <a:t>hình</a:t>
            </a:r>
            <a:r>
              <a:rPr lang="en-US" dirty="0" smtClean="0">
                <a:latin typeface="Consolas" panose="020B0609020204030204" pitchFamily="49" charset="0"/>
                <a:cs typeface="Consolas" panose="020B0609020204030204" pitchFamily="49" charset="0"/>
              </a:rPr>
              <a:t>: </a:t>
            </a:r>
            <a:r>
              <a:rPr lang="vi-VN" dirty="0" smtClean="0">
                <a:latin typeface="Consolas" panose="020B0609020204030204" pitchFamily="49" charset="0"/>
                <a:cs typeface="Consolas" panose="020B0609020204030204" pitchFamily="49" charset="0"/>
              </a:rPr>
              <a:t>bao </a:t>
            </a:r>
            <a:r>
              <a:rPr lang="vi-VN" dirty="0">
                <a:latin typeface="Consolas" panose="020B0609020204030204" pitchFamily="49" charset="0"/>
                <a:cs typeface="Consolas" panose="020B0609020204030204" pitchFamily="49" charset="0"/>
              </a:rPr>
              <a:t>gồm thông tin </a:t>
            </a:r>
            <a:r>
              <a:rPr lang="vi-VN" dirty="0" smtClean="0">
                <a:latin typeface="Consolas" panose="020B0609020204030204" pitchFamily="49" charset="0"/>
                <a:cs typeface="Consolas" panose="020B0609020204030204" pitchFamily="49" charset="0"/>
              </a:rPr>
              <a:t>như :</a:t>
            </a:r>
          </a:p>
          <a:p>
            <a:pPr lvl="1"/>
            <a:r>
              <a:rPr lang="vi-VN" dirty="0">
                <a:latin typeface="Consolas" panose="020B0609020204030204" pitchFamily="49" charset="0"/>
                <a:cs typeface="Consolas" panose="020B0609020204030204" pitchFamily="49" charset="0"/>
              </a:rPr>
              <a:t>C</a:t>
            </a:r>
            <a:r>
              <a:rPr lang="vi-VN" dirty="0" smtClean="0">
                <a:latin typeface="Consolas" panose="020B0609020204030204" pitchFamily="49" charset="0"/>
                <a:cs typeface="Consolas" panose="020B0609020204030204" pitchFamily="49" charset="0"/>
              </a:rPr>
              <a:t>hiều </a:t>
            </a:r>
            <a:r>
              <a:rPr lang="vi-VN" dirty="0">
                <a:latin typeface="Consolas" panose="020B0609020204030204" pitchFamily="49" charset="0"/>
                <a:cs typeface="Consolas" panose="020B0609020204030204" pitchFamily="49" charset="0"/>
              </a:rPr>
              <a:t>cao, </a:t>
            </a:r>
            <a:endParaRPr lang="vi-VN" dirty="0" smtClean="0">
              <a:latin typeface="Consolas" panose="020B0609020204030204" pitchFamily="49" charset="0"/>
              <a:cs typeface="Consolas" panose="020B0609020204030204" pitchFamily="49" charset="0"/>
            </a:endParaRPr>
          </a:p>
          <a:p>
            <a:pPr lvl="1"/>
            <a:r>
              <a:rPr lang="vi-VN" dirty="0">
                <a:latin typeface="Consolas" panose="020B0609020204030204" pitchFamily="49" charset="0"/>
                <a:cs typeface="Consolas" panose="020B0609020204030204" pitchFamily="49" charset="0"/>
              </a:rPr>
              <a:t>C</a:t>
            </a:r>
            <a:r>
              <a:rPr lang="vi-VN" dirty="0" smtClean="0">
                <a:latin typeface="Consolas" panose="020B0609020204030204" pitchFamily="49" charset="0"/>
                <a:cs typeface="Consolas" panose="020B0609020204030204" pitchFamily="49" charset="0"/>
              </a:rPr>
              <a:t>hất </a:t>
            </a:r>
            <a:r>
              <a:rPr lang="vi-VN" dirty="0">
                <a:latin typeface="Consolas" panose="020B0609020204030204" pitchFamily="49" charset="0"/>
                <a:cs typeface="Consolas" panose="020B0609020204030204" pitchFamily="49" charset="0"/>
              </a:rPr>
              <a:t>liệu như biển, đất liền, hoặc </a:t>
            </a:r>
            <a:r>
              <a:rPr lang="vi-VN">
                <a:latin typeface="Consolas" panose="020B0609020204030204" pitchFamily="49" charset="0"/>
                <a:cs typeface="Consolas" panose="020B0609020204030204" pitchFamily="49" charset="0"/>
              </a:rPr>
              <a:t>đá </a:t>
            </a:r>
            <a:r>
              <a:rPr lang="vi-VN" smtClean="0">
                <a:latin typeface="Consolas" panose="020B0609020204030204" pitchFamily="49" charset="0"/>
                <a:cs typeface="Consolas" panose="020B0609020204030204" pitchFamily="49" charset="0"/>
              </a:rPr>
              <a:t>… </a:t>
            </a:r>
            <a:endParaRPr lang="vi-VN" dirty="0">
              <a:latin typeface="Consolas" panose="020B0609020204030204" pitchFamily="49" charset="0"/>
              <a:cs typeface="Consolas" panose="020B0609020204030204" pitchFamily="49" charset="0"/>
            </a:endParaRPr>
          </a:p>
          <a:p>
            <a:pPr marL="274320" lvl="1" indent="0">
              <a:buNone/>
            </a:pPr>
            <a:r>
              <a:rPr lang="vi-VN" dirty="0">
                <a:latin typeface="Consolas" panose="020B0609020204030204" pitchFamily="49" charset="0"/>
                <a:cs typeface="Consolas" panose="020B0609020204030204" pitchFamily="49" charset="0"/>
              </a:rPr>
              <a:t>C</a:t>
            </a:r>
            <a:r>
              <a:rPr lang="vi-VN" dirty="0" smtClean="0">
                <a:latin typeface="Consolas" panose="020B0609020204030204" pitchFamily="49" charset="0"/>
                <a:cs typeface="Consolas" panose="020B0609020204030204" pitchFamily="49" charset="0"/>
              </a:rPr>
              <a:t>ác </a:t>
            </a:r>
            <a:r>
              <a:rPr lang="vi-VN" dirty="0">
                <a:latin typeface="Consolas" panose="020B0609020204030204" pitchFamily="49" charset="0"/>
                <a:cs typeface="Consolas" panose="020B0609020204030204" pitchFamily="49" charset="0"/>
              </a:rPr>
              <a:t>thông tin này để tiện truy xuất thì ta dùng 1 mảng 2 chiều để lưu thông tin về chiều cao ( </a:t>
            </a:r>
            <a:r>
              <a:rPr lang="vi-VN" i="1" dirty="0" err="1">
                <a:latin typeface="Consolas" panose="020B0609020204030204" pitchFamily="49" charset="0"/>
                <a:cs typeface="Consolas" panose="020B0609020204030204" pitchFamily="49" charset="0"/>
              </a:rPr>
              <a:t>height</a:t>
            </a:r>
            <a:r>
              <a:rPr lang="vi-VN" i="1" dirty="0">
                <a:latin typeface="Consolas" panose="020B0609020204030204" pitchFamily="49" charset="0"/>
                <a:cs typeface="Consolas" panose="020B0609020204030204" pitchFamily="49" charset="0"/>
              </a:rPr>
              <a:t> </a:t>
            </a:r>
            <a:r>
              <a:rPr lang="vi-VN" i="1" dirty="0" err="1">
                <a:latin typeface="Consolas" panose="020B0609020204030204" pitchFamily="49" charset="0"/>
                <a:cs typeface="Consolas" panose="020B0609020204030204" pitchFamily="49" charset="0"/>
              </a:rPr>
              <a:t>map</a:t>
            </a:r>
            <a:r>
              <a:rPr lang="vi-VN" dirty="0">
                <a:latin typeface="Consolas" panose="020B0609020204030204" pitchFamily="49" charset="0"/>
                <a:cs typeface="Consolas" panose="020B0609020204030204" pitchFamily="49" charset="0"/>
              </a:rPr>
              <a:t> ),  và 1 mảng 2 chiều lưu thông tin về chất liệu (</a:t>
            </a:r>
            <a:r>
              <a:rPr lang="vi-VN" i="1" dirty="0" err="1">
                <a:latin typeface="Consolas" panose="020B0609020204030204" pitchFamily="49" charset="0"/>
                <a:cs typeface="Consolas" panose="020B0609020204030204" pitchFamily="49" charset="0"/>
              </a:rPr>
              <a:t>material</a:t>
            </a:r>
            <a:r>
              <a:rPr lang="vi-VN" i="1" dirty="0">
                <a:latin typeface="Consolas" panose="020B0609020204030204" pitchFamily="49" charset="0"/>
                <a:cs typeface="Consolas" panose="020B0609020204030204" pitchFamily="49" charset="0"/>
              </a:rPr>
              <a:t> </a:t>
            </a:r>
            <a:r>
              <a:rPr lang="vi-VN" i="1" dirty="0" err="1">
                <a:latin typeface="Consolas" panose="020B0609020204030204" pitchFamily="49" charset="0"/>
                <a:cs typeface="Consolas" panose="020B0609020204030204" pitchFamily="49" charset="0"/>
              </a:rPr>
              <a:t>map</a:t>
            </a:r>
            <a:r>
              <a:rPr lang="vi-VN"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a:t>Thiết kế game</a:t>
            </a:r>
          </a:p>
        </p:txBody>
      </p:sp>
      <p:sp>
        <p:nvSpPr>
          <p:cNvPr id="5" name="Slide Number Placeholder 4"/>
          <p:cNvSpPr>
            <a:spLocks noGrp="1"/>
          </p:cNvSpPr>
          <p:nvPr>
            <p:ph type="sldNum" sz="quarter" idx="12"/>
          </p:nvPr>
        </p:nvSpPr>
        <p:spPr/>
        <p:txBody>
          <a:bodyPr/>
          <a:lstStyle/>
          <a:p>
            <a:fld id="{E31375A4-56A4-47D6-9801-1991572033F7}" type="slidenum">
              <a:rPr lang="en-US" smtClean="0"/>
              <a:t>37</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1143000" y="3733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98120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1" name="Ảnh 5"/>
          <p:cNvPicPr/>
          <p:nvPr/>
        </p:nvPicPr>
        <p:blipFill>
          <a:blip r:embed="rId2"/>
          <a:stretch>
            <a:fillRect/>
          </a:stretch>
        </p:blipFill>
        <p:spPr>
          <a:xfrm>
            <a:off x="4936958" y="1866900"/>
            <a:ext cx="3810001" cy="3197226"/>
          </a:xfrm>
          <a:prstGeom prst="rect">
            <a:avLst/>
          </a:prstGeom>
        </p:spPr>
      </p:pic>
      <p:sp>
        <p:nvSpPr>
          <p:cNvPr id="7" name="Rectangle 6"/>
          <p:cNvSpPr/>
          <p:nvPr/>
        </p:nvSpPr>
        <p:spPr>
          <a:xfrm>
            <a:off x="6220634" y="5169243"/>
            <a:ext cx="1242648" cy="323165"/>
          </a:xfrm>
          <a:prstGeom prst="rect">
            <a:avLst/>
          </a:prstGeom>
        </p:spPr>
        <p:txBody>
          <a:bodyPr wrap="none">
            <a:spAutoFit/>
          </a:bodyPr>
          <a:lstStyle/>
          <a:p>
            <a:r>
              <a:rPr lang="vi-VN" sz="1500" dirty="0" err="1">
                <a:latin typeface="Consolas" panose="020B0609020204030204" pitchFamily="49" charset="0"/>
                <a:ea typeface="Arial" panose="020B0604020202020204" pitchFamily="34" charset="0"/>
                <a:cs typeface="Consolas" panose="020B0609020204030204" pitchFamily="49" charset="0"/>
              </a:rPr>
              <a:t>Height</a:t>
            </a:r>
            <a:r>
              <a:rPr lang="vi-VN" sz="1500" dirty="0">
                <a:latin typeface="Consolas" panose="020B0609020204030204" pitchFamily="49" charset="0"/>
                <a:ea typeface="Arial" panose="020B0604020202020204" pitchFamily="34" charset="0"/>
                <a:cs typeface="Consolas" panose="020B0609020204030204" pitchFamily="49" charset="0"/>
              </a:rPr>
              <a:t> </a:t>
            </a:r>
            <a:r>
              <a:rPr lang="vi-VN" sz="1500" dirty="0" err="1">
                <a:latin typeface="Consolas" panose="020B0609020204030204" pitchFamily="49" charset="0"/>
                <a:ea typeface="Arial" panose="020B0604020202020204" pitchFamily="34" charset="0"/>
                <a:cs typeface="Consolas" panose="020B0609020204030204" pitchFamily="49" charset="0"/>
              </a:rPr>
              <a:t>Map</a:t>
            </a:r>
            <a:endParaRPr lang="en-US" sz="15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6140212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THIẾT KẾ BẢN ĐỒ GAME</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normAutofit/>
          </a:bodyPr>
          <a:lstStyle/>
          <a:p>
            <a:r>
              <a:rPr lang="vi-VN">
                <a:latin typeface="Consolas" panose="020B0609020204030204" pitchFamily="49" charset="0"/>
                <a:cs typeface="Consolas" panose="020B0609020204030204" pitchFamily="49" charset="0"/>
              </a:rPr>
              <a:t>Hệ thống </a:t>
            </a:r>
            <a:r>
              <a:rPr lang="en-US" smtClean="0">
                <a:latin typeface="Consolas" panose="020B0609020204030204" pitchFamily="49" charset="0"/>
                <a:cs typeface="Consolas" panose="020B0609020204030204" pitchFamily="49" charset="0"/>
              </a:rPr>
              <a:t>GRID</a:t>
            </a:r>
            <a:r>
              <a:rPr lang="vi-VN" smtClean="0">
                <a:latin typeface="Consolas" panose="020B0609020204030204" pitchFamily="49" charset="0"/>
                <a:cs typeface="Consolas" panose="020B0609020204030204" pitchFamily="49" charset="0"/>
              </a:rPr>
              <a:t> </a:t>
            </a:r>
            <a:r>
              <a:rPr lang="en-US" smtClean="0">
                <a:latin typeface="Consolas" panose="020B0609020204030204" pitchFamily="49" charset="0"/>
                <a:cs typeface="Consolas" panose="020B0609020204030204" pitchFamily="49" charset="0"/>
              </a:rPr>
              <a:t>: sử dụng </a:t>
            </a:r>
            <a:r>
              <a:rPr lang="vi-VN" smtClean="0">
                <a:latin typeface="Consolas" panose="020B0609020204030204" pitchFamily="49" charset="0"/>
                <a:cs typeface="Consolas" panose="020B0609020204030204" pitchFamily="49" charset="0"/>
              </a:rPr>
              <a:t>để </a:t>
            </a:r>
            <a:r>
              <a:rPr lang="vi-VN">
                <a:latin typeface="Consolas" panose="020B0609020204030204" pitchFamily="49" charset="0"/>
                <a:cs typeface="Consolas" panose="020B0609020204030204" pitchFamily="49" charset="0"/>
              </a:rPr>
              <a:t>xử lý va chạm</a:t>
            </a:r>
            <a:endParaRPr lang="en-US">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a:t>Thiết kế game</a:t>
            </a:r>
          </a:p>
        </p:txBody>
      </p:sp>
      <p:sp>
        <p:nvSpPr>
          <p:cNvPr id="5" name="Slide Number Placeholder 4"/>
          <p:cNvSpPr>
            <a:spLocks noGrp="1"/>
          </p:cNvSpPr>
          <p:nvPr>
            <p:ph type="sldNum" sz="quarter" idx="12"/>
          </p:nvPr>
        </p:nvSpPr>
        <p:spPr/>
        <p:txBody>
          <a:bodyPr/>
          <a:lstStyle/>
          <a:p>
            <a:fld id="{E31375A4-56A4-47D6-9801-1991572033F7}" type="slidenum">
              <a:rPr lang="en-US" smtClean="0"/>
              <a:t>38</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1295400" y="3876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2064153"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2" name="Ảnh 8"/>
          <p:cNvPicPr/>
          <p:nvPr/>
        </p:nvPicPr>
        <p:blipFill>
          <a:blip r:embed="rId2"/>
          <a:stretch>
            <a:fillRect/>
          </a:stretch>
        </p:blipFill>
        <p:spPr>
          <a:xfrm>
            <a:off x="2033202" y="2362200"/>
            <a:ext cx="3181985" cy="2322195"/>
          </a:xfrm>
          <a:prstGeom prst="rect">
            <a:avLst/>
          </a:prstGeom>
        </p:spPr>
      </p:pic>
      <p:sp>
        <p:nvSpPr>
          <p:cNvPr id="13" name="Rectangle 12"/>
          <p:cNvSpPr/>
          <p:nvPr/>
        </p:nvSpPr>
        <p:spPr>
          <a:xfrm>
            <a:off x="2064153" y="4848463"/>
            <a:ext cx="1560042" cy="323165"/>
          </a:xfrm>
          <a:prstGeom prst="rect">
            <a:avLst/>
          </a:prstGeom>
        </p:spPr>
        <p:txBody>
          <a:bodyPr wrap="none">
            <a:spAutoFit/>
          </a:bodyPr>
          <a:lstStyle/>
          <a:p>
            <a:r>
              <a:rPr lang="vi-VN" sz="1500">
                <a:latin typeface="Consolas" panose="020B0609020204030204" pitchFamily="49" charset="0"/>
                <a:ea typeface="Arial" panose="020B0604020202020204" pitchFamily="34" charset="0"/>
                <a:cs typeface="Consolas" panose="020B0609020204030204" pitchFamily="49" charset="0"/>
              </a:rPr>
              <a:t>Hệ thống GRID</a:t>
            </a:r>
            <a:endParaRPr lang="en-US" sz="150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64946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THIẾT KẾ BẢN ĐỒ GAME</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normAutofit/>
          </a:bodyPr>
          <a:lstStyle/>
          <a:p>
            <a:r>
              <a:rPr lang="vi-VN" dirty="0" smtClean="0">
                <a:latin typeface="Consolas" panose="020B0609020204030204" pitchFamily="49" charset="0"/>
                <a:cs typeface="Consolas" panose="020B0609020204030204" pitchFamily="49" charset="0"/>
              </a:rPr>
              <a:t>Tìm đường</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phương</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pháp</a:t>
            </a:r>
            <a:r>
              <a:rPr lang="en-US" dirty="0" smtClean="0">
                <a:latin typeface="Consolas" panose="020B0609020204030204" pitchFamily="49" charset="0"/>
                <a:cs typeface="Consolas" panose="020B0609020204030204" pitchFamily="49" charset="0"/>
              </a:rPr>
              <a:t> </a:t>
            </a:r>
            <a:r>
              <a:rPr lang="vi-VN" dirty="0" err="1" smtClean="0">
                <a:latin typeface="Consolas" panose="020B0609020204030204" pitchFamily="49" charset="0"/>
                <a:cs typeface="Consolas" panose="020B0609020204030204" pitchFamily="49" charset="0"/>
              </a:rPr>
              <a:t>Goal-Based</a:t>
            </a:r>
            <a:r>
              <a:rPr lang="vi-VN" dirty="0" smtClean="0">
                <a:latin typeface="Consolas" panose="020B0609020204030204" pitchFamily="49" charset="0"/>
                <a:cs typeface="Consolas" panose="020B0609020204030204" pitchFamily="49" charset="0"/>
              </a:rPr>
              <a:t> </a:t>
            </a:r>
            <a:r>
              <a:rPr lang="vi-VN" dirty="0" err="1" smtClean="0">
                <a:latin typeface="Consolas" panose="020B0609020204030204" pitchFamily="49" charset="0"/>
                <a:cs typeface="Consolas" panose="020B0609020204030204" pitchFamily="49" charset="0"/>
              </a:rPr>
              <a:t>Vector</a:t>
            </a:r>
            <a:r>
              <a:rPr lang="vi-VN" dirty="0" smtClean="0">
                <a:latin typeface="Consolas" panose="020B0609020204030204" pitchFamily="49" charset="0"/>
                <a:cs typeface="Consolas" panose="020B0609020204030204" pitchFamily="49" charset="0"/>
              </a:rPr>
              <a:t> </a:t>
            </a:r>
            <a:r>
              <a:rPr lang="vi-VN" dirty="0" err="1" smtClean="0">
                <a:latin typeface="Consolas" panose="020B0609020204030204" pitchFamily="49" charset="0"/>
                <a:cs typeface="Consolas" panose="020B0609020204030204" pitchFamily="49" charset="0"/>
              </a:rPr>
              <a:t>Field</a:t>
            </a:r>
            <a:endParaRPr lang="en-US" dirty="0">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a:t>Thiết kế game</a:t>
            </a:r>
          </a:p>
        </p:txBody>
      </p:sp>
      <p:sp>
        <p:nvSpPr>
          <p:cNvPr id="5" name="Slide Number Placeholder 4"/>
          <p:cNvSpPr>
            <a:spLocks noGrp="1"/>
          </p:cNvSpPr>
          <p:nvPr>
            <p:ph type="sldNum" sz="quarter" idx="12"/>
          </p:nvPr>
        </p:nvSpPr>
        <p:spPr/>
        <p:txBody>
          <a:bodyPr/>
          <a:lstStyle/>
          <a:p>
            <a:fld id="{E31375A4-56A4-47D6-9801-1991572033F7}" type="slidenum">
              <a:rPr lang="en-US" smtClean="0"/>
              <a:t>39</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1295400" y="3876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98120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4" name="Ảnh 11"/>
          <p:cNvPicPr/>
          <p:nvPr/>
        </p:nvPicPr>
        <p:blipFill>
          <a:blip r:embed="rId2">
            <a:extLst>
              <a:ext uri="{28A0092B-C50C-407E-A947-70E740481C1C}">
                <a14:useLocalDpi xmlns:a14="http://schemas.microsoft.com/office/drawing/2010/main" val="0"/>
              </a:ext>
            </a:extLst>
          </a:blip>
          <a:stretch>
            <a:fillRect/>
          </a:stretch>
        </p:blipFill>
        <p:spPr>
          <a:xfrm>
            <a:off x="1295400" y="2408793"/>
            <a:ext cx="2700655" cy="1850390"/>
          </a:xfrm>
          <a:prstGeom prst="rect">
            <a:avLst/>
          </a:prstGeom>
        </p:spPr>
      </p:pic>
      <p:sp>
        <p:nvSpPr>
          <p:cNvPr id="7" name="Rectangle 6"/>
          <p:cNvSpPr/>
          <p:nvPr/>
        </p:nvSpPr>
        <p:spPr>
          <a:xfrm>
            <a:off x="1981200" y="4362600"/>
            <a:ext cx="1454244" cy="323165"/>
          </a:xfrm>
          <a:prstGeom prst="rect">
            <a:avLst/>
          </a:prstGeom>
        </p:spPr>
        <p:txBody>
          <a:bodyPr wrap="none">
            <a:spAutoFit/>
          </a:bodyPr>
          <a:lstStyle/>
          <a:p>
            <a:r>
              <a:rPr lang="vi-VN" sz="1500">
                <a:latin typeface="Consolas" panose="020B0609020204030204" pitchFamily="49" charset="0"/>
                <a:ea typeface="Arial" panose="020B0604020202020204" pitchFamily="34" charset="0"/>
                <a:cs typeface="Consolas" panose="020B0609020204030204" pitchFamily="49" charset="0"/>
              </a:rPr>
              <a:t>Bản đồ </a:t>
            </a:r>
            <a:r>
              <a:rPr lang="vi-VN" sz="1500" smtClean="0">
                <a:latin typeface="Consolas" panose="020B0609020204030204" pitchFamily="49" charset="0"/>
                <a:ea typeface="Arial" panose="020B0604020202020204" pitchFamily="34" charset="0"/>
                <a:cs typeface="Consolas" panose="020B0609020204030204" pitchFamily="49" charset="0"/>
              </a:rPr>
              <a:t>nhiệ</a:t>
            </a:r>
            <a:r>
              <a:rPr lang="en-US" sz="1500" smtClean="0">
                <a:latin typeface="Consolas" panose="020B0609020204030204" pitchFamily="49" charset="0"/>
                <a:ea typeface="Arial" panose="020B0604020202020204" pitchFamily="34" charset="0"/>
                <a:cs typeface="Consolas" panose="020B0609020204030204" pitchFamily="49" charset="0"/>
              </a:rPr>
              <a:t>t</a:t>
            </a:r>
            <a:endParaRPr lang="en-US" sz="1500">
              <a:latin typeface="Consolas" panose="020B0609020204030204" pitchFamily="49" charset="0"/>
              <a:cs typeface="Consolas" panose="020B0609020204030204" pitchFamily="49" charset="0"/>
            </a:endParaRPr>
          </a:p>
        </p:txBody>
      </p:sp>
      <p:pic>
        <p:nvPicPr>
          <p:cNvPr id="15" name="Ảnh 20"/>
          <p:cNvPicPr/>
          <p:nvPr/>
        </p:nvPicPr>
        <p:blipFill>
          <a:blip r:embed="rId3">
            <a:extLst>
              <a:ext uri="{28A0092B-C50C-407E-A947-70E740481C1C}">
                <a14:useLocalDpi xmlns:a14="http://schemas.microsoft.com/office/drawing/2010/main" val="0"/>
              </a:ext>
            </a:extLst>
          </a:blip>
          <a:srcRect/>
          <a:stretch>
            <a:fillRect/>
          </a:stretch>
        </p:blipFill>
        <p:spPr bwMode="auto">
          <a:xfrm>
            <a:off x="4922520" y="2362200"/>
            <a:ext cx="2764155" cy="1894205"/>
          </a:xfrm>
          <a:prstGeom prst="rect">
            <a:avLst/>
          </a:prstGeom>
          <a:noFill/>
          <a:ln>
            <a:noFill/>
          </a:ln>
        </p:spPr>
      </p:pic>
      <p:sp>
        <p:nvSpPr>
          <p:cNvPr id="11" name="Rectangle 10"/>
          <p:cNvSpPr/>
          <p:nvPr/>
        </p:nvSpPr>
        <p:spPr>
          <a:xfrm>
            <a:off x="4568549" y="4284245"/>
            <a:ext cx="3185487" cy="438582"/>
          </a:xfrm>
          <a:prstGeom prst="rect">
            <a:avLst/>
          </a:prstGeom>
        </p:spPr>
        <p:txBody>
          <a:bodyPr wrap="none">
            <a:spAutoFit/>
          </a:bodyPr>
          <a:lstStyle/>
          <a:p>
            <a:pPr marL="457200" marR="0" algn="ctr">
              <a:lnSpc>
                <a:spcPct val="150000"/>
              </a:lnSpc>
              <a:spcBef>
                <a:spcPts val="0"/>
              </a:spcBef>
              <a:spcAft>
                <a:spcPts val="0"/>
              </a:spcAft>
            </a:pPr>
            <a:r>
              <a:rPr lang="vi-VN" sz="1500" smtClean="0">
                <a:latin typeface="Consolas" panose="020B0609020204030204" pitchFamily="49" charset="0"/>
                <a:ea typeface="Arial" panose="020B0604020202020204" pitchFamily="34" charset="0"/>
                <a:cs typeface="Consolas" panose="020B0609020204030204" pitchFamily="49" charset="0"/>
              </a:rPr>
              <a:t>Bản đồ vecto</a:t>
            </a:r>
            <a:r>
              <a:rPr lang="en-US" sz="1500" smtClean="0">
                <a:latin typeface="Consolas" panose="020B0609020204030204" pitchFamily="49" charset="0"/>
                <a:ea typeface="Arial" panose="020B0604020202020204" pitchFamily="34" charset="0"/>
                <a:cs typeface="Consolas" panose="020B0609020204030204" pitchFamily="49" charset="0"/>
              </a:rPr>
              <a:t>r</a:t>
            </a:r>
            <a:r>
              <a:rPr lang="vi-VN" sz="1500" smtClean="0">
                <a:latin typeface="Consolas" panose="020B0609020204030204" pitchFamily="49" charset="0"/>
                <a:ea typeface="Arial" panose="020B0604020202020204" pitchFamily="34" charset="0"/>
                <a:cs typeface="Consolas" panose="020B0609020204030204" pitchFamily="49" charset="0"/>
              </a:rPr>
              <a:t> định hướng</a:t>
            </a:r>
            <a:endParaRPr lang="en-US" sz="1500">
              <a:effectLst/>
              <a:latin typeface="Consolas" panose="020B0609020204030204" pitchFamily="49" charset="0"/>
              <a:ea typeface="Arial" panose="020B0604020202020204" pitchFamily="34" charset="0"/>
              <a:cs typeface="Consolas" panose="020B0609020204030204" pitchFamily="49" charset="0"/>
            </a:endParaRPr>
          </a:p>
        </p:txBody>
      </p:sp>
    </p:spTree>
    <p:extLst>
      <p:ext uri="{BB962C8B-B14F-4D97-AF65-F5344CB8AC3E}">
        <p14:creationId xmlns:p14="http://schemas.microsoft.com/office/powerpoint/2010/main" val="5157930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THIẾT KẾ AI</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normAutofit/>
          </a:bodyPr>
          <a:lstStyle/>
          <a:p>
            <a:r>
              <a:rPr lang="en-US" dirty="0" err="1" smtClean="0">
                <a:latin typeface="Consolas" panose="020B0609020204030204" pitchFamily="49" charset="0"/>
                <a:cs typeface="Consolas" panose="020B0609020204030204" pitchFamily="49" charset="0"/>
              </a:rPr>
              <a:t>Sử</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dụng</a:t>
            </a:r>
            <a:r>
              <a:rPr lang="en-US" dirty="0" smtClean="0">
                <a:latin typeface="Consolas" panose="020B0609020204030204" pitchFamily="49" charset="0"/>
                <a:cs typeface="Consolas" panose="020B0609020204030204" pitchFamily="49" charset="0"/>
              </a:rPr>
              <a:t> web worker </a:t>
            </a:r>
            <a:r>
              <a:rPr lang="en-US" dirty="0" err="1" smtClean="0">
                <a:latin typeface="Consolas" panose="020B0609020204030204" pitchFamily="49" charset="0"/>
                <a:cs typeface="Consolas" panose="020B0609020204030204" pitchFamily="49" charset="0"/>
              </a:rPr>
              <a:t>để</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sử</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lý</a:t>
            </a:r>
            <a:r>
              <a:rPr lang="en-US" dirty="0" smtClean="0">
                <a:latin typeface="Consolas" panose="020B0609020204030204" pitchFamily="49" charset="0"/>
                <a:cs typeface="Consolas" panose="020B0609020204030204" pitchFamily="49" charset="0"/>
              </a:rPr>
              <a:t> ở </a:t>
            </a:r>
            <a:r>
              <a:rPr lang="en-US" dirty="0" err="1" smtClean="0">
                <a:latin typeface="Consolas" panose="020B0609020204030204" pitchFamily="49" charset="0"/>
                <a:cs typeface="Consolas" panose="020B0609020204030204" pitchFamily="49" charset="0"/>
              </a:rPr>
              <a:t>luồng</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riêng</a:t>
            </a:r>
            <a:endParaRPr lang="en-US" dirty="0" smtClean="0">
              <a:latin typeface="Consolas" panose="020B0609020204030204" pitchFamily="49" charset="0"/>
              <a:cs typeface="Consolas" panose="020B0609020204030204" pitchFamily="49" charset="0"/>
            </a:endParaRPr>
          </a:p>
          <a:p>
            <a:r>
              <a:rPr lang="en-US" dirty="0" err="1" smtClean="0">
                <a:latin typeface="Consolas" panose="020B0609020204030204" pitchFamily="49" charset="0"/>
                <a:cs typeface="Consolas" panose="020B0609020204030204" pitchFamily="49" charset="0"/>
              </a:rPr>
              <a:t>Bao</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gồm</a:t>
            </a:r>
            <a:r>
              <a:rPr lang="en-US" dirty="0" smtClean="0">
                <a:latin typeface="Consolas" panose="020B0609020204030204" pitchFamily="49" charset="0"/>
                <a:cs typeface="Consolas" panose="020B0609020204030204" pitchFamily="49" charset="0"/>
              </a:rPr>
              <a:t>:</a:t>
            </a:r>
          </a:p>
          <a:p>
            <a:pPr lvl="1"/>
            <a:r>
              <a:rPr lang="en-US" dirty="0" smtClean="0">
                <a:latin typeface="Consolas" panose="020B0609020204030204" pitchFamily="49" charset="0"/>
                <a:cs typeface="Consolas" panose="020B0609020204030204" pitchFamily="49" charset="0"/>
              </a:rPr>
              <a:t>Base AI </a:t>
            </a:r>
            <a:r>
              <a:rPr lang="en-US" dirty="0" err="1" smtClean="0">
                <a:latin typeface="Consolas" panose="020B0609020204030204" pitchFamily="49" charset="0"/>
                <a:cs typeface="Consolas" panose="020B0609020204030204" pitchFamily="49" charset="0"/>
              </a:rPr>
              <a:t>với</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các</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xử</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lý</a:t>
            </a:r>
            <a:r>
              <a:rPr lang="en-US" dirty="0" smtClean="0">
                <a:latin typeface="Consolas" panose="020B0609020204030204" pitchFamily="49" charset="0"/>
                <a:cs typeface="Consolas" panose="020B0609020204030204" pitchFamily="49" charset="0"/>
              </a:rPr>
              <a:t>: </a:t>
            </a:r>
          </a:p>
          <a:p>
            <a:pPr lvl="2"/>
            <a:r>
              <a:rPr lang="en-US" sz="1300" dirty="0" err="1"/>
              <a:t>Lưu</a:t>
            </a:r>
            <a:r>
              <a:rPr lang="en-US" sz="1300" dirty="0"/>
              <a:t> </a:t>
            </a:r>
            <a:r>
              <a:rPr lang="en-US" sz="1300" dirty="0" err="1"/>
              <a:t>trữ</a:t>
            </a:r>
            <a:r>
              <a:rPr lang="en-US" sz="1300" dirty="0"/>
              <a:t>, </a:t>
            </a:r>
            <a:r>
              <a:rPr lang="en-US" sz="1300" dirty="0" err="1"/>
              <a:t>xỷ</a:t>
            </a:r>
            <a:r>
              <a:rPr lang="en-US" sz="1300" dirty="0"/>
              <a:t> </a:t>
            </a:r>
            <a:r>
              <a:rPr lang="en-US" sz="1300" dirty="0" err="1"/>
              <a:t>lý</a:t>
            </a:r>
            <a:r>
              <a:rPr lang="en-US" sz="1300" dirty="0"/>
              <a:t> </a:t>
            </a:r>
            <a:r>
              <a:rPr lang="en-US" sz="1300" dirty="0" err="1"/>
              <a:t>với</a:t>
            </a:r>
            <a:r>
              <a:rPr lang="en-US" sz="1300" dirty="0"/>
              <a:t> </a:t>
            </a:r>
            <a:r>
              <a:rPr lang="en-US" sz="1300" dirty="0" err="1"/>
              <a:t>thông</a:t>
            </a:r>
            <a:r>
              <a:rPr lang="en-US" sz="1300" dirty="0"/>
              <a:t> tin (GAME INFO)</a:t>
            </a:r>
          </a:p>
          <a:p>
            <a:pPr lvl="2"/>
            <a:r>
              <a:rPr lang="en-US" sz="1300" dirty="0" err="1"/>
              <a:t>Nhận</a:t>
            </a:r>
            <a:r>
              <a:rPr lang="en-US" sz="1300" dirty="0"/>
              <a:t>, </a:t>
            </a:r>
            <a:r>
              <a:rPr lang="en-US" sz="1300" dirty="0" err="1"/>
              <a:t>xử</a:t>
            </a:r>
            <a:r>
              <a:rPr lang="en-US" sz="1300" dirty="0"/>
              <a:t> </a:t>
            </a:r>
            <a:r>
              <a:rPr lang="en-US" sz="1300" dirty="0" err="1"/>
              <a:t>lý</a:t>
            </a:r>
            <a:r>
              <a:rPr lang="en-US" sz="1300" dirty="0"/>
              <a:t> </a:t>
            </a:r>
            <a:r>
              <a:rPr lang="en-US" sz="1300" dirty="0" err="1"/>
              <a:t>với</a:t>
            </a:r>
            <a:r>
              <a:rPr lang="en-US" sz="1300" dirty="0"/>
              <a:t> </a:t>
            </a:r>
            <a:r>
              <a:rPr lang="en-US" sz="1300" dirty="0" err="1"/>
              <a:t>các</a:t>
            </a:r>
            <a:r>
              <a:rPr lang="en-US" sz="1300" dirty="0"/>
              <a:t> </a:t>
            </a:r>
            <a:r>
              <a:rPr lang="en-US" sz="1300" dirty="0" err="1"/>
              <a:t>sự</a:t>
            </a:r>
            <a:r>
              <a:rPr lang="en-US" sz="1300" dirty="0"/>
              <a:t> </a:t>
            </a:r>
            <a:r>
              <a:rPr lang="en-US" sz="1300" dirty="0" err="1"/>
              <a:t>kiện</a:t>
            </a:r>
            <a:r>
              <a:rPr lang="en-US" sz="1300" dirty="0"/>
              <a:t> </a:t>
            </a:r>
            <a:r>
              <a:rPr lang="en-US" sz="1300" dirty="0" err="1"/>
              <a:t>không</a:t>
            </a:r>
            <a:r>
              <a:rPr lang="en-US" sz="1300" dirty="0"/>
              <a:t> game (EVENT HANDLER)</a:t>
            </a:r>
          </a:p>
          <a:p>
            <a:pPr lvl="2"/>
            <a:r>
              <a:rPr lang="en-US" sz="1300" dirty="0" err="1"/>
              <a:t>Cung</a:t>
            </a:r>
            <a:r>
              <a:rPr lang="en-US" sz="1300" dirty="0"/>
              <a:t> </a:t>
            </a:r>
            <a:r>
              <a:rPr lang="en-US" sz="1300" dirty="0" err="1"/>
              <a:t>cấp</a:t>
            </a:r>
            <a:r>
              <a:rPr lang="en-US" sz="1300" dirty="0"/>
              <a:t> </a:t>
            </a:r>
            <a:r>
              <a:rPr lang="en-US" sz="1300" dirty="0" err="1"/>
              <a:t>các</a:t>
            </a:r>
            <a:r>
              <a:rPr lang="en-US" sz="1300" dirty="0"/>
              <a:t> </a:t>
            </a:r>
            <a:r>
              <a:rPr lang="en-US" sz="1300" dirty="0" err="1"/>
              <a:t>hệ</a:t>
            </a:r>
            <a:r>
              <a:rPr lang="en-US" sz="1300" dirty="0"/>
              <a:t> </a:t>
            </a:r>
            <a:r>
              <a:rPr lang="en-US" sz="1300" dirty="0" err="1"/>
              <a:t>thống</a:t>
            </a:r>
            <a:r>
              <a:rPr lang="en-US" sz="1300" dirty="0"/>
              <a:t> </a:t>
            </a:r>
            <a:r>
              <a:rPr lang="en-US" sz="1300" dirty="0" err="1"/>
              <a:t>các</a:t>
            </a:r>
            <a:r>
              <a:rPr lang="en-US" sz="1300" dirty="0"/>
              <a:t> </a:t>
            </a:r>
            <a:r>
              <a:rPr lang="en-US" sz="1300" dirty="0" err="1"/>
              <a:t>tác</a:t>
            </a:r>
            <a:r>
              <a:rPr lang="en-US" sz="1300" dirty="0"/>
              <a:t> </a:t>
            </a:r>
            <a:r>
              <a:rPr lang="en-US" sz="1300" dirty="0" err="1"/>
              <a:t>vụ</a:t>
            </a:r>
            <a:r>
              <a:rPr lang="en-US" sz="1300" dirty="0"/>
              <a:t> </a:t>
            </a:r>
            <a:r>
              <a:rPr lang="en-US" sz="1300" dirty="0" err="1"/>
              <a:t>lệnh</a:t>
            </a:r>
            <a:r>
              <a:rPr lang="en-US" sz="1300" dirty="0"/>
              <a:t> </a:t>
            </a:r>
            <a:r>
              <a:rPr lang="en-US" sz="1300" dirty="0" err="1"/>
              <a:t>cho</a:t>
            </a:r>
            <a:r>
              <a:rPr lang="en-US" sz="1300" dirty="0"/>
              <a:t> AI (AI TASK)</a:t>
            </a:r>
          </a:p>
          <a:p>
            <a:pPr lvl="1"/>
            <a:r>
              <a:rPr lang="en-US" dirty="0" err="1" smtClean="0">
                <a:latin typeface="Consolas" panose="020B0609020204030204" pitchFamily="49" charset="0"/>
                <a:cs typeface="Consolas" panose="020B0609020204030204" pitchFamily="49" charset="0"/>
              </a:rPr>
              <a:t>Các</a:t>
            </a:r>
            <a:r>
              <a:rPr lang="en-US" dirty="0" smtClean="0">
                <a:latin typeface="Consolas" panose="020B0609020204030204" pitchFamily="49" charset="0"/>
                <a:cs typeface="Consolas" panose="020B0609020204030204" pitchFamily="49" charset="0"/>
              </a:rPr>
              <a:t> AI </a:t>
            </a:r>
            <a:r>
              <a:rPr lang="en-US" dirty="0" err="1" smtClean="0">
                <a:latin typeface="Consolas" panose="020B0609020204030204" pitchFamily="49" charset="0"/>
                <a:cs typeface="Consolas" panose="020B0609020204030204" pitchFamily="49" charset="0"/>
              </a:rPr>
              <a:t>riêng</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xây</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dựng</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dựa</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vào</a:t>
            </a:r>
            <a:r>
              <a:rPr lang="en-US" dirty="0" smtClean="0">
                <a:latin typeface="Consolas" panose="020B0609020204030204" pitchFamily="49" charset="0"/>
                <a:cs typeface="Consolas" panose="020B0609020204030204" pitchFamily="49" charset="0"/>
              </a:rPr>
              <a:t> base AI, </a:t>
            </a:r>
            <a:r>
              <a:rPr lang="en-US" dirty="0" err="1" smtClean="0">
                <a:latin typeface="Consolas" panose="020B0609020204030204" pitchFamily="49" charset="0"/>
                <a:cs typeface="Consolas" panose="020B0609020204030204" pitchFamily="49" charset="0"/>
              </a:rPr>
              <a:t>tạo</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các</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độ</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khó</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khác</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nhau</a:t>
            </a:r>
            <a:r>
              <a:rPr lang="en-US" dirty="0" smtClean="0">
                <a:latin typeface="Consolas" panose="020B0609020204030204" pitchFamily="49" charset="0"/>
                <a:cs typeface="Consolas" panose="020B0609020204030204" pitchFamily="49" charset="0"/>
              </a:rPr>
              <a:t> </a:t>
            </a:r>
            <a:r>
              <a:rPr lang="en-US" dirty="0" err="1" smtClean="0">
                <a:latin typeface="Consolas" panose="020B0609020204030204" pitchFamily="49" charset="0"/>
                <a:cs typeface="Consolas" panose="020B0609020204030204" pitchFamily="49" charset="0"/>
              </a:rPr>
              <a:t>cho</a:t>
            </a:r>
            <a:r>
              <a:rPr lang="en-US" dirty="0" smtClean="0">
                <a:latin typeface="Consolas" panose="020B0609020204030204" pitchFamily="49" charset="0"/>
                <a:cs typeface="Consolas" panose="020B0609020204030204" pitchFamily="49" charset="0"/>
              </a:rPr>
              <a:t> game</a:t>
            </a:r>
            <a:endParaRPr lang="en-US" dirty="0">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a:t>Thiết kế game</a:t>
            </a:r>
          </a:p>
        </p:txBody>
      </p:sp>
      <p:sp>
        <p:nvSpPr>
          <p:cNvPr id="5" name="Slide Number Placeholder 4"/>
          <p:cNvSpPr>
            <a:spLocks noGrp="1"/>
          </p:cNvSpPr>
          <p:nvPr>
            <p:ph type="sldNum" sz="quarter" idx="12"/>
          </p:nvPr>
        </p:nvSpPr>
        <p:spPr/>
        <p:txBody>
          <a:bodyPr/>
          <a:lstStyle/>
          <a:p>
            <a:fld id="{E31375A4-56A4-47D6-9801-1991572033F7}" type="slidenum">
              <a:rPr lang="en-US" smtClean="0"/>
              <a:t>40</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1295400" y="3876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98120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2469371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TỐI ƯU CODE, CẢI THIỆN HIỆU SUẤT</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normAutofit/>
          </a:bodyPr>
          <a:lstStyle/>
          <a:p>
            <a:r>
              <a:rPr lang="vi-VN" dirty="0">
                <a:latin typeface="Consolas" panose="020B0609020204030204" pitchFamily="49" charset="0"/>
                <a:cs typeface="Consolas" panose="020B0609020204030204" pitchFamily="49" charset="0"/>
              </a:rPr>
              <a:t>Tối ưu các phép tính phức tạp </a:t>
            </a:r>
            <a:endParaRPr lang="en-US" dirty="0" smtClean="0">
              <a:latin typeface="Consolas" panose="020B0609020204030204" pitchFamily="49" charset="0"/>
              <a:cs typeface="Consolas" panose="020B0609020204030204" pitchFamily="49" charset="0"/>
            </a:endParaRPr>
          </a:p>
          <a:p>
            <a:r>
              <a:rPr lang="vi-VN" dirty="0">
                <a:latin typeface="Consolas" panose="020B0609020204030204" pitchFamily="49" charset="0"/>
                <a:cs typeface="Consolas" panose="020B0609020204030204" pitchFamily="49" charset="0"/>
              </a:rPr>
              <a:t>Tối ưu </a:t>
            </a:r>
            <a:r>
              <a:rPr lang="vi-VN" dirty="0" err="1">
                <a:latin typeface="Consolas" panose="020B0609020204030204" pitchFamily="49" charset="0"/>
                <a:cs typeface="Consolas" panose="020B0609020204030204" pitchFamily="49" charset="0"/>
              </a:rPr>
              <a:t>code</a:t>
            </a:r>
            <a:r>
              <a:rPr lang="vi-VN" dirty="0">
                <a:latin typeface="Consolas" panose="020B0609020204030204" pitchFamily="49" charset="0"/>
                <a:cs typeface="Consolas" panose="020B0609020204030204" pitchFamily="49" charset="0"/>
              </a:rPr>
              <a:t> trong ngôn ngữ </a:t>
            </a:r>
            <a:r>
              <a:rPr lang="vi-VN" dirty="0" err="1">
                <a:latin typeface="Consolas" panose="020B0609020204030204" pitchFamily="49" charset="0"/>
                <a:cs typeface="Consolas" panose="020B0609020204030204" pitchFamily="49" charset="0"/>
              </a:rPr>
              <a:t>javascript</a:t>
            </a:r>
            <a:r>
              <a:rPr lang="vi-VN" dirty="0">
                <a:latin typeface="Consolas" panose="020B0609020204030204" pitchFamily="49" charset="0"/>
                <a:cs typeface="Consolas" panose="020B0609020204030204" pitchFamily="49" charset="0"/>
              </a:rPr>
              <a:t> </a:t>
            </a:r>
            <a:endParaRPr lang="en-US" dirty="0" smtClean="0">
              <a:latin typeface="Consolas" panose="020B0609020204030204" pitchFamily="49" charset="0"/>
              <a:cs typeface="Consolas" panose="020B0609020204030204" pitchFamily="49" charset="0"/>
            </a:endParaRPr>
          </a:p>
          <a:p>
            <a:pPr lvl="1"/>
            <a:r>
              <a:rPr lang="vi-VN" b="1" dirty="0">
                <a:latin typeface="Consolas" panose="020B0609020204030204" pitchFamily="49" charset="0"/>
                <a:cs typeface="Consolas" panose="020B0609020204030204" pitchFamily="49" charset="0"/>
              </a:rPr>
              <a:t>Giảm các hoạt động trong vòng lặp </a:t>
            </a:r>
            <a:endParaRPr lang="en-US" b="1" dirty="0" smtClean="0">
              <a:latin typeface="Consolas" panose="020B0609020204030204" pitchFamily="49" charset="0"/>
              <a:cs typeface="Consolas" panose="020B0609020204030204" pitchFamily="49" charset="0"/>
            </a:endParaRPr>
          </a:p>
          <a:p>
            <a:pPr lvl="1"/>
            <a:r>
              <a:rPr lang="vi-VN" b="1" dirty="0">
                <a:latin typeface="Consolas" panose="020B0609020204030204" pitchFamily="49" charset="0"/>
                <a:cs typeface="Consolas" panose="020B0609020204030204" pitchFamily="49" charset="0"/>
              </a:rPr>
              <a:t>Hạn chế dùng toán tử </a:t>
            </a:r>
            <a:r>
              <a:rPr lang="vi-VN" b="1" dirty="0" err="1">
                <a:latin typeface="Consolas" panose="020B0609020204030204" pitchFamily="49" charset="0"/>
                <a:cs typeface="Consolas" panose="020B0609020204030204" pitchFamily="49" charset="0"/>
              </a:rPr>
              <a:t>delete</a:t>
            </a:r>
            <a:r>
              <a:rPr lang="vi-VN" b="1" dirty="0">
                <a:latin typeface="Consolas" panose="020B0609020204030204" pitchFamily="49" charset="0"/>
                <a:cs typeface="Consolas" panose="020B0609020204030204" pitchFamily="49" charset="0"/>
              </a:rPr>
              <a:t> trong </a:t>
            </a:r>
            <a:r>
              <a:rPr lang="vi-VN" b="1" dirty="0" err="1">
                <a:latin typeface="Consolas" panose="020B0609020204030204" pitchFamily="49" charset="0"/>
                <a:cs typeface="Consolas" panose="020B0609020204030204" pitchFamily="49" charset="0"/>
              </a:rPr>
              <a:t>javascript</a:t>
            </a:r>
            <a:r>
              <a:rPr lang="vi-VN" b="1" dirty="0">
                <a:latin typeface="Consolas" panose="020B0609020204030204" pitchFamily="49" charset="0"/>
                <a:cs typeface="Consolas" panose="020B0609020204030204" pitchFamily="49" charset="0"/>
              </a:rPr>
              <a:t> </a:t>
            </a:r>
            <a:endParaRPr lang="en-US" b="1" dirty="0" smtClean="0">
              <a:latin typeface="Consolas" panose="020B0609020204030204" pitchFamily="49" charset="0"/>
              <a:cs typeface="Consolas" panose="020B0609020204030204" pitchFamily="49" charset="0"/>
            </a:endParaRPr>
          </a:p>
          <a:p>
            <a:pPr lvl="1"/>
            <a:r>
              <a:rPr lang="fr-FR" b="1" dirty="0" err="1">
                <a:latin typeface="Consolas" panose="020B0609020204030204" pitchFamily="49" charset="0"/>
                <a:cs typeface="Consolas" panose="020B0609020204030204" pitchFamily="49" charset="0"/>
              </a:rPr>
              <a:t>Không</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nên</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thêm</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các</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thuộc</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tính</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sau</a:t>
            </a:r>
            <a:r>
              <a:rPr lang="fr-FR" b="1" dirty="0">
                <a:latin typeface="Consolas" panose="020B0609020204030204" pitchFamily="49" charset="0"/>
                <a:cs typeface="Consolas" panose="020B0609020204030204" pitchFamily="49" charset="0"/>
              </a:rPr>
              <a:t> khi </a:t>
            </a:r>
            <a:r>
              <a:rPr lang="fr-FR" b="1" dirty="0" err="1">
                <a:latin typeface="Consolas" panose="020B0609020204030204" pitchFamily="49" charset="0"/>
                <a:cs typeface="Consolas" panose="020B0609020204030204" pitchFamily="49" charset="0"/>
              </a:rPr>
              <a:t>tạo</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đối</a:t>
            </a:r>
            <a:r>
              <a:rPr lang="fr-FR" b="1" dirty="0">
                <a:latin typeface="Consolas" panose="020B0609020204030204" pitchFamily="49" charset="0"/>
                <a:cs typeface="Consolas" panose="020B0609020204030204" pitchFamily="49" charset="0"/>
              </a:rPr>
              <a:t> </a:t>
            </a:r>
            <a:r>
              <a:rPr lang="fr-FR" b="1" dirty="0" err="1" smtClean="0">
                <a:latin typeface="Consolas" panose="020B0609020204030204" pitchFamily="49" charset="0"/>
                <a:cs typeface="Consolas" panose="020B0609020204030204" pitchFamily="49" charset="0"/>
              </a:rPr>
              <a:t>tượng</a:t>
            </a:r>
            <a:endParaRPr lang="fr-FR" b="1" dirty="0" smtClean="0">
              <a:latin typeface="Consolas" panose="020B0609020204030204" pitchFamily="49" charset="0"/>
              <a:cs typeface="Consolas" panose="020B0609020204030204" pitchFamily="49" charset="0"/>
            </a:endParaRPr>
          </a:p>
          <a:p>
            <a:pPr lvl="1"/>
            <a:r>
              <a:rPr lang="fr-FR" b="1" dirty="0" err="1">
                <a:latin typeface="Consolas" panose="020B0609020204030204" pitchFamily="49" charset="0"/>
                <a:cs typeface="Consolas" panose="020B0609020204030204" pitchFamily="49" charset="0"/>
              </a:rPr>
              <a:t>Tạo</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bộ</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nhớ</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đệm</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cho</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các</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thuộc</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tính</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hoặc</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mảng</a:t>
            </a:r>
            <a:r>
              <a:rPr lang="fr-FR" b="1" dirty="0">
                <a:latin typeface="Consolas" panose="020B0609020204030204" pitchFamily="49" charset="0"/>
                <a:cs typeface="Consolas" panose="020B0609020204030204" pitchFamily="49" charset="0"/>
              </a:rPr>
              <a:t> </a:t>
            </a:r>
            <a:endParaRPr lang="fr-FR" b="1" dirty="0" smtClean="0">
              <a:latin typeface="Consolas" panose="020B0609020204030204" pitchFamily="49" charset="0"/>
              <a:cs typeface="Consolas" panose="020B0609020204030204" pitchFamily="49" charset="0"/>
            </a:endParaRPr>
          </a:p>
          <a:p>
            <a:pPr lvl="1"/>
            <a:r>
              <a:rPr lang="fr-FR" b="1" dirty="0" err="1">
                <a:latin typeface="Consolas" panose="020B0609020204030204" pitchFamily="49" charset="0"/>
                <a:cs typeface="Consolas" panose="020B0609020204030204" pitchFamily="49" charset="0"/>
              </a:rPr>
              <a:t>Tạo</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bộ</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nhớ</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đệm</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các</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biến</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toàn</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cục</a:t>
            </a:r>
            <a:r>
              <a:rPr lang="fr-FR" b="1" dirty="0">
                <a:latin typeface="Consolas" panose="020B0609020204030204" pitchFamily="49" charset="0"/>
                <a:cs typeface="Consolas" panose="020B0609020204030204" pitchFamily="49" charset="0"/>
              </a:rPr>
              <a:t> </a:t>
            </a:r>
            <a:endParaRPr lang="fr-FR" b="1" dirty="0" smtClean="0">
              <a:latin typeface="Consolas" panose="020B0609020204030204" pitchFamily="49" charset="0"/>
              <a:cs typeface="Consolas" panose="020B0609020204030204" pitchFamily="49" charset="0"/>
            </a:endParaRPr>
          </a:p>
          <a:p>
            <a:pPr lvl="1"/>
            <a:r>
              <a:rPr lang="fr-FR" b="1" dirty="0" err="1">
                <a:latin typeface="Consolas" panose="020B0609020204030204" pitchFamily="49" charset="0"/>
                <a:cs typeface="Consolas" panose="020B0609020204030204" pitchFamily="49" charset="0"/>
              </a:rPr>
              <a:t>Nên</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xử</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lý</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các</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tác</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vụ</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nặng</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bằng</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Webworker</a:t>
            </a:r>
            <a:r>
              <a:rPr lang="fr-FR" b="1" dirty="0">
                <a:latin typeface="Consolas" panose="020B0609020204030204" pitchFamily="49" charset="0"/>
                <a:cs typeface="Consolas" panose="020B0609020204030204" pitchFamily="49" charset="0"/>
              </a:rPr>
              <a:t> </a:t>
            </a:r>
            <a:endParaRPr lang="fr-FR" b="1" dirty="0" smtClean="0">
              <a:latin typeface="Consolas" panose="020B0609020204030204" pitchFamily="49" charset="0"/>
              <a:cs typeface="Consolas" panose="020B0609020204030204" pitchFamily="49" charset="0"/>
            </a:endParaRPr>
          </a:p>
          <a:p>
            <a:pPr lvl="1"/>
            <a:r>
              <a:rPr lang="fr-FR" b="1" dirty="0" err="1">
                <a:latin typeface="Consolas" panose="020B0609020204030204" pitchFamily="49" charset="0"/>
                <a:cs typeface="Consolas" panose="020B0609020204030204" pitchFamily="49" charset="0"/>
              </a:rPr>
              <a:t>Chỉ</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nên</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chuyển</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dữ</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liệu</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raw</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giữa</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UIThread</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và</a:t>
            </a:r>
            <a:r>
              <a:rPr lang="fr-FR" b="1" dirty="0">
                <a:latin typeface="Consolas" panose="020B0609020204030204" pitchFamily="49" charset="0"/>
                <a:cs typeface="Consolas" panose="020B0609020204030204" pitchFamily="49" charset="0"/>
              </a:rPr>
              <a:t> </a:t>
            </a:r>
            <a:r>
              <a:rPr lang="fr-FR" b="1" dirty="0" err="1">
                <a:latin typeface="Consolas" panose="020B0609020204030204" pitchFamily="49" charset="0"/>
                <a:cs typeface="Consolas" panose="020B0609020204030204" pitchFamily="49" charset="0"/>
              </a:rPr>
              <a:t>Webworker</a:t>
            </a:r>
            <a:r>
              <a:rPr lang="fr-FR" b="1"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Hiện thực game</a:t>
            </a:r>
          </a:p>
        </p:txBody>
      </p:sp>
      <p:sp>
        <p:nvSpPr>
          <p:cNvPr id="5" name="Slide Number Placeholder 4"/>
          <p:cNvSpPr>
            <a:spLocks noGrp="1"/>
          </p:cNvSpPr>
          <p:nvPr>
            <p:ph type="sldNum" sz="quarter" idx="12"/>
          </p:nvPr>
        </p:nvSpPr>
        <p:spPr/>
        <p:txBody>
          <a:bodyPr/>
          <a:lstStyle/>
          <a:p>
            <a:fld id="{E31375A4-56A4-47D6-9801-1991572033F7}" type="slidenum">
              <a:rPr lang="en-US" smtClean="0"/>
              <a:t>41</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1295400" y="3876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98120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7213504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latin typeface="Consolas" panose="020B0609020204030204" pitchFamily="49" charset="0"/>
                <a:cs typeface="Consolas" panose="020B0609020204030204" pitchFamily="49" charset="0"/>
              </a:rPr>
              <a:t>Ư</a:t>
            </a:r>
            <a:r>
              <a:rPr lang="en-US" smtClean="0">
                <a:latin typeface="Consolas" panose="020B0609020204030204" pitchFamily="49" charset="0"/>
                <a:cs typeface="Consolas" panose="020B0609020204030204" pitchFamily="49" charset="0"/>
              </a:rPr>
              <a:t>U ĐIỂM</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normAutofit/>
          </a:bodyPr>
          <a:lstStyle/>
          <a:p>
            <a:r>
              <a:rPr lang="en-US" dirty="0">
                <a:latin typeface="+mj-lt"/>
              </a:rPr>
              <a:t>Game </a:t>
            </a:r>
            <a:r>
              <a:rPr lang="en-US" dirty="0" err="1">
                <a:latin typeface="+mj-lt"/>
              </a:rPr>
              <a:t>được</a:t>
            </a:r>
            <a:r>
              <a:rPr lang="en-US" dirty="0">
                <a:latin typeface="+mj-lt"/>
              </a:rPr>
              <a:t> </a:t>
            </a:r>
            <a:r>
              <a:rPr lang="en-US" dirty="0" err="1">
                <a:latin typeface="+mj-lt"/>
              </a:rPr>
              <a:t>viết</a:t>
            </a:r>
            <a:r>
              <a:rPr lang="en-US" dirty="0">
                <a:latin typeface="+mj-lt"/>
              </a:rPr>
              <a:t> </a:t>
            </a:r>
            <a:r>
              <a:rPr lang="en-US" dirty="0" err="1">
                <a:latin typeface="+mj-lt"/>
              </a:rPr>
              <a:t>để</a:t>
            </a:r>
            <a:r>
              <a:rPr lang="en-US" dirty="0">
                <a:latin typeface="+mj-lt"/>
              </a:rPr>
              <a:t> </a:t>
            </a:r>
            <a:r>
              <a:rPr lang="en-US" dirty="0" err="1">
                <a:latin typeface="+mj-lt"/>
              </a:rPr>
              <a:t>chạy</a:t>
            </a:r>
            <a:r>
              <a:rPr lang="en-US" dirty="0">
                <a:latin typeface="+mj-lt"/>
              </a:rPr>
              <a:t> </a:t>
            </a:r>
            <a:r>
              <a:rPr lang="en-US" dirty="0" err="1">
                <a:latin typeface="+mj-lt"/>
              </a:rPr>
              <a:t>trên</a:t>
            </a:r>
            <a:r>
              <a:rPr lang="en-US" dirty="0">
                <a:latin typeface="+mj-lt"/>
              </a:rPr>
              <a:t> Web </a:t>
            </a:r>
            <a:r>
              <a:rPr lang="en-US" dirty="0" err="1">
                <a:latin typeface="+mj-lt"/>
              </a:rPr>
              <a:t>nên</a:t>
            </a:r>
            <a:r>
              <a:rPr lang="en-US" dirty="0">
                <a:latin typeface="+mj-lt"/>
              </a:rPr>
              <a:t> </a:t>
            </a:r>
            <a:r>
              <a:rPr lang="en-US" dirty="0" err="1">
                <a:latin typeface="+mj-lt"/>
              </a:rPr>
              <a:t>người</a:t>
            </a:r>
            <a:r>
              <a:rPr lang="en-US" dirty="0">
                <a:latin typeface="+mj-lt"/>
              </a:rPr>
              <a:t> </a:t>
            </a:r>
            <a:r>
              <a:rPr lang="en-US" dirty="0" err="1">
                <a:latin typeface="+mj-lt"/>
              </a:rPr>
              <a:t>chơi</a:t>
            </a:r>
            <a:r>
              <a:rPr lang="en-US" dirty="0">
                <a:latin typeface="+mj-lt"/>
              </a:rPr>
              <a:t> </a:t>
            </a:r>
            <a:r>
              <a:rPr lang="en-US" dirty="0" err="1">
                <a:latin typeface="+mj-lt"/>
              </a:rPr>
              <a:t>không</a:t>
            </a:r>
            <a:r>
              <a:rPr lang="en-US" dirty="0">
                <a:latin typeface="+mj-lt"/>
              </a:rPr>
              <a:t> </a:t>
            </a:r>
            <a:r>
              <a:rPr lang="en-US" dirty="0" err="1">
                <a:latin typeface="+mj-lt"/>
              </a:rPr>
              <a:t>cần</a:t>
            </a:r>
            <a:r>
              <a:rPr lang="en-US" dirty="0">
                <a:latin typeface="+mj-lt"/>
              </a:rPr>
              <a:t> </a:t>
            </a:r>
            <a:r>
              <a:rPr lang="en-US" dirty="0" err="1">
                <a:latin typeface="+mj-lt"/>
              </a:rPr>
              <a:t>phải</a:t>
            </a:r>
            <a:r>
              <a:rPr lang="en-US" dirty="0">
                <a:latin typeface="+mj-lt"/>
              </a:rPr>
              <a:t> </a:t>
            </a:r>
            <a:r>
              <a:rPr lang="en-US" dirty="0" err="1">
                <a:latin typeface="+mj-lt"/>
              </a:rPr>
              <a:t>cài</a:t>
            </a:r>
            <a:r>
              <a:rPr lang="en-US" dirty="0">
                <a:latin typeface="+mj-lt"/>
              </a:rPr>
              <a:t> </a:t>
            </a:r>
            <a:r>
              <a:rPr lang="en-US" dirty="0" err="1">
                <a:latin typeface="+mj-lt"/>
              </a:rPr>
              <a:t>đặt</a:t>
            </a:r>
            <a:r>
              <a:rPr lang="en-US" dirty="0">
                <a:latin typeface="+mj-lt"/>
              </a:rPr>
              <a:t> </a:t>
            </a:r>
            <a:r>
              <a:rPr lang="en-US" dirty="0" err="1">
                <a:latin typeface="+mj-lt"/>
              </a:rPr>
              <a:t>để</a:t>
            </a:r>
            <a:r>
              <a:rPr lang="en-US" dirty="0">
                <a:latin typeface="+mj-lt"/>
              </a:rPr>
              <a:t> </a:t>
            </a:r>
            <a:r>
              <a:rPr lang="en-US" dirty="0" err="1">
                <a:latin typeface="+mj-lt"/>
              </a:rPr>
              <a:t>sử</a:t>
            </a:r>
            <a:r>
              <a:rPr lang="en-US" dirty="0">
                <a:latin typeface="+mj-lt"/>
              </a:rPr>
              <a:t> </a:t>
            </a:r>
            <a:r>
              <a:rPr lang="en-US" dirty="0" err="1">
                <a:latin typeface="+mj-lt"/>
              </a:rPr>
              <a:t>dụng</a:t>
            </a:r>
            <a:r>
              <a:rPr lang="en-US" dirty="0">
                <a:latin typeface="+mj-lt"/>
              </a:rPr>
              <a:t>. </a:t>
            </a:r>
            <a:r>
              <a:rPr lang="en-US" dirty="0" err="1">
                <a:latin typeface="+mj-lt"/>
              </a:rPr>
              <a:t>Đồng</a:t>
            </a:r>
            <a:r>
              <a:rPr lang="en-US" dirty="0">
                <a:latin typeface="+mj-lt"/>
              </a:rPr>
              <a:t> </a:t>
            </a:r>
            <a:r>
              <a:rPr lang="en-US" dirty="0" err="1">
                <a:latin typeface="+mj-lt"/>
              </a:rPr>
              <a:t>thời</a:t>
            </a:r>
            <a:r>
              <a:rPr lang="en-US" dirty="0">
                <a:latin typeface="+mj-lt"/>
              </a:rPr>
              <a:t> </a:t>
            </a:r>
            <a:r>
              <a:rPr lang="en-US" dirty="0" err="1">
                <a:latin typeface="+mj-lt"/>
              </a:rPr>
              <a:t>không</a:t>
            </a:r>
            <a:r>
              <a:rPr lang="en-US" dirty="0">
                <a:latin typeface="+mj-lt"/>
              </a:rPr>
              <a:t> </a:t>
            </a:r>
            <a:r>
              <a:rPr lang="en-US" dirty="0" err="1">
                <a:latin typeface="+mj-lt"/>
              </a:rPr>
              <a:t>cần</a:t>
            </a:r>
            <a:r>
              <a:rPr lang="en-US" dirty="0">
                <a:latin typeface="+mj-lt"/>
              </a:rPr>
              <a:t> </a:t>
            </a:r>
            <a:r>
              <a:rPr lang="en-US" dirty="0" err="1">
                <a:latin typeface="+mj-lt"/>
              </a:rPr>
              <a:t>viết</a:t>
            </a:r>
            <a:r>
              <a:rPr lang="en-US" dirty="0">
                <a:latin typeface="+mj-lt"/>
              </a:rPr>
              <a:t> </a:t>
            </a:r>
            <a:r>
              <a:rPr lang="en-US" dirty="0" err="1">
                <a:latin typeface="+mj-lt"/>
              </a:rPr>
              <a:t>các</a:t>
            </a:r>
            <a:r>
              <a:rPr lang="en-US" dirty="0">
                <a:latin typeface="+mj-lt"/>
              </a:rPr>
              <a:t> </a:t>
            </a:r>
            <a:r>
              <a:rPr lang="en-US" dirty="0" err="1">
                <a:latin typeface="+mj-lt"/>
              </a:rPr>
              <a:t>phiên</a:t>
            </a:r>
            <a:r>
              <a:rPr lang="en-US" dirty="0">
                <a:latin typeface="+mj-lt"/>
              </a:rPr>
              <a:t> </a:t>
            </a:r>
            <a:r>
              <a:rPr lang="en-US" dirty="0" err="1">
                <a:latin typeface="+mj-lt"/>
              </a:rPr>
              <a:t>bản</a:t>
            </a:r>
            <a:r>
              <a:rPr lang="en-US" dirty="0">
                <a:latin typeface="+mj-lt"/>
              </a:rPr>
              <a:t> </a:t>
            </a:r>
            <a:r>
              <a:rPr lang="en-US" dirty="0" err="1">
                <a:latin typeface="+mj-lt"/>
              </a:rPr>
              <a:t>khác</a:t>
            </a:r>
            <a:r>
              <a:rPr lang="en-US" dirty="0">
                <a:latin typeface="+mj-lt"/>
              </a:rPr>
              <a:t> </a:t>
            </a:r>
            <a:r>
              <a:rPr lang="en-US" dirty="0" err="1">
                <a:latin typeface="+mj-lt"/>
              </a:rPr>
              <a:t>nhau</a:t>
            </a:r>
            <a:r>
              <a:rPr lang="en-US" dirty="0">
                <a:latin typeface="+mj-lt"/>
              </a:rPr>
              <a:t> </a:t>
            </a:r>
            <a:r>
              <a:rPr lang="en-US" dirty="0" err="1">
                <a:latin typeface="+mj-lt"/>
              </a:rPr>
              <a:t>cho</a:t>
            </a:r>
            <a:r>
              <a:rPr lang="en-US" dirty="0">
                <a:latin typeface="+mj-lt"/>
              </a:rPr>
              <a:t> </a:t>
            </a:r>
            <a:r>
              <a:rPr lang="en-US" dirty="0" err="1">
                <a:latin typeface="+mj-lt"/>
              </a:rPr>
              <a:t>từng</a:t>
            </a:r>
            <a:r>
              <a:rPr lang="en-US" dirty="0">
                <a:latin typeface="+mj-lt"/>
              </a:rPr>
              <a:t> </a:t>
            </a:r>
            <a:r>
              <a:rPr lang="en-US" dirty="0" err="1">
                <a:latin typeface="+mj-lt"/>
              </a:rPr>
              <a:t>hệ</a:t>
            </a:r>
            <a:r>
              <a:rPr lang="en-US" dirty="0">
                <a:latin typeface="+mj-lt"/>
              </a:rPr>
              <a:t> </a:t>
            </a:r>
            <a:r>
              <a:rPr lang="en-US" dirty="0" err="1">
                <a:latin typeface="+mj-lt"/>
              </a:rPr>
              <a:t>điều</a:t>
            </a:r>
            <a:r>
              <a:rPr lang="en-US" dirty="0">
                <a:latin typeface="+mj-lt"/>
              </a:rPr>
              <a:t> </a:t>
            </a:r>
            <a:r>
              <a:rPr lang="en-US" dirty="0" err="1" smtClean="0">
                <a:latin typeface="+mj-lt"/>
              </a:rPr>
              <a:t>hành</a:t>
            </a:r>
            <a:r>
              <a:rPr lang="en-US" dirty="0" smtClean="0">
                <a:latin typeface="+mj-lt"/>
              </a:rPr>
              <a:t>.</a:t>
            </a:r>
          </a:p>
          <a:p>
            <a:r>
              <a:rPr lang="en-US" dirty="0" smtClean="0">
                <a:latin typeface="+mj-lt"/>
                <a:cs typeface="Consolas" panose="020B0609020204030204" pitchFamily="49" charset="0"/>
              </a:rPr>
              <a:t>Game </a:t>
            </a:r>
            <a:r>
              <a:rPr lang="en-US" dirty="0" err="1" smtClean="0">
                <a:latin typeface="+mj-lt"/>
                <a:cs typeface="Consolas" panose="020B0609020204030204" pitchFamily="49" charset="0"/>
              </a:rPr>
              <a:t>xây</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dựng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được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nhiều</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hiệu</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ứng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đối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tượng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trong</a:t>
            </a:r>
            <a:r>
              <a:rPr lang="en-US" dirty="0" smtClean="0">
                <a:latin typeface="+mj-lt"/>
                <a:cs typeface="Consolas" panose="020B0609020204030204" pitchFamily="49" charset="0"/>
              </a:rPr>
              <a:t> game.</a:t>
            </a:r>
          </a:p>
          <a:p>
            <a:r>
              <a:rPr lang="en-US" dirty="0" smtClean="0">
                <a:latin typeface="+mj-lt"/>
                <a:cs typeface="Consolas" panose="020B0609020204030204" pitchFamily="49" charset="0"/>
              </a:rPr>
              <a:t>Game </a:t>
            </a:r>
            <a:r>
              <a:rPr lang="en-US" dirty="0" err="1" smtClean="0">
                <a:latin typeface="+mj-lt"/>
                <a:cs typeface="Consolas" panose="020B0609020204030204" pitchFamily="49" charset="0"/>
              </a:rPr>
              <a:t>xây</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dựng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với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hiệu</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suất</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tốt</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đáp</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ứng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cho</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việc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chạy</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trên</a:t>
            </a:r>
            <a:r>
              <a:rPr lang="en-US" dirty="0" smtClean="0">
                <a:latin typeface="+mj-lt"/>
                <a:cs typeface="Consolas" panose="020B0609020204030204" pitchFamily="49" charset="0"/>
              </a:rPr>
              <a:t> web </a:t>
            </a:r>
            <a:r>
              <a:rPr lang="en-US" dirty="0" err="1" smtClean="0">
                <a:latin typeface="+mj-lt"/>
                <a:cs typeface="Consolas" panose="020B0609020204030204" pitchFamily="49" charset="0"/>
              </a:rPr>
              <a:t>ổn</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định</a:t>
            </a:r>
            <a:r>
              <a:rPr lang="en-US" dirty="0" smtClean="0">
                <a:latin typeface="+mj-lt"/>
                <a:cs typeface="Consolas" panose="020B0609020204030204" pitchFamily="49" charset="0"/>
              </a:rPr>
              <a:t>.</a:t>
            </a:r>
          </a:p>
          <a:p>
            <a:r>
              <a:rPr lang="en-US" dirty="0" smtClean="0">
                <a:latin typeface="+mj-lt"/>
                <a:cs typeface="Consolas" panose="020B0609020204030204" pitchFamily="49" charset="0"/>
              </a:rPr>
              <a:t>AI </a:t>
            </a:r>
            <a:r>
              <a:rPr lang="en-US" dirty="0" err="1" smtClean="0">
                <a:latin typeface="+mj-lt"/>
                <a:cs typeface="Consolas" panose="020B0609020204030204" pitchFamily="49" charset="0"/>
              </a:rPr>
              <a:t>trong</a:t>
            </a:r>
            <a:r>
              <a:rPr lang="en-US" dirty="0" smtClean="0">
                <a:latin typeface="+mj-lt"/>
                <a:cs typeface="Consolas" panose="020B0609020204030204" pitchFamily="49" charset="0"/>
              </a:rPr>
              <a:t> game </a:t>
            </a:r>
            <a:r>
              <a:rPr lang="en-US" dirty="0" err="1" smtClean="0">
                <a:latin typeface="+mj-lt"/>
                <a:cs typeface="Consolas" panose="020B0609020204030204" pitchFamily="49" charset="0"/>
              </a:rPr>
              <a:t>có</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độ</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khó</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cao</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hơn</a:t>
            </a:r>
            <a:r>
              <a:rPr lang="en-US" dirty="0" smtClean="0">
                <a:latin typeface="+mj-lt"/>
                <a:cs typeface="Consolas" panose="020B0609020204030204" pitchFamily="49" charset="0"/>
              </a:rPr>
              <a:t>.</a:t>
            </a:r>
            <a:endParaRPr lang="en-US" dirty="0">
              <a:latin typeface="+mj-lt"/>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Đánh giá và kết luận</a:t>
            </a:r>
          </a:p>
        </p:txBody>
      </p:sp>
      <p:sp>
        <p:nvSpPr>
          <p:cNvPr id="5" name="Slide Number Placeholder 4"/>
          <p:cNvSpPr>
            <a:spLocks noGrp="1"/>
          </p:cNvSpPr>
          <p:nvPr>
            <p:ph type="sldNum" sz="quarter" idx="12"/>
          </p:nvPr>
        </p:nvSpPr>
        <p:spPr/>
        <p:txBody>
          <a:bodyPr/>
          <a:lstStyle/>
          <a:p>
            <a:fld id="{E31375A4-56A4-47D6-9801-1991572033F7}" type="slidenum">
              <a:rPr lang="en-US" smtClean="0"/>
              <a:t>42</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1295400" y="3876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98120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019545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Consolas" panose="020B0609020204030204" pitchFamily="49" charset="0"/>
                <a:cs typeface="Consolas" panose="020B0609020204030204" pitchFamily="49" charset="0"/>
              </a:rPr>
              <a:t>TỔNG KẾT</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normAutofit/>
          </a:bodyPr>
          <a:lstStyle/>
          <a:p>
            <a:r>
              <a:rPr lang="en-US" dirty="0" smtClean="0">
                <a:latin typeface="+mj-lt"/>
                <a:cs typeface="Consolas" panose="020B0609020204030204" pitchFamily="49" charset="0"/>
              </a:rPr>
              <a:t>Sau 2 </a:t>
            </a:r>
            <a:r>
              <a:rPr lang="en-US" dirty="0" err="1" smtClean="0">
                <a:latin typeface="+mj-lt"/>
                <a:cs typeface="Consolas" panose="020B0609020204030204" pitchFamily="49" charset="0"/>
              </a:rPr>
              <a:t>học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kỳ</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thực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tập</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tốt</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nghiệp</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và</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luận</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văn</a:t>
            </a:r>
            <a:r>
              <a:rPr lang="en-US" dirty="0" smtClean="0">
                <a:latin typeface="+mj-lt"/>
                <a:cs typeface="Consolas" panose="020B0609020204030204" pitchFamily="49" charset="0"/>
              </a:rPr>
              <a:t>, game </a:t>
            </a:r>
            <a:r>
              <a:rPr lang="en-US" dirty="0" err="1" smtClean="0">
                <a:latin typeface="+mj-lt"/>
                <a:cs typeface="Consolas" panose="020B0609020204030204" pitchFamily="49" charset="0"/>
              </a:rPr>
              <a:t>được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đã</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được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xây</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dựng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với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hơn</a:t>
            </a:r>
            <a:r>
              <a:rPr lang="en-US" dirty="0" smtClean="0">
                <a:latin typeface="+mj-lt"/>
                <a:cs typeface="Consolas" panose="020B0609020204030204" pitchFamily="49" charset="0"/>
              </a:rPr>
              <a:t> 14000 </a:t>
            </a:r>
            <a:r>
              <a:rPr lang="en-US" dirty="0" err="1" smtClean="0">
                <a:latin typeface="+mj-lt"/>
                <a:cs typeface="Consolas" panose="020B0609020204030204" pitchFamily="49" charset="0"/>
              </a:rPr>
              <a:t>dòng</a:t>
            </a:r>
            <a:r>
              <a:rPr lang="en-US" dirty="0" smtClean="0">
                <a:latin typeface="+mj-lt"/>
                <a:cs typeface="Consolas" panose="020B0609020204030204" pitchFamily="49" charset="0"/>
              </a:rPr>
              <a:t> code. </a:t>
            </a:r>
            <a:r>
              <a:rPr lang="en-US" dirty="0" err="1" smtClean="0">
                <a:latin typeface="+mj-lt"/>
                <a:cs typeface="Consolas" panose="020B0609020204030204" pitchFamily="49" charset="0"/>
              </a:rPr>
              <a:t>Và</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đã</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cho</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người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chơi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trải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nghiệm</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được</a:t>
            </a:r>
            <a:r>
              <a:rPr lang="en-US" dirty="0" smtClean="0">
                <a:latin typeface="+mj-lt"/>
                <a:cs typeface="Consolas" panose="020B0609020204030204" pitchFamily="49" charset="0"/>
              </a:rPr>
              <a:t> game </a:t>
            </a:r>
            <a:r>
              <a:rPr lang="en-US" dirty="0" err="1" smtClean="0">
                <a:latin typeface="+mj-lt"/>
                <a:cs typeface="Consolas" panose="020B0609020204030204" pitchFamily="49" charset="0"/>
              </a:rPr>
              <a:t>khá</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đầy</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đủ</a:t>
            </a:r>
            <a:r>
              <a:rPr lang="en-US" dirty="0" smtClean="0">
                <a:latin typeface="+mj-lt"/>
                <a:cs typeface="Consolas" panose="020B0609020204030204" pitchFamily="49" charset="0"/>
              </a:rPr>
              <a:t>.</a:t>
            </a:r>
          </a:p>
          <a:p>
            <a:r>
              <a:rPr lang="en-US" dirty="0" err="1" smtClean="0">
                <a:latin typeface="+mj-lt"/>
                <a:cs typeface="Consolas" panose="020B0609020204030204" pitchFamily="49" charset="0"/>
              </a:rPr>
              <a:t>Nhiều</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vấn</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đề</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đã</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được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nhóm</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giải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quyết</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như</a:t>
            </a:r>
            <a:r>
              <a:rPr lang="en-US" dirty="0" smtClean="0">
                <a:latin typeface="+mj-lt"/>
                <a:cs typeface="Consolas" panose="020B0609020204030204" pitchFamily="49" charset="0"/>
              </a:rPr>
              <a:t>:</a:t>
            </a:r>
          </a:p>
          <a:p>
            <a:pPr lvl="1"/>
            <a:r>
              <a:rPr lang="en-US" dirty="0" err="1" smtClean="0">
                <a:latin typeface="+mj-lt"/>
                <a:cs typeface="Consolas" panose="020B0609020204030204" pitchFamily="49" charset="0"/>
              </a:rPr>
              <a:t>Xây</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dựng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nhiều</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hiệu</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ứng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và</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hình</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ảnh</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và</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các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đặc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điểm</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cho</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các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đối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tượng</a:t>
            </a:r>
            <a:r>
              <a:rPr lang="en-US" dirty="0" smtClean="0">
                <a:latin typeface="+mj-lt"/>
                <a:cs typeface="Consolas" panose="020B0609020204030204" pitchFamily="49" charset="0"/>
              </a:rPr>
              <a:t> </a:t>
            </a:r>
          </a:p>
          <a:p>
            <a:pPr lvl="1"/>
            <a:r>
              <a:rPr lang="en-US" dirty="0" err="1">
                <a:latin typeface="+mj-lt"/>
                <a:cs typeface="Consolas" panose="020B0609020204030204" pitchFamily="49" charset="0"/>
              </a:rPr>
              <a:t>T</a:t>
            </a:r>
            <a:r>
              <a:rPr lang="en-US" dirty="0" err="1" smtClean="0">
                <a:latin typeface="+mj-lt"/>
                <a:cs typeface="Consolas" panose="020B0609020204030204" pitchFamily="49" charset="0"/>
              </a:rPr>
              <a:t>ìm</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đường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trong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môi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trường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nhiều</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vật</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cản</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và</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các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vật</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cản</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thay</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đổi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theo</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thời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gian</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thực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địa</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hình</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có</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độ</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cao</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Và</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áp</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dụng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cho</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một</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số</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lượng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lớn</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cùng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lúc</a:t>
            </a:r>
            <a:endParaRPr lang="en-US" dirty="0" smtClean="0">
              <a:latin typeface="+mj-lt"/>
              <a:cs typeface="Consolas" panose="020B0609020204030204" pitchFamily="49" charset="0"/>
            </a:endParaRPr>
          </a:p>
          <a:p>
            <a:pPr lvl="1"/>
            <a:r>
              <a:rPr lang="en-US" dirty="0" err="1" smtClean="0">
                <a:latin typeface="+mj-lt"/>
                <a:cs typeface="Consolas" panose="020B0609020204030204" pitchFamily="49" charset="0"/>
              </a:rPr>
              <a:t>Xây</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dựng</a:t>
            </a:r>
            <a:r>
              <a:rPr lang="en-US" dirty="0" smtClean="0">
                <a:latin typeface="+mj-lt"/>
                <a:cs typeface="Consolas" panose="020B0609020204030204" pitchFamily="49" charset="0"/>
              </a:rPr>
              <a:t> AI </a:t>
            </a:r>
            <a:r>
              <a:rPr lang="en-US" dirty="0" err="1" smtClean="0">
                <a:latin typeface="+mj-lt"/>
                <a:cs typeface="Consolas" panose="020B0609020204030204" pitchFamily="49" charset="0"/>
              </a:rPr>
              <a:t>cho</a:t>
            </a:r>
            <a:r>
              <a:rPr lang="en-US" dirty="0" smtClean="0">
                <a:latin typeface="+mj-lt"/>
                <a:cs typeface="Consolas" panose="020B0609020204030204" pitchFamily="49" charset="0"/>
              </a:rPr>
              <a:t> game </a:t>
            </a:r>
            <a:r>
              <a:rPr lang="en-US" dirty="0" err="1" smtClean="0">
                <a:latin typeface="+mj-lt"/>
                <a:cs typeface="Consolas" panose="020B0609020204030204" pitchFamily="49" charset="0"/>
              </a:rPr>
              <a:t>chiến</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thực</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thời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gian</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thực</a:t>
            </a:r>
            <a:r>
              <a:rPr lang="en-US" dirty="0" smtClean="0">
                <a:latin typeface="+mj-lt"/>
                <a:cs typeface="Consolas" panose="020B0609020204030204" pitchFamily="49" charset="0"/>
              </a:rPr>
              <a:t>.</a:t>
            </a:r>
          </a:p>
          <a:p>
            <a:pPr lvl="1"/>
            <a:r>
              <a:rPr lang="en-US" dirty="0" err="1" smtClean="0">
                <a:latin typeface="+mj-lt"/>
                <a:cs typeface="Consolas" panose="020B0609020204030204" pitchFamily="49" charset="0"/>
              </a:rPr>
              <a:t>Phát</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triển</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tối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ưu</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hiệu</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suất</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giúp</a:t>
            </a:r>
            <a:r>
              <a:rPr lang="en-US" dirty="0" smtClean="0">
                <a:latin typeface="+mj-lt"/>
                <a:cs typeface="Consolas" panose="020B0609020204030204" pitchFamily="49" charset="0"/>
              </a:rPr>
              <a:t> game </a:t>
            </a:r>
            <a:r>
              <a:rPr lang="en-US" dirty="0" err="1" smtClean="0">
                <a:latin typeface="+mj-lt"/>
                <a:cs typeface="Consolas" panose="020B0609020204030204" pitchFamily="49" charset="0"/>
              </a:rPr>
              <a:t>với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nhiều</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đối</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tượng</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và</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xử</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lý</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vẫn</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chạy</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javascript</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trên</a:t>
            </a:r>
            <a:r>
              <a:rPr lang="en-US" dirty="0" smtClean="0">
                <a:latin typeface="+mj-lt"/>
                <a:cs typeface="Consolas" panose="020B0609020204030204" pitchFamily="49" charset="0"/>
              </a:rPr>
              <a:t> web </a:t>
            </a:r>
            <a:r>
              <a:rPr lang="en-US" dirty="0" err="1" smtClean="0">
                <a:latin typeface="+mj-lt"/>
                <a:cs typeface="Consolas" panose="020B0609020204030204" pitchFamily="49" charset="0"/>
              </a:rPr>
              <a:t>một</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cách</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hiệu</a:t>
            </a:r>
            <a:r>
              <a:rPr lang="en-US" dirty="0" smtClean="0">
                <a:latin typeface="+mj-lt"/>
                <a:cs typeface="Consolas" panose="020B0609020204030204" pitchFamily="49" charset="0"/>
              </a:rPr>
              <a:t> </a:t>
            </a:r>
            <a:r>
              <a:rPr lang="en-US" dirty="0" err="1" smtClean="0">
                <a:latin typeface="+mj-lt"/>
                <a:cs typeface="Consolas" panose="020B0609020204030204" pitchFamily="49" charset="0"/>
              </a:rPr>
              <a:t>quả</a:t>
            </a:r>
            <a:r>
              <a:rPr lang="en-US" dirty="0" smtClean="0">
                <a:latin typeface="+mj-lt"/>
                <a:cs typeface="Consolas" panose="020B0609020204030204" pitchFamily="49" charset="0"/>
              </a:rPr>
              <a:t>. </a:t>
            </a:r>
            <a:endParaRPr lang="en-US" dirty="0">
              <a:latin typeface="+mj-lt"/>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Đánh giá và kết luận</a:t>
            </a:r>
          </a:p>
        </p:txBody>
      </p:sp>
      <p:sp>
        <p:nvSpPr>
          <p:cNvPr id="5" name="Slide Number Placeholder 4"/>
          <p:cNvSpPr>
            <a:spLocks noGrp="1"/>
          </p:cNvSpPr>
          <p:nvPr>
            <p:ph type="sldNum" sz="quarter" idx="12"/>
          </p:nvPr>
        </p:nvSpPr>
        <p:spPr/>
        <p:txBody>
          <a:bodyPr/>
          <a:lstStyle/>
          <a:p>
            <a:fld id="{E31375A4-56A4-47D6-9801-1991572033F7}" type="slidenum">
              <a:rPr lang="en-US" smtClean="0"/>
              <a:t>43</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1295400" y="3876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98120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8467972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latin typeface="Consolas" panose="020B0609020204030204" pitchFamily="49" charset="0"/>
                <a:cs typeface="Consolas" panose="020B0609020204030204" pitchFamily="49" charset="0"/>
              </a:rPr>
              <a:t>KHUYẾT ĐIỂM</a:t>
            </a:r>
            <a:endParaRPr lang="en-US">
              <a:latin typeface="Consolas" panose="020B0609020204030204" pitchFamily="49" charset="0"/>
              <a:cs typeface="Consolas" panose="020B0609020204030204" pitchFamily="49" charset="0"/>
            </a:endParaRPr>
          </a:p>
        </p:txBody>
      </p:sp>
      <p:sp>
        <p:nvSpPr>
          <p:cNvPr id="3" name="Content Placeholder 2"/>
          <p:cNvSpPr>
            <a:spLocks noGrp="1"/>
          </p:cNvSpPr>
          <p:nvPr>
            <p:ph idx="1"/>
          </p:nvPr>
        </p:nvSpPr>
        <p:spPr/>
        <p:txBody>
          <a:bodyPr>
            <a:normAutofit/>
          </a:bodyPr>
          <a:lstStyle/>
          <a:p>
            <a:r>
              <a:rPr lang="en-US">
                <a:latin typeface="+mj-lt"/>
              </a:rPr>
              <a:t>Game được viết để chạy trên Web nên người chơi không cần phải cài đặt để sử dụng. Đồng thời không cần viết các phiên bản khác nhau cho từng hệ điều </a:t>
            </a:r>
            <a:r>
              <a:rPr lang="en-US" smtClean="0">
                <a:latin typeface="+mj-lt"/>
              </a:rPr>
              <a:t>hành.</a:t>
            </a:r>
          </a:p>
          <a:p>
            <a:r>
              <a:rPr lang="en-US" smtClean="0">
                <a:latin typeface="+mj-lt"/>
                <a:cs typeface="Consolas" panose="020B0609020204030204" pitchFamily="49" charset="0"/>
              </a:rPr>
              <a:t>Game xây dựng được nhiều hiệu ứng, đối tượng trong game.</a:t>
            </a:r>
          </a:p>
          <a:p>
            <a:r>
              <a:rPr lang="en-US" smtClean="0">
                <a:latin typeface="+mj-lt"/>
                <a:cs typeface="Consolas" panose="020B0609020204030204" pitchFamily="49" charset="0"/>
              </a:rPr>
              <a:t>Game xây dựng với hiệu suất tốt, đáp ứng cho việc chạy trên web ổn định.</a:t>
            </a:r>
          </a:p>
          <a:p>
            <a:r>
              <a:rPr lang="en-US" smtClean="0">
                <a:latin typeface="+mj-lt"/>
                <a:cs typeface="Consolas" panose="020B0609020204030204" pitchFamily="49" charset="0"/>
              </a:rPr>
              <a:t>AI trong game có độ khó cao hơn.</a:t>
            </a:r>
            <a:endParaRPr lang="en-US">
              <a:latin typeface="+mj-lt"/>
              <a:cs typeface="Consolas" panose="020B0609020204030204" pitchFamily="49" charset="0"/>
            </a:endParaRPr>
          </a:p>
        </p:txBody>
      </p:sp>
      <p:sp>
        <p:nvSpPr>
          <p:cNvPr id="4" name="Footer Placeholder 3"/>
          <p:cNvSpPr>
            <a:spLocks noGrp="1"/>
          </p:cNvSpPr>
          <p:nvPr>
            <p:ph type="ftr" sz="quarter" idx="11"/>
          </p:nvPr>
        </p:nvSpPr>
        <p:spPr/>
        <p:txBody>
          <a:bodyPr/>
          <a:lstStyle/>
          <a:p>
            <a:r>
              <a:rPr lang="en-US" smtClean="0"/>
              <a:t>Đánh giá và kết luận</a:t>
            </a:r>
          </a:p>
        </p:txBody>
      </p:sp>
      <p:sp>
        <p:nvSpPr>
          <p:cNvPr id="5" name="Slide Number Placeholder 4"/>
          <p:cNvSpPr>
            <a:spLocks noGrp="1"/>
          </p:cNvSpPr>
          <p:nvPr>
            <p:ph type="sldNum" sz="quarter" idx="12"/>
          </p:nvPr>
        </p:nvSpPr>
        <p:spPr/>
        <p:txBody>
          <a:bodyPr/>
          <a:lstStyle/>
          <a:p>
            <a:fld id="{E31375A4-56A4-47D6-9801-1991572033F7}" type="slidenum">
              <a:rPr lang="en-US" smtClean="0"/>
              <a:t>44</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1295400" y="3876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98120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6084968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HƯỚNG</a:t>
            </a:r>
            <a:r>
              <a:rPr lang="en-US" dirty="0" smtClean="0"/>
              <a:t> </a:t>
            </a:r>
            <a:r>
              <a:rPr lang="en-US" dirty="0" err="1" smtClean="0"/>
              <a:t>PHÁT</a:t>
            </a:r>
            <a:r>
              <a:rPr lang="en-US" dirty="0" smtClean="0"/>
              <a:t> </a:t>
            </a:r>
            <a:r>
              <a:rPr lang="en-US" dirty="0" err="1" smtClean="0"/>
              <a:t>TRIỂN</a:t>
            </a:r>
            <a:endParaRPr lang="en-US" dirty="0"/>
          </a:p>
        </p:txBody>
      </p:sp>
      <p:sp>
        <p:nvSpPr>
          <p:cNvPr id="3" name="Content Placeholder 2"/>
          <p:cNvSpPr>
            <a:spLocks noGrp="1"/>
          </p:cNvSpPr>
          <p:nvPr>
            <p:ph idx="1"/>
          </p:nvPr>
        </p:nvSpPr>
        <p:spPr/>
        <p:txBody>
          <a:bodyPr>
            <a:normAutofit/>
          </a:bodyPr>
          <a:lstStyle/>
          <a:p>
            <a:r>
              <a:rPr lang="en-US" dirty="0" err="1">
                <a:latin typeface="+mj-lt"/>
              </a:rPr>
              <a:t>Xử</a:t>
            </a:r>
            <a:r>
              <a:rPr lang="en-US" dirty="0">
                <a:latin typeface="+mj-lt"/>
              </a:rPr>
              <a:t> </a:t>
            </a:r>
            <a:r>
              <a:rPr lang="en-US" dirty="0" err="1" smtClean="0">
                <a:latin typeface="+mj-lt"/>
              </a:rPr>
              <a:t>lý</a:t>
            </a:r>
            <a:r>
              <a:rPr lang="en-US" dirty="0" smtClean="0">
                <a:latin typeface="+mj-lt"/>
              </a:rPr>
              <a:t> </a:t>
            </a:r>
            <a:r>
              <a:rPr lang="en-US" dirty="0" err="1"/>
              <a:t>chạm</a:t>
            </a:r>
            <a:r>
              <a:rPr lang="en-US" dirty="0">
                <a:latin typeface="+mj-lt"/>
              </a:rPr>
              <a:t> </a:t>
            </a:r>
            <a:r>
              <a:rPr lang="en-US" dirty="0" err="1">
                <a:latin typeface="+mj-lt"/>
              </a:rPr>
              <a:t>để</a:t>
            </a:r>
            <a:r>
              <a:rPr lang="en-US" dirty="0">
                <a:latin typeface="+mj-lt"/>
              </a:rPr>
              <a:t> game </a:t>
            </a:r>
            <a:r>
              <a:rPr lang="en-US" dirty="0" err="1">
                <a:latin typeface="+mj-lt"/>
              </a:rPr>
              <a:t>có</a:t>
            </a:r>
            <a:r>
              <a:rPr lang="en-US" dirty="0">
                <a:latin typeface="+mj-lt"/>
              </a:rPr>
              <a:t> </a:t>
            </a:r>
            <a:r>
              <a:rPr lang="en-US" dirty="0" err="1">
                <a:latin typeface="+mj-lt"/>
              </a:rPr>
              <a:t>thể</a:t>
            </a:r>
            <a:r>
              <a:rPr lang="en-US" dirty="0">
                <a:latin typeface="+mj-lt"/>
              </a:rPr>
              <a:t> </a:t>
            </a:r>
            <a:r>
              <a:rPr lang="en-US" dirty="0" err="1">
                <a:latin typeface="+mj-lt"/>
              </a:rPr>
              <a:t>chơi</a:t>
            </a:r>
            <a:r>
              <a:rPr lang="en-US" dirty="0">
                <a:latin typeface="+mj-lt"/>
              </a:rPr>
              <a:t> </a:t>
            </a:r>
            <a:r>
              <a:rPr lang="en-US" dirty="0" err="1">
                <a:latin typeface="+mj-lt"/>
              </a:rPr>
              <a:t>được</a:t>
            </a:r>
            <a:r>
              <a:rPr lang="en-US" dirty="0">
                <a:latin typeface="+mj-lt"/>
              </a:rPr>
              <a:t> </a:t>
            </a:r>
            <a:r>
              <a:rPr lang="en-US" dirty="0" err="1">
                <a:latin typeface="+mj-lt"/>
              </a:rPr>
              <a:t>trên</a:t>
            </a:r>
            <a:r>
              <a:rPr lang="en-US" dirty="0">
                <a:latin typeface="+mj-lt"/>
              </a:rPr>
              <a:t> </a:t>
            </a:r>
            <a:r>
              <a:rPr lang="en-US" dirty="0" err="1">
                <a:latin typeface="+mj-lt"/>
              </a:rPr>
              <a:t>các</a:t>
            </a:r>
            <a:r>
              <a:rPr lang="en-US" dirty="0">
                <a:latin typeface="+mj-lt"/>
              </a:rPr>
              <a:t> </a:t>
            </a:r>
            <a:r>
              <a:rPr lang="en-US" dirty="0" err="1">
                <a:latin typeface="+mj-lt"/>
              </a:rPr>
              <a:t>thiết</a:t>
            </a:r>
            <a:r>
              <a:rPr lang="en-US" dirty="0">
                <a:latin typeface="+mj-lt"/>
              </a:rPr>
              <a:t> </a:t>
            </a:r>
            <a:r>
              <a:rPr lang="en-US" dirty="0" err="1">
                <a:latin typeface="+mj-lt"/>
              </a:rPr>
              <a:t>bị</a:t>
            </a:r>
            <a:r>
              <a:rPr lang="en-US" dirty="0">
                <a:latin typeface="+mj-lt"/>
              </a:rPr>
              <a:t> </a:t>
            </a:r>
            <a:r>
              <a:rPr lang="en-US" dirty="0" err="1">
                <a:latin typeface="+mj-lt"/>
              </a:rPr>
              <a:t>cảm</a:t>
            </a:r>
            <a:r>
              <a:rPr lang="en-US" dirty="0">
                <a:latin typeface="+mj-lt"/>
              </a:rPr>
              <a:t> </a:t>
            </a:r>
            <a:r>
              <a:rPr lang="en-US" dirty="0" err="1">
                <a:latin typeface="+mj-lt"/>
              </a:rPr>
              <a:t>ứng</a:t>
            </a:r>
            <a:r>
              <a:rPr lang="en-US" dirty="0">
                <a:latin typeface="+mj-lt"/>
              </a:rPr>
              <a:t>.</a:t>
            </a:r>
          </a:p>
          <a:p>
            <a:r>
              <a:rPr lang="en-US" dirty="0" err="1" smtClean="0">
                <a:latin typeface="+mj-lt"/>
              </a:rPr>
              <a:t>Phát</a:t>
            </a:r>
            <a:r>
              <a:rPr lang="en-US" dirty="0" smtClean="0">
                <a:latin typeface="+mj-lt"/>
              </a:rPr>
              <a:t> </a:t>
            </a:r>
            <a:r>
              <a:rPr lang="en-US" dirty="0" err="1">
                <a:latin typeface="+mj-lt"/>
              </a:rPr>
              <a:t>triển</a:t>
            </a:r>
            <a:r>
              <a:rPr lang="en-US" dirty="0">
                <a:latin typeface="+mj-lt"/>
              </a:rPr>
              <a:t> </a:t>
            </a:r>
            <a:r>
              <a:rPr lang="en-US" dirty="0" err="1">
                <a:latin typeface="+mj-lt"/>
              </a:rPr>
              <a:t>hệ</a:t>
            </a:r>
            <a:r>
              <a:rPr lang="en-US" dirty="0">
                <a:latin typeface="+mj-lt"/>
              </a:rPr>
              <a:t> </a:t>
            </a:r>
            <a:r>
              <a:rPr lang="en-US" err="1">
                <a:latin typeface="+mj-lt"/>
              </a:rPr>
              <a:t>thống</a:t>
            </a:r>
            <a:r>
              <a:rPr lang="en-US">
                <a:latin typeface="+mj-lt"/>
              </a:rPr>
              <a:t> </a:t>
            </a:r>
            <a:r>
              <a:rPr lang="en-US" smtClean="0">
                <a:latin typeface="+mj-lt"/>
              </a:rPr>
              <a:t>mạng</a:t>
            </a:r>
            <a:r>
              <a:rPr lang="en-US" smtClean="0">
                <a:latin typeface="+mj-lt"/>
              </a:rPr>
              <a:t>, multiplayer.</a:t>
            </a:r>
            <a:endParaRPr lang="en-US" dirty="0">
              <a:latin typeface="+mj-lt"/>
            </a:endParaRPr>
          </a:p>
          <a:p>
            <a:r>
              <a:rPr lang="en-US" dirty="0" err="1" smtClean="0">
                <a:latin typeface="+mj-lt"/>
              </a:rPr>
              <a:t>Phát</a:t>
            </a:r>
            <a:r>
              <a:rPr lang="en-US" dirty="0" smtClean="0">
                <a:latin typeface="+mj-lt"/>
              </a:rPr>
              <a:t> </a:t>
            </a:r>
            <a:r>
              <a:rPr lang="en-US" dirty="0" err="1">
                <a:latin typeface="+mj-lt"/>
              </a:rPr>
              <a:t>triển</a:t>
            </a:r>
            <a:r>
              <a:rPr lang="en-US" dirty="0">
                <a:latin typeface="+mj-lt"/>
              </a:rPr>
              <a:t> Game </a:t>
            </a:r>
            <a:r>
              <a:rPr lang="en-US" dirty="0" err="1">
                <a:latin typeface="+mj-lt"/>
              </a:rPr>
              <a:t>2D</a:t>
            </a:r>
            <a:r>
              <a:rPr lang="en-US" dirty="0">
                <a:latin typeface="+mj-lt"/>
              </a:rPr>
              <a:t> </a:t>
            </a:r>
            <a:r>
              <a:rPr lang="en-US" dirty="0" err="1">
                <a:latin typeface="+mj-lt"/>
              </a:rPr>
              <a:t>thành</a:t>
            </a:r>
            <a:r>
              <a:rPr lang="en-US" dirty="0">
                <a:latin typeface="+mj-lt"/>
              </a:rPr>
              <a:t> 3D.</a:t>
            </a:r>
          </a:p>
        </p:txBody>
      </p:sp>
      <p:sp>
        <p:nvSpPr>
          <p:cNvPr id="4" name="Footer Placeholder 3"/>
          <p:cNvSpPr>
            <a:spLocks noGrp="1"/>
          </p:cNvSpPr>
          <p:nvPr>
            <p:ph type="ftr" sz="quarter" idx="11"/>
          </p:nvPr>
        </p:nvSpPr>
        <p:spPr/>
        <p:txBody>
          <a:bodyPr/>
          <a:lstStyle/>
          <a:p>
            <a:r>
              <a:rPr lang="en-US" smtClean="0"/>
              <a:t>Đánh giá và kết luận</a:t>
            </a:r>
          </a:p>
        </p:txBody>
      </p:sp>
      <p:sp>
        <p:nvSpPr>
          <p:cNvPr id="5" name="Slide Number Placeholder 4"/>
          <p:cNvSpPr>
            <a:spLocks noGrp="1"/>
          </p:cNvSpPr>
          <p:nvPr>
            <p:ph type="sldNum" sz="quarter" idx="12"/>
          </p:nvPr>
        </p:nvSpPr>
        <p:spPr/>
        <p:txBody>
          <a:bodyPr/>
          <a:lstStyle/>
          <a:p>
            <a:fld id="{E31375A4-56A4-47D6-9801-1991572033F7}" type="slidenum">
              <a:rPr lang="en-US" smtClean="0"/>
              <a:t>45</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98120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895063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THAM KHẢO</a:t>
            </a:r>
            <a:endParaRPr lang="en-US"/>
          </a:p>
        </p:txBody>
      </p:sp>
      <p:sp>
        <p:nvSpPr>
          <p:cNvPr id="3" name="Content Placeholder 2"/>
          <p:cNvSpPr>
            <a:spLocks noGrp="1"/>
          </p:cNvSpPr>
          <p:nvPr>
            <p:ph idx="1"/>
          </p:nvPr>
        </p:nvSpPr>
        <p:spPr/>
        <p:txBody>
          <a:bodyPr>
            <a:normAutofit/>
          </a:bodyPr>
          <a:lstStyle/>
          <a:p>
            <a:pPr lvl="0"/>
            <a:r>
              <a:rPr lang="en-US" b="1" dirty="0" smtClean="0">
                <a:latin typeface="+mj-lt"/>
              </a:rPr>
              <a:t>[1] Michael </a:t>
            </a:r>
            <a:r>
              <a:rPr lang="en-US" b="1" dirty="0" err="1">
                <a:latin typeface="+mj-lt"/>
              </a:rPr>
              <a:t>Buro</a:t>
            </a:r>
            <a:r>
              <a:rPr lang="en-US" b="1" dirty="0">
                <a:latin typeface="+mj-lt"/>
              </a:rPr>
              <a:t>, David Churchill.</a:t>
            </a:r>
            <a:r>
              <a:rPr lang="en-US" dirty="0">
                <a:latin typeface="+mj-lt"/>
              </a:rPr>
              <a:t> (2012). </a:t>
            </a:r>
            <a:r>
              <a:rPr lang="en-US" i="1" dirty="0">
                <a:latin typeface="+mj-lt"/>
              </a:rPr>
              <a:t>“Real-Time Strategy Game Competitions”</a:t>
            </a:r>
            <a:r>
              <a:rPr lang="en-US" dirty="0">
                <a:latin typeface="+mj-lt"/>
              </a:rPr>
              <a:t>. </a:t>
            </a:r>
            <a:r>
              <a:rPr lang="vi-VN" dirty="0">
                <a:latin typeface="+mj-lt"/>
              </a:rPr>
              <a:t>AI </a:t>
            </a:r>
            <a:r>
              <a:rPr lang="vi-VN" dirty="0" err="1">
                <a:latin typeface="+mj-lt"/>
              </a:rPr>
              <a:t>Magazine</a:t>
            </a:r>
            <a:r>
              <a:rPr lang="en-US" dirty="0">
                <a:latin typeface="+mj-lt"/>
              </a:rPr>
              <a:t>, Vol.</a:t>
            </a:r>
            <a:r>
              <a:rPr lang="en-US" b="1" i="1" dirty="0">
                <a:latin typeface="+mj-lt"/>
              </a:rPr>
              <a:t> </a:t>
            </a:r>
            <a:r>
              <a:rPr lang="en-US" dirty="0">
                <a:latin typeface="+mj-lt"/>
              </a:rPr>
              <a:t>33, No. 1</a:t>
            </a:r>
          </a:p>
          <a:p>
            <a:pPr lvl="0"/>
            <a:r>
              <a:rPr lang="fr-FR" b="1" dirty="0" smtClean="0">
                <a:latin typeface="+mj-lt"/>
              </a:rPr>
              <a:t>[2] </a:t>
            </a:r>
            <a:r>
              <a:rPr lang="fr-FR" b="1" dirty="0" err="1" smtClean="0">
                <a:latin typeface="+mj-lt"/>
              </a:rPr>
              <a:t>Raúl</a:t>
            </a:r>
            <a:r>
              <a:rPr lang="fr-FR" b="1" dirty="0" smtClean="0">
                <a:latin typeface="+mj-lt"/>
              </a:rPr>
              <a:t> </a:t>
            </a:r>
            <a:r>
              <a:rPr lang="fr-FR" b="1" dirty="0">
                <a:latin typeface="+mj-lt"/>
              </a:rPr>
              <a:t>Lara-Cabrera, Carlos Cotta and Antonio J. Fernández-</a:t>
            </a:r>
            <a:r>
              <a:rPr lang="fr-FR" b="1" dirty="0" err="1">
                <a:latin typeface="+mj-lt"/>
              </a:rPr>
              <a:t>Leiva</a:t>
            </a:r>
            <a:r>
              <a:rPr lang="fr-FR" b="1" dirty="0">
                <a:latin typeface="+mj-lt"/>
              </a:rPr>
              <a:t>. </a:t>
            </a:r>
            <a:r>
              <a:rPr lang="en-US" dirty="0">
                <a:latin typeface="+mj-lt"/>
              </a:rPr>
              <a:t>(2013). </a:t>
            </a:r>
            <a:r>
              <a:rPr lang="en-US" i="1" dirty="0">
                <a:latin typeface="+mj-lt"/>
              </a:rPr>
              <a:t>“A review of computational intelligence in RTS games”.</a:t>
            </a:r>
            <a:r>
              <a:rPr lang="en-US" dirty="0">
                <a:latin typeface="+mj-lt"/>
              </a:rPr>
              <a:t> In </a:t>
            </a:r>
            <a:r>
              <a:rPr lang="en-US" i="1" dirty="0">
                <a:latin typeface="+mj-lt"/>
              </a:rPr>
              <a:t>Foundations of Computational Intelligence (FOCI), 2013 IEEE Symposium on.</a:t>
            </a:r>
            <a:r>
              <a:rPr lang="en-US" dirty="0">
                <a:latin typeface="+mj-lt"/>
              </a:rPr>
              <a:t> pp.</a:t>
            </a:r>
            <a:r>
              <a:rPr lang="en-US" i="1" dirty="0">
                <a:latin typeface="+mj-lt"/>
              </a:rPr>
              <a:t> </a:t>
            </a:r>
            <a:r>
              <a:rPr lang="en-US" dirty="0" smtClean="0">
                <a:latin typeface="+mj-lt"/>
              </a:rPr>
              <a:t>114-121</a:t>
            </a:r>
          </a:p>
          <a:p>
            <a:r>
              <a:rPr lang="en-US" b="1" dirty="0" smtClean="0">
                <a:latin typeface="+mj-lt"/>
              </a:rPr>
              <a:t>[3] Souza</a:t>
            </a:r>
            <a:r>
              <a:rPr lang="en-US" b="1" dirty="0">
                <a:latin typeface="+mj-lt"/>
              </a:rPr>
              <a:t>, Thiago A. </a:t>
            </a:r>
            <a:r>
              <a:rPr lang="en-US" b="1" dirty="0" err="1">
                <a:latin typeface="+mj-lt"/>
              </a:rPr>
              <a:t>Ramalho</a:t>
            </a:r>
            <a:r>
              <a:rPr lang="en-US" b="1" dirty="0">
                <a:latin typeface="+mj-lt"/>
              </a:rPr>
              <a:t>, Geber L.  </a:t>
            </a:r>
            <a:r>
              <a:rPr lang="en-US" b="1" dirty="0" err="1">
                <a:latin typeface="+mj-lt"/>
              </a:rPr>
              <a:t>Queiroz</a:t>
            </a:r>
            <a:r>
              <a:rPr lang="en-US" b="1" dirty="0">
                <a:latin typeface="+mj-lt"/>
              </a:rPr>
              <a:t>, </a:t>
            </a:r>
            <a:r>
              <a:rPr lang="en-US" b="1" dirty="0" err="1">
                <a:latin typeface="+mj-lt"/>
              </a:rPr>
              <a:t>Sérgio</a:t>
            </a:r>
            <a:r>
              <a:rPr lang="en-US" b="1" dirty="0">
                <a:latin typeface="+mj-lt"/>
              </a:rPr>
              <a:t> R. M.</a:t>
            </a:r>
            <a:r>
              <a:rPr lang="en-US" dirty="0">
                <a:latin typeface="+mj-lt"/>
              </a:rPr>
              <a:t> (2014). </a:t>
            </a:r>
            <a:r>
              <a:rPr lang="en-US" i="1" dirty="0">
                <a:latin typeface="+mj-lt"/>
              </a:rPr>
              <a:t>“Resource Management in complex environments: an application to Real Time Strategy Games”.</a:t>
            </a:r>
            <a:r>
              <a:rPr lang="en-US" dirty="0">
                <a:latin typeface="+mj-lt"/>
              </a:rPr>
              <a:t> In </a:t>
            </a:r>
            <a:r>
              <a:rPr lang="en-US" i="1" dirty="0">
                <a:latin typeface="+mj-lt"/>
              </a:rPr>
              <a:t>SBC - Proceedings of the </a:t>
            </a:r>
            <a:r>
              <a:rPr lang="en-US" i="1" dirty="0" err="1">
                <a:latin typeface="+mj-lt"/>
              </a:rPr>
              <a:t>SBGames</a:t>
            </a:r>
            <a:r>
              <a:rPr lang="en-US" i="1" dirty="0">
                <a:latin typeface="+mj-lt"/>
              </a:rPr>
              <a:t> 2014</a:t>
            </a:r>
            <a:r>
              <a:rPr lang="en-US" dirty="0">
                <a:latin typeface="+mj-lt"/>
              </a:rPr>
              <a:t>. pp. </a:t>
            </a:r>
            <a:r>
              <a:rPr lang="en-US" dirty="0" smtClean="0">
                <a:latin typeface="+mj-lt"/>
              </a:rPr>
              <a:t>712-721</a:t>
            </a:r>
            <a:endParaRPr lang="en-US" dirty="0">
              <a:latin typeface="+mj-lt"/>
            </a:endParaRPr>
          </a:p>
        </p:txBody>
      </p:sp>
      <p:sp>
        <p:nvSpPr>
          <p:cNvPr id="4" name="Footer Placeholder 3"/>
          <p:cNvSpPr>
            <a:spLocks noGrp="1"/>
          </p:cNvSpPr>
          <p:nvPr>
            <p:ph type="ftr" sz="quarter" idx="11"/>
          </p:nvPr>
        </p:nvSpPr>
        <p:spPr/>
        <p:txBody>
          <a:bodyPr/>
          <a:lstStyle/>
          <a:p>
            <a:r>
              <a:rPr lang="en-US" smtClean="0"/>
              <a:t>Tham khảo</a:t>
            </a:r>
          </a:p>
        </p:txBody>
      </p:sp>
      <p:sp>
        <p:nvSpPr>
          <p:cNvPr id="5" name="Slide Number Placeholder 4"/>
          <p:cNvSpPr>
            <a:spLocks noGrp="1"/>
          </p:cNvSpPr>
          <p:nvPr>
            <p:ph type="sldNum" sz="quarter" idx="12"/>
          </p:nvPr>
        </p:nvSpPr>
        <p:spPr/>
        <p:txBody>
          <a:bodyPr/>
          <a:lstStyle/>
          <a:p>
            <a:fld id="{E31375A4-56A4-47D6-9801-1991572033F7}" type="slidenum">
              <a:rPr lang="en-US" smtClean="0"/>
              <a:t>46</a:t>
            </a:fld>
            <a:endParaRPr lang="en-US"/>
          </a:p>
        </p:txBody>
      </p:sp>
      <p:sp>
        <p:nvSpPr>
          <p:cNvPr id="8"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1295400" y="3876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2"/>
          <p:cNvSpPr>
            <a:spLocks noChangeArrowheads="1"/>
          </p:cNvSpPr>
          <p:nvPr/>
        </p:nvSpPr>
        <p:spPr bwMode="auto">
          <a:xfrm>
            <a:off x="1981200" y="2362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5900543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15_4109default" id="{E728D685-11FC-4812-BA85-57AC6F9C9F40}" vid="{BC4E008B-95FF-4815-904E-143A8EDFC1D4}"/>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746CFF6F-D9AA-4BC0-911A-0A13567719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TotalTime>0</TotalTime>
  <Words>1792</Words>
  <Application>Microsoft Office PowerPoint</Application>
  <PresentationFormat>Trình chiếu Trên màn hình (4:3)</PresentationFormat>
  <Paragraphs>303</Paragraphs>
  <Slides>46</Slides>
  <Notes>2</Notes>
  <HiddenSlides>0</HiddenSlides>
  <MMClips>5</MMClips>
  <ScaleCrop>false</ScaleCrop>
  <HeadingPairs>
    <vt:vector size="8" baseType="variant">
      <vt:variant>
        <vt:lpstr>Phông được Dùng</vt:lpstr>
      </vt:variant>
      <vt:variant>
        <vt:i4>7</vt:i4>
      </vt:variant>
      <vt:variant>
        <vt:lpstr>Chủ đề</vt:lpstr>
      </vt:variant>
      <vt:variant>
        <vt:i4>1</vt:i4>
      </vt:variant>
      <vt:variant>
        <vt:lpstr>Máy chủ nhúng OLE</vt:lpstr>
      </vt:variant>
      <vt:variant>
        <vt:i4>2</vt:i4>
      </vt:variant>
      <vt:variant>
        <vt:lpstr>Tiêu đề Bản chiếu</vt:lpstr>
      </vt:variant>
      <vt:variant>
        <vt:i4>46</vt:i4>
      </vt:variant>
    </vt:vector>
  </HeadingPairs>
  <TitlesOfParts>
    <vt:vector size="56" baseType="lpstr">
      <vt:lpstr>Arial</vt:lpstr>
      <vt:lpstr>Cambria Math</vt:lpstr>
      <vt:lpstr>Candara</vt:lpstr>
      <vt:lpstr>Consolas</vt:lpstr>
      <vt:lpstr>Tahoma</vt:lpstr>
      <vt:lpstr>Times New Roman</vt:lpstr>
      <vt:lpstr>Verdana</vt:lpstr>
      <vt:lpstr>Tech Computer 16x9</vt:lpstr>
      <vt:lpstr>Microsoft Visio Drawing</vt:lpstr>
      <vt:lpstr>Visio</vt:lpstr>
      <vt:lpstr>GAME MINI RED ALERT</vt:lpstr>
      <vt:lpstr>NỘI DUNG</vt:lpstr>
      <vt:lpstr>CÁI NHÌN QUA VỀ SẢN PHẨM</vt:lpstr>
      <vt:lpstr>TỔNG QUAN ĐỀ TÀI</vt:lpstr>
      <vt:lpstr>MỤC TIÊU ĐỀ TÀI</vt:lpstr>
      <vt:lpstr>PHẠM VI ĐỀ TÀI</vt:lpstr>
      <vt:lpstr>ỨNG DỤNG ĐỀ TÀI</vt:lpstr>
      <vt:lpstr>THỂ LOẠI GAME CHIẾN THUẬT THỜI GIAN THỰC</vt:lpstr>
      <vt:lpstr>THỂ LOẠI GAME CHIẾN THUẬT THỜI GIAN THỰC</vt:lpstr>
      <vt:lpstr>CÁC KHÓ KHĂN SẼ GẶP PHẢI TRONG QUÁ TRÌNH THỰC HIỆN</vt:lpstr>
      <vt:lpstr>LÝ THUYẾT ÁP DỤNG</vt:lpstr>
      <vt:lpstr>CÔNG NGHỆ ÁP DỤNG</vt:lpstr>
      <vt:lpstr>GIỚI THIỆU GAME, LUẬT CHƠI</vt:lpstr>
      <vt:lpstr>CÁCH CHƠI</vt:lpstr>
      <vt:lpstr>CÁC ĐỐI TƯỢNG TRONG GAME</vt:lpstr>
      <vt:lpstr>CÁC ĐỐI TƯỢNG TRONG GAME</vt:lpstr>
      <vt:lpstr>CÁC ĐỐI TƯỢNG TRONG GAME</vt:lpstr>
      <vt:lpstr>CÁC ĐỐI TƯỢNG TRONG GAME</vt:lpstr>
      <vt:lpstr>CÁC ĐỐI TƯỢNG TRONG GAME</vt:lpstr>
      <vt:lpstr>CÁC ĐỐI TƯỢNG TRONG GAME</vt:lpstr>
      <vt:lpstr>SƠ ĐỒ TƯƠNG TÁC HỆ THỐNG</vt:lpstr>
      <vt:lpstr>HỆ THỐNG GAME OBJECT</vt:lpstr>
      <vt:lpstr>HỆ THỐNG BẢN ĐỒ </vt:lpstr>
      <vt:lpstr>HỆ THỐNG BẢN ĐỒ </vt:lpstr>
      <vt:lpstr>HỆ THỐNG DỰNG HÌNH</vt:lpstr>
      <vt:lpstr>HỆ THỐNG ÂM THANH</vt:lpstr>
      <vt:lpstr>HỆ THỐNG AI</vt:lpstr>
      <vt:lpstr>SƠ ĐỒ KẾ THỪA GAME OBJECT </vt:lpstr>
      <vt:lpstr>GAME UNIT</vt:lpstr>
      <vt:lpstr>GAME UNIT</vt:lpstr>
      <vt:lpstr>GAME UNIT</vt:lpstr>
      <vt:lpstr>GAME WEAPON </vt:lpstr>
      <vt:lpstr>GAME WEAPON </vt:lpstr>
      <vt:lpstr>GAME WEAPON </vt:lpstr>
      <vt:lpstr>GAME WEAPON </vt:lpstr>
      <vt:lpstr>GAME EFFECT</vt:lpstr>
      <vt:lpstr>THIẾT KẾ BẢN ĐỒ GAME</vt:lpstr>
      <vt:lpstr>THIẾT KẾ BẢN ĐỒ GAME</vt:lpstr>
      <vt:lpstr>THIẾT KẾ BẢN ĐỒ GAME</vt:lpstr>
      <vt:lpstr>THIẾT KẾ AI</vt:lpstr>
      <vt:lpstr>TỐI ƯU CODE, CẢI THIỆN HIỆU SUẤT</vt:lpstr>
      <vt:lpstr>ƯU ĐIỂM</vt:lpstr>
      <vt:lpstr>TỔNG KẾT</vt:lpstr>
      <vt:lpstr>KHUYẾT ĐIỂM</vt:lpstr>
      <vt:lpstr>HƯỚNG PHÁT TRIỂN</vt:lpstr>
      <vt:lpstr>THAM KHẢO</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2015-12-25T04:23:22Z</dcterms:created>
  <dcterms:modified xsi:type="dcterms:W3CDTF">2015-12-27T03:51:55Z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TC029010269991</vt:lpwstr>
  </property>
</Properties>
</file>